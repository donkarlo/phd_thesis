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5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7.jpeg" ContentType="image/jpeg"/>
  <Override PartName="/ppt/media/image11.png" ContentType="image/png"/>
  <Override PartName="/ppt/media/image8.png" ContentType="image/png"/>
  <Override PartName="/ppt/media/image9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792440" y="4800600"/>
            <a:ext cx="5486040" cy="2626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364716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55022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17924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364716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55022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792440" y="4800600"/>
            <a:ext cx="5486040" cy="2626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364716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5022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17924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364716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55022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2" descr=""/>
          <p:cNvPicPr/>
          <p:nvPr/>
        </p:nvPicPr>
        <p:blipFill>
          <a:blip r:embed="rId2"/>
          <a:srcRect l="0" t="0" r="7917" b="0"/>
          <a:stretch/>
        </p:blipFill>
        <p:spPr>
          <a:xfrm>
            <a:off x="323640" y="339120"/>
            <a:ext cx="8784720" cy="6360120"/>
          </a:xfrm>
          <a:prstGeom prst="rect">
            <a:avLst/>
          </a:prstGeom>
          <a:ln>
            <a:noFill/>
          </a:ln>
        </p:spPr>
      </p:pic>
      <p:pic>
        <p:nvPicPr>
          <p:cNvPr id="1" name="Picture 7" descr="UNI_KLU_powerpoints-2"/>
          <p:cNvPicPr/>
          <p:nvPr/>
        </p:nvPicPr>
        <p:blipFill>
          <a:blip r:embed="rId3"/>
          <a:srcRect l="0" t="95841" r="0" b="0"/>
          <a:stretch/>
        </p:blipFill>
        <p:spPr>
          <a:xfrm>
            <a:off x="0" y="6597720"/>
            <a:ext cx="9143640" cy="259920"/>
          </a:xfrm>
          <a:prstGeom prst="rect">
            <a:avLst/>
          </a:prstGeom>
          <a:ln>
            <a:noFill/>
          </a:ln>
        </p:spPr>
      </p:pic>
      <p:pic>
        <p:nvPicPr>
          <p:cNvPr id="2" name="Grafik 6" descr=""/>
          <p:cNvPicPr/>
          <p:nvPr/>
        </p:nvPicPr>
        <p:blipFill>
          <a:blip r:embed="rId4"/>
          <a:stretch/>
        </p:blipFill>
        <p:spPr>
          <a:xfrm>
            <a:off x="7093080" y="6158520"/>
            <a:ext cx="1485720" cy="403560"/>
          </a:xfrm>
          <a:prstGeom prst="rect">
            <a:avLst/>
          </a:prstGeom>
          <a:ln>
            <a:noFill/>
          </a:ln>
        </p:spPr>
      </p:pic>
      <p:sp>
        <p:nvSpPr>
          <p:cNvPr id="3" name="CustomShape 1"/>
          <p:cNvSpPr/>
          <p:nvPr/>
        </p:nvSpPr>
        <p:spPr>
          <a:xfrm>
            <a:off x="-468360" y="-316080"/>
            <a:ext cx="9793080" cy="7173720"/>
          </a:xfrm>
          <a:prstGeom prst="rect">
            <a:avLst/>
          </a:prstGeom>
          <a:solidFill>
            <a:srgbClr val="346c83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" name="Grafik 8" descr="AAU_www_Logo_weiß.png"/>
          <p:cNvPicPr/>
          <p:nvPr/>
        </p:nvPicPr>
        <p:blipFill>
          <a:blip r:embed="rId5"/>
          <a:stretch/>
        </p:blipFill>
        <p:spPr>
          <a:xfrm>
            <a:off x="7308720" y="6165720"/>
            <a:ext cx="1201320" cy="309240"/>
          </a:xfrm>
          <a:prstGeom prst="rect">
            <a:avLst/>
          </a:prstGeom>
          <a:ln>
            <a:noFill/>
          </a:ln>
        </p:spPr>
      </p:pic>
      <p:pic>
        <p:nvPicPr>
          <p:cNvPr id="5" name="Grafik 9" descr=""/>
          <p:cNvPicPr/>
          <p:nvPr/>
        </p:nvPicPr>
        <p:blipFill>
          <a:blip r:embed="rId6"/>
          <a:stretch/>
        </p:blipFill>
        <p:spPr>
          <a:xfrm>
            <a:off x="6660000" y="333720"/>
            <a:ext cx="1814040" cy="515160"/>
          </a:xfrm>
          <a:prstGeom prst="rect">
            <a:avLst/>
          </a:prstGeom>
          <a:ln>
            <a:noFill/>
          </a:ln>
        </p:spPr>
      </p:pic>
      <p:pic>
        <p:nvPicPr>
          <p:cNvPr id="6" name="Picture 7" descr="UNI_KLU_powerpoints-2"/>
          <p:cNvPicPr/>
          <p:nvPr/>
        </p:nvPicPr>
        <p:blipFill>
          <a:blip r:embed="rId7"/>
          <a:srcRect l="0" t="95841" r="0" b="0"/>
          <a:stretch/>
        </p:blipFill>
        <p:spPr>
          <a:xfrm>
            <a:off x="-457200" y="6597720"/>
            <a:ext cx="9774000" cy="259920"/>
          </a:xfrm>
          <a:prstGeom prst="rect">
            <a:avLst/>
          </a:prstGeom>
          <a:ln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Candara"/>
              </a:rPr>
              <a:t>Click to edit the outline text format</a:t>
            </a:r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Second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Third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2" descr=""/>
          <p:cNvPicPr/>
          <p:nvPr/>
        </p:nvPicPr>
        <p:blipFill>
          <a:blip r:embed="rId2"/>
          <a:srcRect l="0" t="0" r="7917" b="0"/>
          <a:stretch/>
        </p:blipFill>
        <p:spPr>
          <a:xfrm>
            <a:off x="323640" y="339120"/>
            <a:ext cx="8784720" cy="6360120"/>
          </a:xfrm>
          <a:prstGeom prst="rect">
            <a:avLst/>
          </a:prstGeom>
          <a:ln>
            <a:noFill/>
          </a:ln>
        </p:spPr>
      </p:pic>
      <p:pic>
        <p:nvPicPr>
          <p:cNvPr id="46" name="Picture 7" descr="UNI_KLU_powerpoints-2"/>
          <p:cNvPicPr/>
          <p:nvPr/>
        </p:nvPicPr>
        <p:blipFill>
          <a:blip r:embed="rId3"/>
          <a:srcRect l="0" t="95841" r="0" b="0"/>
          <a:stretch/>
        </p:blipFill>
        <p:spPr>
          <a:xfrm>
            <a:off x="0" y="6597720"/>
            <a:ext cx="9143640" cy="259920"/>
          </a:xfrm>
          <a:prstGeom prst="rect">
            <a:avLst/>
          </a:prstGeom>
          <a:ln>
            <a:noFill/>
          </a:ln>
        </p:spPr>
      </p:pic>
      <p:pic>
        <p:nvPicPr>
          <p:cNvPr id="47" name="Grafik 6" descr=""/>
          <p:cNvPicPr/>
          <p:nvPr/>
        </p:nvPicPr>
        <p:blipFill>
          <a:blip r:embed="rId4"/>
          <a:stretch/>
        </p:blipFill>
        <p:spPr>
          <a:xfrm>
            <a:off x="7093080" y="6158520"/>
            <a:ext cx="1485720" cy="403560"/>
          </a:xfrm>
          <a:prstGeom prst="rect">
            <a:avLst/>
          </a:prstGeom>
          <a:ln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Titelmasterformat durch Klicken bearbeiten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Bild durch Klicken auf Symbol hinzufügen</a:t>
            </a:r>
            <a:endParaRPr b="0" lang="de-DE" sz="32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de-DE" sz="1400" spc="-1" strike="noStrike">
                <a:solidFill>
                  <a:srgbClr val="000000"/>
                </a:solidFill>
                <a:latin typeface="Candara"/>
              </a:rPr>
              <a:t>Textmasterformat bearbeiten</a:t>
            </a:r>
            <a:endParaRPr b="0" lang="de-DE" sz="14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835920" y="413640"/>
            <a:ext cx="8195400" cy="45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2"/>
          <p:cNvSpPr/>
          <p:nvPr/>
        </p:nvSpPr>
        <p:spPr>
          <a:xfrm>
            <a:off x="1974960" y="3956760"/>
            <a:ext cx="6054120" cy="70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89" name="TextShape 3"/>
          <p:cNvSpPr txBox="1"/>
          <p:nvPr/>
        </p:nvSpPr>
        <p:spPr>
          <a:xfrm>
            <a:off x="218520" y="72360"/>
            <a:ext cx="8767080" cy="456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Towards Self-Awareness in Multi-Robot Systems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0" name="TextShape 4"/>
          <p:cNvSpPr txBox="1"/>
          <p:nvPr/>
        </p:nvSpPr>
        <p:spPr>
          <a:xfrm>
            <a:off x="22320" y="3436200"/>
            <a:ext cx="1834200" cy="6483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Fra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mew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ork</a:t>
            </a:r>
            <a:endParaRPr b="0" lang="en-US" sz="2200" spc="-1" strike="noStrike">
              <a:latin typeface="Arial"/>
            </a:endParaRPr>
          </a:p>
        </p:txBody>
      </p:sp>
      <p:grpSp>
        <p:nvGrpSpPr>
          <p:cNvPr id="91" name="Group 5"/>
          <p:cNvGrpSpPr/>
          <p:nvPr/>
        </p:nvGrpSpPr>
        <p:grpSpPr>
          <a:xfrm>
            <a:off x="1548720" y="3546720"/>
            <a:ext cx="6037920" cy="2804400"/>
            <a:chOff x="1548720" y="3546720"/>
            <a:chExt cx="6037920" cy="2804400"/>
          </a:xfrm>
        </p:grpSpPr>
        <p:grpSp>
          <p:nvGrpSpPr>
            <p:cNvPr id="92" name="Group 6"/>
            <p:cNvGrpSpPr/>
            <p:nvPr/>
          </p:nvGrpSpPr>
          <p:grpSpPr>
            <a:xfrm>
              <a:off x="1548720" y="3546720"/>
              <a:ext cx="6037920" cy="2804400"/>
              <a:chOff x="1548720" y="3546720"/>
              <a:chExt cx="6037920" cy="2804400"/>
            </a:xfrm>
          </p:grpSpPr>
          <p:pic>
            <p:nvPicPr>
              <p:cNvPr id="93" name="" descr=""/>
              <p:cNvPicPr/>
              <p:nvPr/>
            </p:nvPicPr>
            <p:blipFill>
              <a:blip r:embed="rId1"/>
              <a:stretch/>
            </p:blipFill>
            <p:spPr>
              <a:xfrm>
                <a:off x="1548720" y="5457960"/>
                <a:ext cx="574920" cy="40680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94" name="" descr=""/>
              <p:cNvPicPr/>
              <p:nvPr/>
            </p:nvPicPr>
            <p:blipFill>
              <a:blip r:embed="rId2"/>
              <a:stretch/>
            </p:blipFill>
            <p:spPr>
              <a:xfrm>
                <a:off x="1548720" y="4081680"/>
                <a:ext cx="574920" cy="406440"/>
              </a:xfrm>
              <a:prstGeom prst="rect">
                <a:avLst/>
              </a:prstGeom>
              <a:ln>
                <a:noFill/>
              </a:ln>
            </p:spPr>
          </p:pic>
          <p:cxnSp>
            <p:nvCxnSpPr>
              <p:cNvPr id="95" name="Line 7"/>
              <p:cNvCxnSpPr/>
              <p:nvPr/>
            </p:nvCxnSpPr>
            <p:spPr>
              <a:xfrm>
                <a:off x="2140560" y="4268520"/>
                <a:ext cx="519480" cy="25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96" name="Line 8"/>
              <p:cNvCxnSpPr/>
              <p:nvPr/>
            </p:nvCxnSpPr>
            <p:spPr>
              <a:xfrm>
                <a:off x="2138760" y="5644440"/>
                <a:ext cx="519480" cy="216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sp>
            <p:nvSpPr>
              <p:cNvPr id="97" name="CustomShape 9"/>
              <p:cNvSpPr/>
              <p:nvPr/>
            </p:nvSpPr>
            <p:spPr>
              <a:xfrm>
                <a:off x="2717640" y="4118040"/>
                <a:ext cx="654480" cy="1664280"/>
              </a:xfrm>
              <a:prstGeom prst="rect">
                <a:avLst/>
              </a:prstGeom>
              <a:solidFill>
                <a:srgbClr val="dde8cb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" name="TextShape 10"/>
              <p:cNvSpPr txBox="1"/>
              <p:nvPr/>
            </p:nvSpPr>
            <p:spPr>
              <a:xfrm rot="16200000">
                <a:off x="2450880" y="4683600"/>
                <a:ext cx="130392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r>
                  <a:rPr b="1" lang="en-US" sz="1200" spc="-1" strike="noStrike">
                    <a:latin typeface="Arial"/>
                  </a:rPr>
                  <a:t>Preproce</a:t>
                </a:r>
                <a:r>
                  <a:rPr b="1" lang="en-US" sz="1200" spc="-1" strike="noStrike">
                    <a:latin typeface="Arial"/>
                  </a:rPr>
                  <a:t>ssing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99" name="TextShape 11"/>
              <p:cNvSpPr txBox="1"/>
              <p:nvPr/>
            </p:nvSpPr>
            <p:spPr>
              <a:xfrm rot="16200000">
                <a:off x="1761840" y="4510440"/>
                <a:ext cx="1183680" cy="77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en-US" sz="1200" spc="-1" strike="noStrike">
                    <a:latin typeface="Arial"/>
                  </a:rPr>
                  <a:t>Exteroceptive </a:t>
                </a:r>
                <a:endParaRPr b="0" lang="en-US" sz="12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b="0" lang="en-US" sz="1200" spc="-1" strike="noStrike">
                    <a:latin typeface="Arial"/>
                  </a:rPr>
                  <a:t>and </a:t>
                </a:r>
                <a:endParaRPr b="0" lang="en-US" sz="12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b="0" lang="en-US" sz="1200" spc="-1" strike="noStrike">
                    <a:latin typeface="Arial"/>
                  </a:rPr>
                  <a:t>proprioceptive </a:t>
                </a:r>
                <a:endParaRPr b="0" lang="en-US" sz="12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b="0" lang="en-US" sz="1200" spc="-1" strike="noStrike">
                    <a:latin typeface="Arial"/>
                  </a:rPr>
                  <a:t>data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00" name="CustomShape 12"/>
              <p:cNvSpPr/>
              <p:nvPr/>
            </p:nvSpPr>
            <p:spPr>
              <a:xfrm>
                <a:off x="3753360" y="4918320"/>
                <a:ext cx="84240" cy="85680"/>
              </a:xfrm>
              <a:prstGeom prst="ellipse">
                <a:avLst/>
              </a:prstGeom>
              <a:solidFill>
                <a:srgbClr val="00aaad"/>
              </a:solidFill>
              <a:ln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101" name="Line 13"/>
              <p:cNvCxnSpPr>
                <a:stCxn id="97" idx="3"/>
                <a:endCxn id="100" idx="2"/>
              </p:cNvCxnSpPr>
              <p:nvPr/>
            </p:nvCxnSpPr>
            <p:spPr>
              <a:xfrm>
                <a:off x="3372120" y="4950000"/>
                <a:ext cx="381600" cy="115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sp>
            <p:nvSpPr>
              <p:cNvPr id="102" name="CustomShape 14"/>
              <p:cNvSpPr/>
              <p:nvPr/>
            </p:nvSpPr>
            <p:spPr>
              <a:xfrm>
                <a:off x="3952080" y="4344120"/>
                <a:ext cx="83880" cy="85680"/>
              </a:xfrm>
              <a:prstGeom prst="ellipse">
                <a:avLst/>
              </a:prstGeom>
              <a:solidFill>
                <a:srgbClr val="00aaad"/>
              </a:solidFill>
              <a:ln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3" name="CustomShape 15"/>
              <p:cNvSpPr/>
              <p:nvPr/>
            </p:nvSpPr>
            <p:spPr>
              <a:xfrm>
                <a:off x="3951000" y="5476320"/>
                <a:ext cx="83880" cy="86040"/>
              </a:xfrm>
              <a:prstGeom prst="ellipse">
                <a:avLst/>
              </a:prstGeom>
              <a:solidFill>
                <a:srgbClr val="00aaad"/>
              </a:solidFill>
              <a:ln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104" name="Line 16"/>
              <p:cNvCxnSpPr>
                <a:stCxn id="100" idx="6"/>
                <a:endCxn id="102" idx="4"/>
              </p:cNvCxnSpPr>
              <p:nvPr/>
            </p:nvCxnSpPr>
            <p:spPr>
              <a:xfrm flipV="1">
                <a:off x="3837600" y="4429800"/>
                <a:ext cx="156960" cy="5317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sp>
            <p:nvSpPr>
              <p:cNvPr id="105" name="CustomShape 17"/>
              <p:cNvSpPr/>
              <p:nvPr/>
            </p:nvSpPr>
            <p:spPr>
              <a:xfrm rot="16200000">
                <a:off x="5222160" y="2925360"/>
                <a:ext cx="654480" cy="1896840"/>
              </a:xfrm>
              <a:prstGeom prst="rect">
                <a:avLst/>
              </a:prstGeom>
              <a:solidFill>
                <a:srgbClr val="dde8cb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TextShape 18"/>
              <p:cNvSpPr txBox="1"/>
              <p:nvPr/>
            </p:nvSpPr>
            <p:spPr>
              <a:xfrm>
                <a:off x="4983840" y="3677400"/>
                <a:ext cx="113220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1" lang="en-US" sz="1200" spc="-1" strike="noStrike">
                    <a:latin typeface="Arial"/>
                  </a:rPr>
                  <a:t>Clustering abstraction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07" name="TextShape 19"/>
              <p:cNvSpPr txBox="1"/>
              <p:nvPr/>
            </p:nvSpPr>
            <p:spPr>
              <a:xfrm>
                <a:off x="6714000" y="4367880"/>
                <a:ext cx="87264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Offline </a:t>
                </a:r>
                <a:endParaRPr b="0" lang="en-US" sz="1200" spc="-1" strike="noStrike">
                  <a:latin typeface="Arial"/>
                </a:endParaRPr>
              </a:p>
              <a:p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learning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08" name="CustomShape 20"/>
              <p:cNvSpPr/>
              <p:nvPr/>
            </p:nvSpPr>
            <p:spPr>
              <a:xfrm rot="16200000">
                <a:off x="4861800" y="4009680"/>
                <a:ext cx="1375200" cy="1896840"/>
              </a:xfrm>
              <a:prstGeom prst="rect">
                <a:avLst/>
              </a:prstGeom>
              <a:solidFill>
                <a:srgbClr val="dde8cb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CustomShape 21"/>
              <p:cNvSpPr/>
              <p:nvPr/>
            </p:nvSpPr>
            <p:spPr>
              <a:xfrm rot="16200000">
                <a:off x="5222160" y="5075280"/>
                <a:ext cx="654840" cy="1896840"/>
              </a:xfrm>
              <a:prstGeom prst="rect">
                <a:avLst/>
              </a:prstGeom>
              <a:solidFill>
                <a:srgbClr val="dde8cb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CustomShape 22"/>
              <p:cNvSpPr/>
              <p:nvPr/>
            </p:nvSpPr>
            <p:spPr>
              <a:xfrm rot="16200000">
                <a:off x="4587480" y="4541400"/>
                <a:ext cx="1020960" cy="815400"/>
              </a:xfrm>
              <a:prstGeom prst="rect">
                <a:avLst/>
              </a:prstGeom>
              <a:solidFill>
                <a:srgbClr val="b3cac7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CustomShape 23"/>
              <p:cNvSpPr/>
              <p:nvPr/>
            </p:nvSpPr>
            <p:spPr>
              <a:xfrm rot="16200000">
                <a:off x="5490720" y="4550040"/>
                <a:ext cx="1027080" cy="804960"/>
              </a:xfrm>
              <a:prstGeom prst="rect">
                <a:avLst/>
              </a:prstGeom>
              <a:solidFill>
                <a:srgbClr val="b3cac7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112" name="Line 24"/>
              <p:cNvCxnSpPr>
                <a:stCxn id="102" idx="0"/>
                <a:endCxn id="105" idx="0"/>
              </p:cNvCxnSpPr>
              <p:nvPr/>
            </p:nvCxnSpPr>
            <p:spPr>
              <a:xfrm flipV="1">
                <a:off x="3994200" y="3873960"/>
                <a:ext cx="607320" cy="470520"/>
              </a:xfrm>
              <a:prstGeom prst="bentConnector3">
                <a:avLst/>
              </a:prstGeom>
              <a:ln>
                <a:solidFill>
                  <a:srgbClr val="3465a4"/>
                </a:solidFill>
                <a:tailEnd len="med" type="triangle" w="med"/>
              </a:ln>
            </p:spPr>
          </p:cxnSp>
          <p:cxnSp>
            <p:nvCxnSpPr>
              <p:cNvPr id="113" name="Line 25"/>
              <p:cNvCxnSpPr>
                <a:stCxn id="103" idx="4"/>
                <a:endCxn id="109" idx="0"/>
              </p:cNvCxnSpPr>
              <p:nvPr/>
            </p:nvCxnSpPr>
            <p:spPr>
              <a:xfrm>
                <a:off x="3993120" y="5562360"/>
                <a:ext cx="608400" cy="461880"/>
              </a:xfrm>
              <a:prstGeom prst="bentConnector3">
                <a:avLst/>
              </a:prstGeom>
              <a:ln>
                <a:solidFill>
                  <a:srgbClr val="3465a4"/>
                </a:solidFill>
                <a:tailEnd len="med" type="triangle" w="med"/>
              </a:ln>
            </p:spPr>
          </p:cxnSp>
          <p:sp>
            <p:nvSpPr>
              <p:cNvPr id="114" name="TextShape 26"/>
              <p:cNvSpPr txBox="1"/>
              <p:nvPr/>
            </p:nvSpPr>
            <p:spPr>
              <a:xfrm>
                <a:off x="4983840" y="5820480"/>
                <a:ext cx="113256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1" lang="en-US" sz="1200" spc="-1" strike="noStrike">
                    <a:latin typeface="Arial"/>
                  </a:rPr>
                  <a:t>Abnormality</a:t>
                </a:r>
                <a:endParaRPr b="0" lang="en-US" sz="1200" spc="-1" strike="noStrike">
                  <a:latin typeface="Arial"/>
                </a:endParaRPr>
              </a:p>
              <a:p>
                <a:pPr algn="ctr"/>
                <a:r>
                  <a:rPr b="1" lang="en-US" sz="1200" spc="-1" strike="noStrike">
                    <a:latin typeface="Arial"/>
                  </a:rPr>
                  <a:t>detection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15" name="CustomShape 27"/>
              <p:cNvSpPr/>
              <p:nvPr/>
            </p:nvSpPr>
            <p:spPr>
              <a:xfrm>
                <a:off x="6554880" y="3683520"/>
                <a:ext cx="207000" cy="1795320"/>
              </a:xfrm>
              <a:custGeom>
                <a:avLst/>
                <a:gdLst/>
                <a:ahLst/>
                <a:rect l="0" t="0" r="r" b="b"/>
                <a:pathLst>
                  <a:path w="577" h="4989">
                    <a:moveTo>
                      <a:pt x="0" y="0"/>
                    </a:moveTo>
                    <a:cubicBezTo>
                      <a:pt x="144" y="0"/>
                      <a:pt x="288" y="207"/>
                      <a:pt x="288" y="415"/>
                    </a:cubicBezTo>
                    <a:lnTo>
                      <a:pt x="288" y="2078"/>
                    </a:lnTo>
                    <a:cubicBezTo>
                      <a:pt x="288" y="2286"/>
                      <a:pt x="432" y="2494"/>
                      <a:pt x="576" y="2494"/>
                    </a:cubicBezTo>
                    <a:cubicBezTo>
                      <a:pt x="432" y="2494"/>
                      <a:pt x="288" y="2701"/>
                      <a:pt x="288" y="2909"/>
                    </a:cubicBezTo>
                    <a:lnTo>
                      <a:pt x="288" y="4572"/>
                    </a:lnTo>
                    <a:cubicBezTo>
                      <a:pt x="288" y="4780"/>
                      <a:pt x="144" y="4988"/>
                      <a:pt x="0" y="4988"/>
                    </a:cubicBezTo>
                  </a:path>
                </a:pathLst>
              </a:custGeom>
              <a:noFill/>
              <a:ln w="36000">
                <a:solidFill>
                  <a:srgbClr val="3465a4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6" name="TextShape 28"/>
              <p:cNvSpPr txBox="1"/>
              <p:nvPr/>
            </p:nvSpPr>
            <p:spPr>
              <a:xfrm rot="16200000">
                <a:off x="4556160" y="4745880"/>
                <a:ext cx="126252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0" lang="en-US" sz="1200" spc="-1" strike="noStrike">
                    <a:latin typeface="Arial"/>
                  </a:rPr>
                  <a:t>Proprioceptive DBN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17" name="TextShape 29"/>
              <p:cNvSpPr txBox="1"/>
              <p:nvPr/>
            </p:nvSpPr>
            <p:spPr>
              <a:xfrm rot="16200000">
                <a:off x="5404320" y="4745880"/>
                <a:ext cx="126252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0" lang="en-US" sz="1200" spc="-1" strike="noStrike">
                    <a:latin typeface="Arial"/>
                  </a:rPr>
                  <a:t>Exteroceptive DBN</a:t>
                </a:r>
                <a:endParaRPr b="0" lang="en-US" sz="1200" spc="-1" strike="noStrike">
                  <a:latin typeface="Arial"/>
                </a:endParaRPr>
              </a:p>
            </p:txBody>
          </p:sp>
          <p:cxnSp>
            <p:nvCxnSpPr>
              <p:cNvPr id="118" name="Line 30"/>
              <p:cNvCxnSpPr/>
              <p:nvPr/>
            </p:nvCxnSpPr>
            <p:spPr>
              <a:xfrm>
                <a:off x="5076000" y="4030560"/>
                <a:ext cx="7200" cy="3607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19" name="Line 31"/>
              <p:cNvCxnSpPr/>
              <p:nvPr/>
            </p:nvCxnSpPr>
            <p:spPr>
              <a:xfrm>
                <a:off x="5963040" y="4028400"/>
                <a:ext cx="6840" cy="3607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20" name="Line 32"/>
              <p:cNvCxnSpPr/>
              <p:nvPr/>
            </p:nvCxnSpPr>
            <p:spPr>
              <a:xfrm>
                <a:off x="5142960" y="5471280"/>
                <a:ext cx="6840" cy="36108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21" name="Line 33"/>
              <p:cNvCxnSpPr/>
              <p:nvPr/>
            </p:nvCxnSpPr>
            <p:spPr>
              <a:xfrm>
                <a:off x="6030000" y="5469480"/>
                <a:ext cx="6840" cy="3607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22" name="Line 34"/>
              <p:cNvCxnSpPr>
                <a:stCxn id="109" idx="0"/>
              </p:cNvCxnSpPr>
              <p:nvPr/>
            </p:nvCxnSpPr>
            <p:spPr>
              <a:xfrm flipH="1" flipV="1">
                <a:off x="3825000" y="5068440"/>
                <a:ext cx="776520" cy="955800"/>
              </a:xfrm>
              <a:prstGeom prst="bentConnector3">
                <a:avLst/>
              </a:prstGeom>
              <a:ln w="18360">
                <a:solidFill>
                  <a:srgbClr val="3465a4"/>
                </a:solidFill>
                <a:custDash>
                  <a:ds d="600000" sp="300000"/>
                </a:custDash>
                <a:round/>
              </a:ln>
            </p:spPr>
          </p:cxnSp>
          <p:sp>
            <p:nvSpPr>
              <p:cNvPr id="123" name="TextShape 35"/>
              <p:cNvSpPr txBox="1"/>
              <p:nvPr/>
            </p:nvSpPr>
            <p:spPr>
              <a:xfrm>
                <a:off x="3566160" y="5068440"/>
                <a:ext cx="1101240" cy="343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Create/update</a:t>
                </a:r>
                <a:br/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models</a:t>
                </a:r>
                <a:endParaRPr b="0" lang="en-US" sz="1000" spc="-1" strike="noStrike">
                  <a:latin typeface="Arial"/>
                </a:endParaRPr>
              </a:p>
            </p:txBody>
          </p:sp>
          <p:sp>
            <p:nvSpPr>
              <p:cNvPr id="124" name="CustomShape 36"/>
              <p:cNvSpPr/>
              <p:nvPr/>
            </p:nvSpPr>
            <p:spPr>
              <a:xfrm>
                <a:off x="6556680" y="5685840"/>
                <a:ext cx="207000" cy="657360"/>
              </a:xfrm>
              <a:custGeom>
                <a:avLst/>
                <a:gdLst/>
                <a:ahLst/>
                <a:rect l="0" t="0" r="r" b="b"/>
                <a:pathLst>
                  <a:path w="577" h="1828">
                    <a:moveTo>
                      <a:pt x="0" y="0"/>
                    </a:moveTo>
                    <a:cubicBezTo>
                      <a:pt x="144" y="0"/>
                      <a:pt x="288" y="76"/>
                      <a:pt x="288" y="152"/>
                    </a:cubicBezTo>
                    <a:lnTo>
                      <a:pt x="288" y="761"/>
                    </a:lnTo>
                    <a:cubicBezTo>
                      <a:pt x="288" y="837"/>
                      <a:pt x="432" y="913"/>
                      <a:pt x="576" y="913"/>
                    </a:cubicBezTo>
                    <a:cubicBezTo>
                      <a:pt x="432" y="913"/>
                      <a:pt x="288" y="989"/>
                      <a:pt x="288" y="1065"/>
                    </a:cubicBezTo>
                    <a:lnTo>
                      <a:pt x="288" y="1674"/>
                    </a:lnTo>
                    <a:cubicBezTo>
                      <a:pt x="288" y="1750"/>
                      <a:pt x="144" y="1827"/>
                      <a:pt x="0" y="1827"/>
                    </a:cubicBezTo>
                  </a:path>
                </a:pathLst>
              </a:custGeom>
              <a:noFill/>
              <a:ln w="36000">
                <a:solidFill>
                  <a:srgbClr val="bf004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25" name="TextShape 37"/>
            <p:cNvSpPr txBox="1"/>
            <p:nvPr/>
          </p:nvSpPr>
          <p:spPr>
            <a:xfrm>
              <a:off x="6680880" y="5747040"/>
              <a:ext cx="88524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Online</a:t>
              </a:r>
              <a:endParaRPr b="0" lang="en-US" sz="1200" spc="-1" strike="noStrike">
                <a:latin typeface="Arial"/>
              </a:endParaRPr>
            </a:p>
            <a:p>
              <a:pPr algn="ctr"/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inference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26" name="TextShape 38"/>
          <p:cNvSpPr txBox="1"/>
          <p:nvPr/>
        </p:nvSpPr>
        <p:spPr>
          <a:xfrm>
            <a:off x="1021680" y="365760"/>
            <a:ext cx="3367440" cy="290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latin typeface="Arial"/>
              </a:rPr>
              <a:t>Mohammad Rahmani, Berhard Rinner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7" name="TextShape 39"/>
          <p:cNvSpPr txBox="1"/>
          <p:nvPr/>
        </p:nvSpPr>
        <p:spPr>
          <a:xfrm>
            <a:off x="22320" y="709200"/>
            <a:ext cx="2172240" cy="3693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Self-awareness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8" name="CustomShape 40"/>
          <p:cNvSpPr/>
          <p:nvPr/>
        </p:nvSpPr>
        <p:spPr>
          <a:xfrm>
            <a:off x="0" y="3405600"/>
            <a:ext cx="9144000" cy="360"/>
          </a:xfrm>
          <a:prstGeom prst="rect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41"/>
          <p:cNvSpPr/>
          <p:nvPr/>
        </p:nvSpPr>
        <p:spPr>
          <a:xfrm>
            <a:off x="-13680" y="669600"/>
            <a:ext cx="9144000" cy="360"/>
          </a:xfrm>
          <a:prstGeom prst="rect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Shape 42"/>
          <p:cNvSpPr txBox="1"/>
          <p:nvPr/>
        </p:nvSpPr>
        <p:spPr>
          <a:xfrm>
            <a:off x="116640" y="1149840"/>
            <a:ext cx="6949440" cy="11142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A concept borrowed from psychology and cognitive science</a:t>
            </a:r>
            <a:endParaRPr b="0" lang="en-US" sz="1800" spc="-1" strike="noStrike">
              <a:latin typeface="Arial"/>
            </a:endParaRPr>
          </a:p>
          <a:p>
            <a:pPr marL="216000" indent="-216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Robot’s  knowledge about its learned experiences and sensors</a:t>
            </a:r>
            <a:endParaRPr b="0" lang="en-US" sz="1800" spc="-1" strike="noStrike">
              <a:latin typeface="Arial"/>
            </a:endParaRPr>
          </a:p>
          <a:p>
            <a:pPr marL="216000" indent="-216000" algn="just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Exploiting this knowledge to react appropriately to external phenomena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TextShape 43"/>
          <p:cNvSpPr txBox="1"/>
          <p:nvPr/>
        </p:nvSpPr>
        <p:spPr>
          <a:xfrm>
            <a:off x="165240" y="2316240"/>
            <a:ext cx="1195560" cy="346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1800" spc="-1" strike="noStrike">
                <a:latin typeface="Arial"/>
              </a:rPr>
              <a:t>Example: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" name="TextShape 44"/>
          <p:cNvSpPr txBox="1"/>
          <p:nvPr/>
        </p:nvSpPr>
        <p:spPr>
          <a:xfrm>
            <a:off x="201240" y="2557440"/>
            <a:ext cx="7139160" cy="6022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Two robots learn the new </a:t>
            </a:r>
            <a:r>
              <a:rPr b="0" lang="en-US" sz="1800" spc="-1" strike="noStrike">
                <a:latin typeface="Arial"/>
              </a:rPr>
              <a:t>experience of </a:t>
            </a:r>
            <a:r>
              <a:rPr b="1" lang="en-US" sz="1800" spc="-1" strike="noStrike">
                <a:latin typeface="Arial"/>
              </a:rPr>
              <a:t>decreasing </a:t>
            </a:r>
            <a:r>
              <a:rPr b="1" lang="en-US" sz="1800" spc="-1" strike="noStrike">
                <a:latin typeface="Arial"/>
              </a:rPr>
              <a:t>distance</a:t>
            </a:r>
            <a:r>
              <a:rPr b="0" lang="en-US" sz="1800" spc="-1" strike="noStrike">
                <a:latin typeface="Arial"/>
              </a:rPr>
              <a:t> in a narrow corridor </a:t>
            </a:r>
            <a:r>
              <a:rPr b="0" lang="en-US" sz="1800" spc="-1" strike="noStrike">
                <a:latin typeface="Arial"/>
              </a:rPr>
              <a:t>from human pilots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2012_Powerpoint_Vorlage_AAU</Template>
  <TotalTime>153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2012-12-10T11:09:19Z</dcterms:created>
  <dc:creator>Windows-Benutzer</dc:creator>
  <dc:description/>
  <dc:language>en-US</dc:language>
  <cp:lastModifiedBy/>
  <dcterms:modified xsi:type="dcterms:W3CDTF">2022-06-10T12:32:56Z</dcterms:modified>
  <cp:revision>768</cp:revision>
  <dc:subject/>
  <dc:title>Ich bin eine Headline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Notes">
    <vt:i4>0</vt:i4>
  </property>
  <property fmtid="{D5CDD505-2E9C-101B-9397-08002B2CF9AE}" pid="7" name="PresentationFormat">
    <vt:lpwstr>Bildschirmpräsentation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19</vt:i4>
  </property>
</Properties>
</file>