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A465BA-FA36-44B3-AAA9-53A8C3EEF2F8}" v="7" dt="2023-09-24T09:21:51.2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mani, Mohammad" userId="S::mohammad.rahmani@aau.at::c9637c8c-7945-432f-a229-0beafe9d679b" providerId="AD" clId="Web-{9CA465BA-FA36-44B3-AAA9-53A8C3EEF2F8}"/>
    <pc:docChg chg="modSld">
      <pc:chgData name="Rahmani, Mohammad" userId="S::mohammad.rahmani@aau.at::c9637c8c-7945-432f-a229-0beafe9d679b" providerId="AD" clId="Web-{9CA465BA-FA36-44B3-AAA9-53A8C3EEF2F8}" dt="2023-09-24T09:21:51.248" v="6" actId="1076"/>
      <pc:docMkLst>
        <pc:docMk/>
      </pc:docMkLst>
      <pc:sldChg chg="modSp">
        <pc:chgData name="Rahmani, Mohammad" userId="S::mohammad.rahmani@aau.at::c9637c8c-7945-432f-a229-0beafe9d679b" providerId="AD" clId="Web-{9CA465BA-FA36-44B3-AAA9-53A8C3EEF2F8}" dt="2023-09-24T09:21:51.248" v="6" actId="1076"/>
        <pc:sldMkLst>
          <pc:docMk/>
          <pc:sldMk cId="0" sldId="258"/>
        </pc:sldMkLst>
        <pc:spChg chg="mod">
          <ac:chgData name="Rahmani, Mohammad" userId="S::mohammad.rahmani@aau.at::c9637c8c-7945-432f-a229-0beafe9d679b" providerId="AD" clId="Web-{9CA465BA-FA36-44B3-AAA9-53A8C3EEF2F8}" dt="2023-09-24T09:21:51.248" v="6" actId="1076"/>
          <ac:spMkLst>
            <pc:docMk/>
            <pc:sldMk cId="0" sldId="258"/>
            <ac:spMk id="181" creationId="{00000000-0000-0000-0000-000000000000}"/>
          </ac:spMkLst>
        </pc:spChg>
        <pc:spChg chg="mod">
          <ac:chgData name="Rahmani, Mohammad" userId="S::mohammad.rahmani@aau.at::c9637c8c-7945-432f-a229-0beafe9d679b" providerId="AD" clId="Web-{9CA465BA-FA36-44B3-AAA9-53A8C3EEF2F8}" dt="2023-09-24T09:19:28.743" v="0" actId="1076"/>
          <ac:spMkLst>
            <pc:docMk/>
            <pc:sldMk cId="0" sldId="258"/>
            <ac:spMk id="186" creationId="{00000000-0000-0000-0000-000000000000}"/>
          </ac:spMkLst>
        </pc:spChg>
        <pc:spChg chg="mod">
          <ac:chgData name="Rahmani, Mohammad" userId="S::mohammad.rahmani@aau.at::c9637c8c-7945-432f-a229-0beafe9d679b" providerId="AD" clId="Web-{9CA465BA-FA36-44B3-AAA9-53A8C3EEF2F8}" dt="2023-09-24T09:19:49.728" v="2" actId="1076"/>
          <ac:spMkLst>
            <pc:docMk/>
            <pc:sldMk cId="0" sldId="258"/>
            <ac:spMk id="187" creationId="{00000000-0000-0000-0000-000000000000}"/>
          </ac:spMkLst>
        </pc:spChg>
      </pc:sldChg>
      <pc:sldChg chg="modSp">
        <pc:chgData name="Rahmani, Mohammad" userId="S::mohammad.rahmani@aau.at::c9637c8c-7945-432f-a229-0beafe9d679b" providerId="AD" clId="Web-{9CA465BA-FA36-44B3-AAA9-53A8C3EEF2F8}" dt="2023-09-24T09:21:14.824" v="5" actId="20577"/>
        <pc:sldMkLst>
          <pc:docMk/>
          <pc:sldMk cId="0" sldId="259"/>
        </pc:sldMkLst>
        <pc:spChg chg="mod">
          <ac:chgData name="Rahmani, Mohammad" userId="S::mohammad.rahmani@aau.at::c9637c8c-7945-432f-a229-0beafe9d679b" providerId="AD" clId="Web-{9CA465BA-FA36-44B3-AAA9-53A8C3EEF2F8}" dt="2023-09-24T09:21:14.824" v="5" actId="20577"/>
          <ac:spMkLst>
            <pc:docMk/>
            <pc:sldMk cId="0" sldId="259"/>
            <ac:spMk id="221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11760" y="14364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subTitle"/>
          </p:nvPr>
        </p:nvSpPr>
        <p:spPr>
          <a:xfrm>
            <a:off x="311760" y="952920"/>
            <a:ext cx="8520120" cy="3416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11760" y="14364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311760" y="952920"/>
            <a:ext cx="852012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11760" y="14364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311760" y="95292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677840" y="95292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11760" y="14364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subTitle"/>
          </p:nvPr>
        </p:nvSpPr>
        <p:spPr>
          <a:xfrm>
            <a:off x="311760" y="143640"/>
            <a:ext cx="8520120" cy="2654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11760" y="14364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311760" y="95292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7840" y="95292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311760" y="273744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11760" y="14364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311760" y="95292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7840" y="95292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677840" y="273744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311760" y="14364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311760" y="95292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677840" y="95292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311760" y="2737440"/>
            <a:ext cx="852012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311760" y="14364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311760" y="952920"/>
            <a:ext cx="852012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11760" y="2737440"/>
            <a:ext cx="852012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311760" y="14364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311760" y="95292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7840" y="95292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311760" y="273744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77840" y="273744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311760" y="14364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311760" y="95292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3192480" y="95292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6073200" y="95292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311760" y="273744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body"/>
          </p:nvPr>
        </p:nvSpPr>
        <p:spPr>
          <a:xfrm>
            <a:off x="3192480" y="273744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7"/>
          <p:cNvSpPr>
            <a:spLocks noGrp="1"/>
          </p:cNvSpPr>
          <p:nvPr>
            <p:ph type="body"/>
          </p:nvPr>
        </p:nvSpPr>
        <p:spPr>
          <a:xfrm>
            <a:off x="6073200" y="273744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311760" y="14364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ubTitle"/>
          </p:nvPr>
        </p:nvSpPr>
        <p:spPr>
          <a:xfrm>
            <a:off x="311760" y="952920"/>
            <a:ext cx="8520120" cy="3416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311760" y="14364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311760" y="952920"/>
            <a:ext cx="852012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311760" y="14364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311760" y="95292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4677840" y="95292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311760" y="14364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ubTitle"/>
          </p:nvPr>
        </p:nvSpPr>
        <p:spPr>
          <a:xfrm>
            <a:off x="311760" y="143640"/>
            <a:ext cx="8520120" cy="2654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311760" y="14364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311760" y="95292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7840" y="95292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311760" y="273744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311760" y="14364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311760" y="95292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677840" y="95292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4677840" y="273744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311760" y="14364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311760" y="95292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677840" y="95292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311760" y="2737440"/>
            <a:ext cx="852012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311760" y="14364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311760" y="952920"/>
            <a:ext cx="852012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311760" y="2737440"/>
            <a:ext cx="852012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311760" y="14364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311760" y="95292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4677840" y="95292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body"/>
          </p:nvPr>
        </p:nvSpPr>
        <p:spPr>
          <a:xfrm>
            <a:off x="311760" y="273744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body"/>
          </p:nvPr>
        </p:nvSpPr>
        <p:spPr>
          <a:xfrm>
            <a:off x="4677840" y="273744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311760" y="14364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311760" y="95292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body"/>
          </p:nvPr>
        </p:nvSpPr>
        <p:spPr>
          <a:xfrm>
            <a:off x="3192480" y="95292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body"/>
          </p:nvPr>
        </p:nvSpPr>
        <p:spPr>
          <a:xfrm>
            <a:off x="6073200" y="95292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 type="body"/>
          </p:nvPr>
        </p:nvSpPr>
        <p:spPr>
          <a:xfrm>
            <a:off x="311760" y="273744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6"/>
          <p:cNvSpPr>
            <a:spLocks noGrp="1"/>
          </p:cNvSpPr>
          <p:nvPr>
            <p:ph type="body"/>
          </p:nvPr>
        </p:nvSpPr>
        <p:spPr>
          <a:xfrm>
            <a:off x="3192480" y="273744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7"/>
          <p:cNvSpPr>
            <a:spLocks noGrp="1"/>
          </p:cNvSpPr>
          <p:nvPr>
            <p:ph type="body"/>
          </p:nvPr>
        </p:nvSpPr>
        <p:spPr>
          <a:xfrm>
            <a:off x="6073200" y="273744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7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51;p13"/>
          <p:cNvPicPr/>
          <p:nvPr/>
        </p:nvPicPr>
        <p:blipFill>
          <a:blip r:embed="rId14"/>
          <a:srcRect r="7917"/>
          <a:stretch/>
        </p:blipFill>
        <p:spPr>
          <a:xfrm>
            <a:off x="323640" y="254520"/>
            <a:ext cx="8784360" cy="4769640"/>
          </a:xfrm>
          <a:prstGeom prst="rect">
            <a:avLst/>
          </a:prstGeom>
          <a:ln>
            <a:noFill/>
          </a:ln>
        </p:spPr>
      </p:pic>
      <p:pic>
        <p:nvPicPr>
          <p:cNvPr id="14" name="Google Shape;52;p13"/>
          <p:cNvPicPr/>
          <p:nvPr/>
        </p:nvPicPr>
        <p:blipFill>
          <a:blip r:embed="rId15"/>
          <a:stretch/>
        </p:blipFill>
        <p:spPr>
          <a:xfrm>
            <a:off x="7093080" y="4618800"/>
            <a:ext cx="1113840" cy="302400"/>
          </a:xfrm>
          <a:prstGeom prst="rect">
            <a:avLst/>
          </a:prstGeom>
          <a:ln>
            <a:noFill/>
          </a:ln>
        </p:spPr>
      </p:pic>
      <p:sp>
        <p:nvSpPr>
          <p:cNvPr id="2" name="CustomShape 1"/>
          <p:cNvSpPr/>
          <p:nvPr/>
        </p:nvSpPr>
        <p:spPr>
          <a:xfrm>
            <a:off x="0" y="0"/>
            <a:ext cx="9143640" cy="5024160"/>
          </a:xfrm>
          <a:prstGeom prst="rect">
            <a:avLst/>
          </a:prstGeom>
          <a:solidFill>
            <a:srgbClr val="336B81"/>
          </a:solidFill>
          <a:ln w="9360">
            <a:solidFill>
              <a:srgbClr val="336B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" name="Google Shape;54;p13"/>
          <p:cNvPicPr/>
          <p:nvPr/>
        </p:nvPicPr>
        <p:blipFill>
          <a:blip r:embed="rId16"/>
          <a:stretch/>
        </p:blipFill>
        <p:spPr>
          <a:xfrm>
            <a:off x="360000" y="4608000"/>
            <a:ext cx="1115640" cy="302040"/>
          </a:xfrm>
          <a:prstGeom prst="rect">
            <a:avLst/>
          </a:prstGeom>
          <a:ln>
            <a:noFill/>
          </a:ln>
        </p:spPr>
      </p:pic>
      <p:pic>
        <p:nvPicPr>
          <p:cNvPr id="4" name="Google Shape;55;p13"/>
          <p:cNvPicPr/>
          <p:nvPr/>
        </p:nvPicPr>
        <p:blipFill>
          <a:blip r:embed="rId17"/>
          <a:stretch/>
        </p:blipFill>
        <p:spPr>
          <a:xfrm>
            <a:off x="7407360" y="254520"/>
            <a:ext cx="1360080" cy="385920"/>
          </a:xfrm>
          <a:prstGeom prst="rect">
            <a:avLst/>
          </a:prstGeom>
          <a:ln>
            <a:noFill/>
          </a:ln>
        </p:spPr>
      </p:pic>
      <p:sp>
        <p:nvSpPr>
          <p:cNvPr id="5" name="CustomShape 2"/>
          <p:cNvSpPr/>
          <p:nvPr/>
        </p:nvSpPr>
        <p:spPr>
          <a:xfrm>
            <a:off x="0" y="5004000"/>
            <a:ext cx="9143640" cy="143640"/>
          </a:xfrm>
          <a:prstGeom prst="rect">
            <a:avLst/>
          </a:prstGeom>
          <a:solidFill>
            <a:srgbClr val="4699C2"/>
          </a:solidFill>
          <a:ln w="9360">
            <a:solidFill>
              <a:srgbClr val="4699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6" name="Google Shape;59;p13"/>
          <p:cNvPicPr/>
          <p:nvPr/>
        </p:nvPicPr>
        <p:blipFill>
          <a:blip r:embed="rId18"/>
          <a:stretch/>
        </p:blipFill>
        <p:spPr>
          <a:xfrm>
            <a:off x="6989040" y="2535840"/>
            <a:ext cx="2154600" cy="2467800"/>
          </a:xfrm>
          <a:prstGeom prst="rect">
            <a:avLst/>
          </a:prstGeom>
          <a:ln>
            <a:noFill/>
          </a:ln>
        </p:spPr>
      </p:pic>
      <p:sp>
        <p:nvSpPr>
          <p:cNvPr id="7" name="PlaceHolder 3"/>
          <p:cNvSpPr>
            <a:spLocks noGrp="1"/>
          </p:cNvSpPr>
          <p:nvPr>
            <p:ph type="title"/>
          </p:nvPr>
        </p:nvSpPr>
        <p:spPr>
          <a:xfrm>
            <a:off x="360000" y="1080000"/>
            <a:ext cx="8423640" cy="107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8" name="PlaceHolder 4"/>
          <p:cNvSpPr>
            <a:spLocks noGrp="1"/>
          </p:cNvSpPr>
          <p:nvPr>
            <p:ph type="sldNum"/>
          </p:nvPr>
        </p:nvSpPr>
        <p:spPr>
          <a:xfrm>
            <a:off x="8568000" y="4680000"/>
            <a:ext cx="548280" cy="393120"/>
          </a:xfrm>
          <a:prstGeom prst="rect">
            <a:avLst/>
          </a:prstGeom>
        </p:spPr>
        <p:txBody>
          <a:bodyPr tIns="91440" bIns="91440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98F13444-D5F5-42DD-B4BA-EB4775868039}" type="slidenum">
              <a:rPr lang="en-GB" sz="1300" b="0" strike="noStrike" spc="-1">
                <a:solidFill>
                  <a:srgbClr val="F3F3F3"/>
                </a:solidFill>
                <a:latin typeface="Candara"/>
                <a:ea typeface="Candara"/>
              </a:rPr>
              <a:t>‹Nr.›</a:t>
            </a:fld>
            <a:endParaRPr lang="en-US" sz="1300" b="0" strike="noStrike" spc="-1">
              <a:latin typeface="Times New Roman"/>
            </a:endParaRPr>
          </a:p>
        </p:txBody>
      </p:sp>
      <p:sp>
        <p:nvSpPr>
          <p:cNvPr id="9" name="CustomShape 5"/>
          <p:cNvSpPr/>
          <p:nvPr/>
        </p:nvSpPr>
        <p:spPr>
          <a:xfrm>
            <a:off x="0" y="4992480"/>
            <a:ext cx="9143640" cy="150840"/>
          </a:xfrm>
          <a:prstGeom prst="rect">
            <a:avLst/>
          </a:prstGeom>
          <a:solidFill>
            <a:srgbClr val="336B81"/>
          </a:solidFill>
          <a:ln w="25560">
            <a:solidFill>
              <a:srgbClr val="336B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10" name="Picture 2"/>
          <p:cNvPicPr/>
          <p:nvPr/>
        </p:nvPicPr>
        <p:blipFill>
          <a:blip r:embed="rId19"/>
          <a:srcRect b="4796"/>
          <a:stretch/>
        </p:blipFill>
        <p:spPr>
          <a:xfrm>
            <a:off x="0" y="2632680"/>
            <a:ext cx="9143640" cy="2510280"/>
          </a:xfrm>
          <a:prstGeom prst="rect">
            <a:avLst/>
          </a:prstGeom>
          <a:ln>
            <a:noFill/>
          </a:ln>
        </p:spPr>
      </p:pic>
      <p:sp>
        <p:nvSpPr>
          <p:cNvPr id="11" name="CustomShape 6"/>
          <p:cNvSpPr/>
          <p:nvPr/>
        </p:nvSpPr>
        <p:spPr>
          <a:xfrm>
            <a:off x="7741800" y="2383560"/>
            <a:ext cx="1255320" cy="377640"/>
          </a:xfrm>
          <a:prstGeom prst="rect">
            <a:avLst/>
          </a:prstGeom>
          <a:solidFill>
            <a:srgbClr val="336B81"/>
          </a:solidFill>
          <a:ln w="25560">
            <a:solidFill>
              <a:srgbClr val="336B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PlaceHolder 7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311760" y="14364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11760" y="952920"/>
            <a:ext cx="852012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</p:spPr>
        <p:txBody>
          <a:bodyPr tIns="91440" bIns="9144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6AC0F6CD-F6A0-4897-BE68-41A181223CE5}" type="slidenum">
              <a:rPr lang="en-GB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‹Nr.›</a:t>
            </a:fld>
            <a:endParaRPr lang="en-US" sz="1000" b="0" strike="noStrike" spc="-1">
              <a:latin typeface="Times New Roman"/>
            </a:endParaRPr>
          </a:p>
        </p:txBody>
      </p:sp>
      <p:sp>
        <p:nvSpPr>
          <p:cNvPr id="52" name="CustomShape 4"/>
          <p:cNvSpPr/>
          <p:nvPr/>
        </p:nvSpPr>
        <p:spPr>
          <a:xfrm>
            <a:off x="311760" y="4810680"/>
            <a:ext cx="40863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2A6099"/>
                </a:solidFill>
                <a:latin typeface="Arial"/>
                <a:ea typeface="Arial"/>
              </a:rPr>
              <a:t>Mohammad Rahmani and Bernhard Rinner</a:t>
            </a:r>
            <a:endParaRPr lang="en-US" sz="1000" b="0" strike="noStrike" spc="-1">
              <a:solidFill>
                <a:srgbClr val="2A6099"/>
              </a:solidFill>
              <a:latin typeface="Arial"/>
            </a:endParaRPr>
          </a:p>
        </p:txBody>
      </p:sp>
      <p:pic>
        <p:nvPicPr>
          <p:cNvPr id="53" name="Picture 2"/>
          <p:cNvPicPr/>
          <p:nvPr/>
        </p:nvPicPr>
        <p:blipFill>
          <a:blip r:embed="rId14"/>
          <a:stretch/>
        </p:blipFill>
        <p:spPr>
          <a:xfrm>
            <a:off x="8415000" y="143640"/>
            <a:ext cx="605880" cy="172080"/>
          </a:xfrm>
          <a:prstGeom prst="rect">
            <a:avLst/>
          </a:prstGeom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CustomShape 1"/>
          <p:cNvSpPr/>
          <p:nvPr/>
        </p:nvSpPr>
        <p:spPr>
          <a:xfrm>
            <a:off x="788760" y="943920"/>
            <a:ext cx="7188840" cy="1234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200" b="1" strike="noStrike" spc="-1">
                <a:solidFill>
                  <a:srgbClr val="FFFFFF"/>
                </a:solidFill>
                <a:latin typeface="Arial"/>
                <a:ea typeface="Candara"/>
              </a:rPr>
              <a:t>Anomaly Detection in Multi-Robot Systems</a:t>
            </a:r>
            <a:endParaRPr lang="en-US" sz="22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200" b="1" strike="noStrike" spc="-1">
                <a:solidFill>
                  <a:srgbClr val="FFFFFF"/>
                </a:solidFill>
                <a:latin typeface="Arial"/>
                <a:ea typeface="Candara"/>
              </a:rPr>
              <a:t>Exploiting Self-Awareness</a:t>
            </a:r>
            <a:endParaRPr lang="en-US" sz="22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600" b="1" strike="noStrike" spc="-1">
                <a:solidFill>
                  <a:srgbClr val="FFFFFF"/>
                </a:solidFill>
                <a:latin typeface="Arial"/>
                <a:ea typeface="Candara"/>
              </a:rPr>
              <a:t>(FAIEMA 2023)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91" name="TextShape 2"/>
          <p:cNvSpPr txBox="1"/>
          <p:nvPr/>
        </p:nvSpPr>
        <p:spPr>
          <a:xfrm>
            <a:off x="1920240" y="3107880"/>
            <a:ext cx="4559760" cy="59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 baseline="33000">
                <a:solidFill>
                  <a:srgbClr val="FFFFFF"/>
                </a:solidFill>
                <a:latin typeface="Arial"/>
                <a:ea typeface="Candara"/>
              </a:rPr>
              <a:t>1 </a:t>
            </a:r>
            <a:r>
              <a:rPr lang="en-US" sz="1200" b="0" strike="noStrike" spc="-1">
                <a:solidFill>
                  <a:srgbClr val="FFFFFF"/>
                </a:solidFill>
                <a:latin typeface="Arial"/>
                <a:ea typeface="Candara"/>
              </a:rPr>
              <a:t>Doctoral School in Decision Making in a Digital Environment</a:t>
            </a:r>
            <a:endParaRPr lang="en-US" sz="120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 baseline="33000">
                <a:solidFill>
                  <a:srgbClr val="FFFFFF"/>
                </a:solidFill>
                <a:latin typeface="Arial"/>
                <a:ea typeface="Candara"/>
              </a:rPr>
              <a:t>2</a:t>
            </a:r>
            <a:r>
              <a:rPr lang="en-US" sz="1200" b="0" strike="noStrike" spc="-1">
                <a:solidFill>
                  <a:srgbClr val="FFFFFF"/>
                </a:solidFill>
                <a:latin typeface="Arial"/>
                <a:ea typeface="Candara"/>
              </a:rPr>
              <a:t> Institute of Networked and Embedded Systems 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92" name="CustomShape 3"/>
          <p:cNvSpPr/>
          <p:nvPr/>
        </p:nvSpPr>
        <p:spPr>
          <a:xfrm>
            <a:off x="3513960" y="336600"/>
            <a:ext cx="1240920" cy="244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3" name="TextShape 4"/>
          <p:cNvSpPr txBox="1"/>
          <p:nvPr/>
        </p:nvSpPr>
        <p:spPr>
          <a:xfrm>
            <a:off x="2286000" y="2635920"/>
            <a:ext cx="4007880" cy="2901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400" b="1" strike="noStrike" spc="-1">
                <a:solidFill>
                  <a:srgbClr val="FFFFFF"/>
                </a:solidFill>
                <a:latin typeface="Arial"/>
              </a:rPr>
              <a:t>Mohammad Rahmani </a:t>
            </a:r>
            <a:r>
              <a:rPr lang="en-US" sz="1400" b="1" strike="noStrike" spc="-1" baseline="33000">
                <a:solidFill>
                  <a:srgbClr val="FFFFFF"/>
                </a:solidFill>
                <a:latin typeface="Arial"/>
              </a:rPr>
              <a:t>1</a:t>
            </a:r>
            <a:r>
              <a:rPr lang="en-US" sz="1400" b="1" strike="noStrike" spc="-1">
                <a:solidFill>
                  <a:srgbClr val="FFFFFF"/>
                </a:solidFill>
                <a:latin typeface="Arial"/>
              </a:rPr>
              <a:t> and Bernhard Rinner </a:t>
            </a:r>
            <a:r>
              <a:rPr lang="en-US" sz="1400" b="1" strike="noStrike" spc="-1" baseline="33000">
                <a:solidFill>
                  <a:srgbClr val="FFFFFF"/>
                </a:solidFill>
                <a:latin typeface="Arial"/>
              </a:rPr>
              <a:t>2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Shape 1"/>
          <p:cNvSpPr txBox="1"/>
          <p:nvPr/>
        </p:nvSpPr>
        <p:spPr>
          <a:xfrm>
            <a:off x="311760" y="14364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0" strike="noStrike" spc="-1">
                <a:solidFill>
                  <a:srgbClr val="336B81"/>
                </a:solidFill>
                <a:latin typeface="Arial"/>
                <a:ea typeface="Arial"/>
              </a:rPr>
              <a:t>Introduction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Shape 2"/>
          <p:cNvSpPr txBox="1"/>
          <p:nvPr/>
        </p:nvSpPr>
        <p:spPr>
          <a:xfrm>
            <a:off x="7327800" y="3831120"/>
            <a:ext cx="500760" cy="3585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D29120D7-A413-4733-BE31-51173313F9CB}" type="slidenum">
              <a:rPr lang="en-GB" sz="1000" b="0" strike="noStrike" spc="-1">
                <a:solidFill>
                  <a:srgbClr val="595959"/>
                </a:solidFill>
                <a:latin typeface="Arial"/>
                <a:ea typeface="Arial"/>
              </a:rPr>
              <a:t>2</a:t>
            </a:fld>
            <a:endParaRPr lang="en-US" sz="1000" b="0" strike="noStrike" spc="-1">
              <a:latin typeface="Times New Roman"/>
            </a:endParaRPr>
          </a:p>
        </p:txBody>
      </p:sp>
      <p:sp>
        <p:nvSpPr>
          <p:cNvPr id="96" name="TextShape 3"/>
          <p:cNvSpPr txBox="1"/>
          <p:nvPr/>
        </p:nvSpPr>
        <p:spPr>
          <a:xfrm>
            <a:off x="274320" y="878400"/>
            <a:ext cx="9076320" cy="18885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1" strike="noStrike" spc="-1">
                <a:latin typeface="Arial"/>
              </a:rPr>
              <a:t>Self-awareness (SA) </a:t>
            </a:r>
            <a:r>
              <a:rPr lang="en-US" sz="1400" b="0" strike="noStrike" spc="-1">
                <a:latin typeface="Arial"/>
              </a:rPr>
              <a:t>is robots’ ability to model </a:t>
            </a:r>
            <a:r>
              <a:rPr lang="en-US" sz="1400" b="1" strike="noStrike" spc="-1">
                <a:latin typeface="Arial"/>
              </a:rPr>
              <a:t>knowledge</a:t>
            </a:r>
            <a:r>
              <a:rPr lang="en-US" sz="1400" b="0" strike="noStrike" spc="-1">
                <a:latin typeface="Arial"/>
              </a:rPr>
              <a:t> about “</a:t>
            </a:r>
            <a:r>
              <a:rPr lang="en-US" sz="1400" b="1" strike="noStrike" spc="-1">
                <a:latin typeface="Arial"/>
              </a:rPr>
              <a:t>themselves</a:t>
            </a:r>
            <a:r>
              <a:rPr lang="en-US" sz="1400" b="0" strike="noStrike" spc="-1">
                <a:latin typeface="Arial"/>
              </a:rPr>
              <a:t>,” in relation to the </a:t>
            </a:r>
            <a:r>
              <a:rPr lang="en-US" sz="1400" b="1" strike="noStrike" spc="-1">
                <a:latin typeface="Arial"/>
              </a:rPr>
              <a:t>world</a:t>
            </a:r>
            <a:endParaRPr lang="en-US" sz="1400" b="0" strike="noStrike" spc="-1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4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Robots use data from </a:t>
            </a:r>
            <a:r>
              <a:rPr lang="en-US" sz="1400" b="1" strike="noStrike" spc="-1">
                <a:solidFill>
                  <a:srgbClr val="000000"/>
                </a:solidFill>
                <a:latin typeface="Arial"/>
                <a:ea typeface="Arial"/>
              </a:rPr>
              <a:t>proprioceptive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 and </a:t>
            </a:r>
            <a:r>
              <a:rPr lang="en-US" sz="1400" b="1" strike="noStrike" spc="-1">
                <a:solidFill>
                  <a:srgbClr val="000000"/>
                </a:solidFill>
                <a:latin typeface="Arial"/>
                <a:ea typeface="Arial"/>
              </a:rPr>
              <a:t>exteroceptive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sensors to build </a:t>
            </a:r>
            <a:r>
              <a:rPr lang="en-US" sz="1400" b="1" strike="noStrike" spc="-1">
                <a:solidFill>
                  <a:srgbClr val="000000"/>
                </a:solidFill>
                <a:latin typeface="Arial"/>
                <a:ea typeface="Arial"/>
              </a:rPr>
              <a:t>spatiotemporal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 models</a:t>
            </a:r>
            <a:endParaRPr lang="en-US" sz="14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4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In </a:t>
            </a:r>
            <a:r>
              <a:rPr lang="en-US" sz="1400" b="1" strike="noStrike" spc="-1">
                <a:solidFill>
                  <a:srgbClr val="000000"/>
                </a:solidFill>
                <a:latin typeface="Arial"/>
                <a:ea typeface="Arial"/>
              </a:rPr>
              <a:t>Multi-robot systems (MRS)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 such models could be also build about </a:t>
            </a:r>
            <a:r>
              <a:rPr lang="en-US" sz="1400" b="1" strike="noStrike" spc="-1">
                <a:solidFill>
                  <a:srgbClr val="000000"/>
                </a:solidFill>
                <a:latin typeface="Arial"/>
                <a:ea typeface="Arial"/>
              </a:rPr>
              <a:t>relations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 such as </a:t>
            </a:r>
            <a:r>
              <a:rPr lang="en-US" sz="1400" b="1" strike="noStrike" spc="-1">
                <a:solidFill>
                  <a:srgbClr val="000000"/>
                </a:solidFill>
                <a:latin typeface="Arial"/>
                <a:ea typeface="Arial"/>
              </a:rPr>
              <a:t>following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lang="en-US" sz="14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each other whenever there is a narrow corridor  </a:t>
            </a:r>
            <a:endParaRPr lang="en-US" sz="14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4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To </a:t>
            </a:r>
            <a:r>
              <a:rPr lang="en-US" sz="1400" b="1" strike="noStrike" spc="-1">
                <a:solidFill>
                  <a:srgbClr val="000000"/>
                </a:solidFill>
                <a:latin typeface="Arial"/>
                <a:ea typeface="Arial"/>
              </a:rPr>
              <a:t>update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or </a:t>
            </a:r>
            <a:r>
              <a:rPr lang="en-US" sz="1400" b="1" strike="noStrike" spc="-1">
                <a:solidFill>
                  <a:srgbClr val="000000"/>
                </a:solidFill>
                <a:latin typeface="Arial"/>
                <a:ea typeface="Arial"/>
              </a:rPr>
              <a:t>create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 models they need to detect </a:t>
            </a:r>
            <a:r>
              <a:rPr lang="en-US" sz="1400" b="1" strike="noStrike" spc="-1">
                <a:solidFill>
                  <a:srgbClr val="000000"/>
                </a:solidFill>
                <a:latin typeface="Arial"/>
                <a:ea typeface="Arial"/>
              </a:rPr>
              <a:t>abnormal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 experiences</a:t>
            </a:r>
            <a:endParaRPr lang="en-US" sz="1400" b="0" strike="noStrike" spc="-1">
              <a:latin typeface="Arial"/>
            </a:endParaRPr>
          </a:p>
          <a:p>
            <a:endParaRPr lang="en-US" sz="1400" b="0" strike="noStrike" spc="-1">
              <a:latin typeface="Arial"/>
            </a:endParaRPr>
          </a:p>
        </p:txBody>
      </p:sp>
      <p:sp>
        <p:nvSpPr>
          <p:cNvPr id="97" name="CustomShape 4"/>
          <p:cNvSpPr/>
          <p:nvPr/>
        </p:nvSpPr>
        <p:spPr>
          <a:xfrm>
            <a:off x="6024240" y="4120200"/>
            <a:ext cx="803880" cy="249120"/>
          </a:xfrm>
          <a:custGeom>
            <a:avLst/>
            <a:gdLst/>
            <a:ahLst/>
            <a:cxnLst/>
            <a:rect l="0" t="0" r="r" b="b"/>
            <a:pathLst>
              <a:path w="2235" h="694">
                <a:moveTo>
                  <a:pt x="51" y="0"/>
                </a:moveTo>
                <a:lnTo>
                  <a:pt x="51" y="0"/>
                </a:lnTo>
                <a:cubicBezTo>
                  <a:pt x="42" y="0"/>
                  <a:pt x="33" y="2"/>
                  <a:pt x="26" y="7"/>
                </a:cubicBezTo>
                <a:cubicBezTo>
                  <a:pt x="18" y="11"/>
                  <a:pt x="11" y="18"/>
                  <a:pt x="7" y="26"/>
                </a:cubicBezTo>
                <a:cubicBezTo>
                  <a:pt x="2" y="33"/>
                  <a:pt x="0" y="42"/>
                  <a:pt x="0" y="51"/>
                </a:cubicBezTo>
                <a:lnTo>
                  <a:pt x="0" y="641"/>
                </a:lnTo>
                <a:lnTo>
                  <a:pt x="0" y="642"/>
                </a:lnTo>
                <a:cubicBezTo>
                  <a:pt x="0" y="651"/>
                  <a:pt x="2" y="660"/>
                  <a:pt x="7" y="667"/>
                </a:cubicBezTo>
                <a:cubicBezTo>
                  <a:pt x="11" y="675"/>
                  <a:pt x="18" y="682"/>
                  <a:pt x="26" y="686"/>
                </a:cubicBezTo>
                <a:cubicBezTo>
                  <a:pt x="33" y="691"/>
                  <a:pt x="42" y="693"/>
                  <a:pt x="51" y="693"/>
                </a:cubicBezTo>
                <a:lnTo>
                  <a:pt x="2182" y="693"/>
                </a:lnTo>
                <a:lnTo>
                  <a:pt x="2183" y="693"/>
                </a:lnTo>
                <a:cubicBezTo>
                  <a:pt x="2192" y="693"/>
                  <a:pt x="2201" y="691"/>
                  <a:pt x="2208" y="686"/>
                </a:cubicBezTo>
                <a:cubicBezTo>
                  <a:pt x="2216" y="682"/>
                  <a:pt x="2223" y="675"/>
                  <a:pt x="2227" y="667"/>
                </a:cubicBezTo>
                <a:cubicBezTo>
                  <a:pt x="2232" y="660"/>
                  <a:pt x="2234" y="651"/>
                  <a:pt x="2234" y="642"/>
                </a:cubicBezTo>
                <a:lnTo>
                  <a:pt x="2234" y="51"/>
                </a:lnTo>
                <a:lnTo>
                  <a:pt x="2234" y="51"/>
                </a:lnTo>
                <a:lnTo>
                  <a:pt x="2234" y="51"/>
                </a:lnTo>
                <a:cubicBezTo>
                  <a:pt x="2234" y="42"/>
                  <a:pt x="2232" y="33"/>
                  <a:pt x="2227" y="26"/>
                </a:cubicBezTo>
                <a:cubicBezTo>
                  <a:pt x="2223" y="18"/>
                  <a:pt x="2216" y="11"/>
                  <a:pt x="2208" y="7"/>
                </a:cubicBezTo>
                <a:cubicBezTo>
                  <a:pt x="2201" y="2"/>
                  <a:pt x="2192" y="0"/>
                  <a:pt x="2183" y="0"/>
                </a:cubicBezTo>
                <a:lnTo>
                  <a:pt x="51" y="0"/>
                </a:lnTo>
              </a:path>
            </a:pathLst>
          </a:custGeom>
          <a:solidFill>
            <a:srgbClr val="729FCF"/>
          </a:solidFill>
          <a:ln w="9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4320" tIns="49320" rIns="94320" bIns="49320" anchor="ctr">
            <a:noAutofit/>
          </a:bodyPr>
          <a:lstStyle/>
          <a:p>
            <a:pPr algn="ctr"/>
            <a:r>
              <a:rPr lang="en-US" sz="1200" b="1" strike="noStrike" spc="-1">
                <a:solidFill>
                  <a:srgbClr val="FFFFFF"/>
                </a:solidFill>
                <a:latin typeface="Arial"/>
              </a:rPr>
              <a:t>LIDAR</a:t>
            </a:r>
          </a:p>
        </p:txBody>
      </p:sp>
      <p:sp>
        <p:nvSpPr>
          <p:cNvPr id="98" name="CustomShape 5"/>
          <p:cNvSpPr/>
          <p:nvPr/>
        </p:nvSpPr>
        <p:spPr>
          <a:xfrm>
            <a:off x="5727600" y="2648880"/>
            <a:ext cx="870120" cy="249480"/>
          </a:xfrm>
          <a:custGeom>
            <a:avLst/>
            <a:gdLst/>
            <a:ahLst/>
            <a:cxnLst/>
            <a:rect l="0" t="0" r="r" b="b"/>
            <a:pathLst>
              <a:path w="2419" h="695">
                <a:moveTo>
                  <a:pt x="51" y="0"/>
                </a:moveTo>
                <a:lnTo>
                  <a:pt x="51" y="0"/>
                </a:lnTo>
                <a:cubicBezTo>
                  <a:pt x="42" y="0"/>
                  <a:pt x="33" y="2"/>
                  <a:pt x="26" y="7"/>
                </a:cubicBezTo>
                <a:cubicBezTo>
                  <a:pt x="18" y="11"/>
                  <a:pt x="11" y="18"/>
                  <a:pt x="7" y="26"/>
                </a:cubicBezTo>
                <a:cubicBezTo>
                  <a:pt x="2" y="33"/>
                  <a:pt x="0" y="42"/>
                  <a:pt x="0" y="51"/>
                </a:cubicBezTo>
                <a:lnTo>
                  <a:pt x="0" y="642"/>
                </a:lnTo>
                <a:lnTo>
                  <a:pt x="0" y="643"/>
                </a:lnTo>
                <a:cubicBezTo>
                  <a:pt x="0" y="652"/>
                  <a:pt x="2" y="661"/>
                  <a:pt x="7" y="668"/>
                </a:cubicBezTo>
                <a:cubicBezTo>
                  <a:pt x="11" y="676"/>
                  <a:pt x="18" y="683"/>
                  <a:pt x="26" y="687"/>
                </a:cubicBezTo>
                <a:cubicBezTo>
                  <a:pt x="33" y="692"/>
                  <a:pt x="42" y="694"/>
                  <a:pt x="51" y="694"/>
                </a:cubicBezTo>
                <a:lnTo>
                  <a:pt x="2366" y="694"/>
                </a:lnTo>
                <a:lnTo>
                  <a:pt x="2367" y="694"/>
                </a:lnTo>
                <a:cubicBezTo>
                  <a:pt x="2376" y="694"/>
                  <a:pt x="2385" y="692"/>
                  <a:pt x="2392" y="687"/>
                </a:cubicBezTo>
                <a:cubicBezTo>
                  <a:pt x="2400" y="683"/>
                  <a:pt x="2407" y="676"/>
                  <a:pt x="2411" y="668"/>
                </a:cubicBezTo>
                <a:cubicBezTo>
                  <a:pt x="2416" y="661"/>
                  <a:pt x="2418" y="652"/>
                  <a:pt x="2418" y="643"/>
                </a:cubicBezTo>
                <a:lnTo>
                  <a:pt x="2417" y="51"/>
                </a:lnTo>
                <a:lnTo>
                  <a:pt x="2418" y="51"/>
                </a:lnTo>
                <a:lnTo>
                  <a:pt x="2418" y="51"/>
                </a:lnTo>
                <a:cubicBezTo>
                  <a:pt x="2418" y="42"/>
                  <a:pt x="2416" y="33"/>
                  <a:pt x="2411" y="26"/>
                </a:cubicBezTo>
                <a:cubicBezTo>
                  <a:pt x="2407" y="18"/>
                  <a:pt x="2400" y="11"/>
                  <a:pt x="2392" y="7"/>
                </a:cubicBezTo>
                <a:cubicBezTo>
                  <a:pt x="2385" y="2"/>
                  <a:pt x="2376" y="0"/>
                  <a:pt x="2367" y="0"/>
                </a:cubicBezTo>
                <a:lnTo>
                  <a:pt x="51" y="0"/>
                </a:lnTo>
              </a:path>
            </a:pathLst>
          </a:custGeom>
          <a:solidFill>
            <a:srgbClr val="00AAAD"/>
          </a:solidFill>
          <a:ln w="9000">
            <a:solidFill>
              <a:srgbClr val="0088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4320" tIns="49320" rIns="94320" bIns="49320" anchor="ctr">
            <a:noAutofit/>
          </a:bodyPr>
          <a:lstStyle/>
          <a:p>
            <a:pPr algn="ctr"/>
            <a:r>
              <a:rPr lang="en-US" sz="1200" b="1" strike="noStrike" spc="-1">
                <a:solidFill>
                  <a:srgbClr val="FFFFFF"/>
                </a:solidFill>
                <a:latin typeface="Arial"/>
              </a:rPr>
              <a:t>GPS</a:t>
            </a:r>
          </a:p>
        </p:txBody>
      </p:sp>
      <p:pic>
        <p:nvPicPr>
          <p:cNvPr id="99" name="Grafik 98"/>
          <p:cNvPicPr/>
          <p:nvPr/>
        </p:nvPicPr>
        <p:blipFill>
          <a:blip r:embed="rId2"/>
          <a:stretch/>
        </p:blipFill>
        <p:spPr>
          <a:xfrm>
            <a:off x="6436800" y="2787120"/>
            <a:ext cx="2171880" cy="1535400"/>
          </a:xfrm>
          <a:prstGeom prst="rect">
            <a:avLst/>
          </a:prstGeom>
          <a:ln>
            <a:noFill/>
          </a:ln>
        </p:spPr>
      </p:pic>
      <p:cxnSp>
        <p:nvCxnSpPr>
          <p:cNvPr id="100" name="Line 6"/>
          <p:cNvCxnSpPr>
            <a:endCxn id="98" idx="3"/>
          </p:cNvCxnSpPr>
          <p:nvPr/>
        </p:nvCxnSpPr>
        <p:spPr>
          <a:xfrm flipH="1" flipV="1">
            <a:off x="6597720" y="2773440"/>
            <a:ext cx="646200" cy="862920"/>
          </a:xfrm>
          <a:prstGeom prst="bentConnector3">
            <a:avLst/>
          </a:prstGeom>
          <a:ln w="18360">
            <a:solidFill>
              <a:srgbClr val="00AAAD"/>
            </a:solidFill>
            <a:round/>
            <a:headEnd type="oval" w="med" len="med"/>
            <a:tailEnd type="triangle" w="med" len="med"/>
          </a:ln>
        </p:spPr>
      </p:cxnSp>
      <p:grpSp>
        <p:nvGrpSpPr>
          <p:cNvPr id="101" name="Group 7"/>
          <p:cNvGrpSpPr/>
          <p:nvPr/>
        </p:nvGrpSpPr>
        <p:grpSpPr>
          <a:xfrm>
            <a:off x="5997240" y="4514040"/>
            <a:ext cx="2283120" cy="569520"/>
            <a:chOff x="5997240" y="4514040"/>
            <a:chExt cx="2283120" cy="569520"/>
          </a:xfrm>
        </p:grpSpPr>
        <p:sp>
          <p:nvSpPr>
            <p:cNvPr id="102" name="CustomShape 8"/>
            <p:cNvSpPr/>
            <p:nvPr/>
          </p:nvSpPr>
          <p:spPr>
            <a:xfrm>
              <a:off x="5997240" y="4574160"/>
              <a:ext cx="453600" cy="99360"/>
            </a:xfrm>
            <a:custGeom>
              <a:avLst/>
              <a:gdLst/>
              <a:ahLst/>
              <a:cxnLst/>
              <a:rect l="0" t="0" r="r" b="b"/>
              <a:pathLst>
                <a:path w="1262" h="278">
                  <a:moveTo>
                    <a:pt x="20" y="0"/>
                  </a:moveTo>
                  <a:lnTo>
                    <a:pt x="20" y="0"/>
                  </a:lnTo>
                  <a:cubicBezTo>
                    <a:pt x="17" y="0"/>
                    <a:pt x="13" y="1"/>
                    <a:pt x="10" y="3"/>
                  </a:cubicBezTo>
                  <a:cubicBezTo>
                    <a:pt x="7" y="5"/>
                    <a:pt x="5" y="7"/>
                    <a:pt x="3" y="10"/>
                  </a:cubicBezTo>
                  <a:cubicBezTo>
                    <a:pt x="1" y="13"/>
                    <a:pt x="0" y="17"/>
                    <a:pt x="0" y="20"/>
                  </a:cubicBezTo>
                  <a:lnTo>
                    <a:pt x="0" y="256"/>
                  </a:lnTo>
                  <a:lnTo>
                    <a:pt x="0" y="257"/>
                  </a:lnTo>
                  <a:cubicBezTo>
                    <a:pt x="0" y="260"/>
                    <a:pt x="1" y="264"/>
                    <a:pt x="3" y="267"/>
                  </a:cubicBezTo>
                  <a:cubicBezTo>
                    <a:pt x="5" y="270"/>
                    <a:pt x="7" y="272"/>
                    <a:pt x="10" y="274"/>
                  </a:cubicBezTo>
                  <a:cubicBezTo>
                    <a:pt x="13" y="276"/>
                    <a:pt x="17" y="277"/>
                    <a:pt x="20" y="277"/>
                  </a:cubicBezTo>
                  <a:lnTo>
                    <a:pt x="1240" y="277"/>
                  </a:lnTo>
                  <a:lnTo>
                    <a:pt x="1241" y="277"/>
                  </a:lnTo>
                  <a:cubicBezTo>
                    <a:pt x="1244" y="277"/>
                    <a:pt x="1248" y="276"/>
                    <a:pt x="1251" y="274"/>
                  </a:cubicBezTo>
                  <a:cubicBezTo>
                    <a:pt x="1254" y="272"/>
                    <a:pt x="1256" y="270"/>
                    <a:pt x="1258" y="267"/>
                  </a:cubicBezTo>
                  <a:cubicBezTo>
                    <a:pt x="1260" y="264"/>
                    <a:pt x="1261" y="260"/>
                    <a:pt x="1261" y="257"/>
                  </a:cubicBezTo>
                  <a:lnTo>
                    <a:pt x="1261" y="20"/>
                  </a:lnTo>
                  <a:lnTo>
                    <a:pt x="1261" y="20"/>
                  </a:lnTo>
                  <a:lnTo>
                    <a:pt x="1261" y="20"/>
                  </a:lnTo>
                  <a:cubicBezTo>
                    <a:pt x="1261" y="17"/>
                    <a:pt x="1260" y="13"/>
                    <a:pt x="1258" y="10"/>
                  </a:cubicBezTo>
                  <a:cubicBezTo>
                    <a:pt x="1256" y="7"/>
                    <a:pt x="1254" y="5"/>
                    <a:pt x="1251" y="3"/>
                  </a:cubicBezTo>
                  <a:cubicBezTo>
                    <a:pt x="1248" y="1"/>
                    <a:pt x="1244" y="0"/>
                    <a:pt x="1241" y="0"/>
                  </a:cubicBezTo>
                  <a:lnTo>
                    <a:pt x="20" y="0"/>
                  </a:lnTo>
                </a:path>
              </a:pathLst>
            </a:custGeom>
            <a:solidFill>
              <a:srgbClr val="729FCF"/>
            </a:solidFill>
            <a:ln w="9000">
              <a:solidFill>
                <a:srgbClr val="3465A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3" name="CustomShape 9"/>
            <p:cNvSpPr/>
            <p:nvPr/>
          </p:nvSpPr>
          <p:spPr>
            <a:xfrm>
              <a:off x="5997240" y="4750920"/>
              <a:ext cx="453600" cy="99720"/>
            </a:xfrm>
            <a:custGeom>
              <a:avLst/>
              <a:gdLst/>
              <a:ahLst/>
              <a:cxnLst/>
              <a:rect l="0" t="0" r="r" b="b"/>
              <a:pathLst>
                <a:path w="1262" h="279">
                  <a:moveTo>
                    <a:pt x="20" y="0"/>
                  </a:moveTo>
                  <a:lnTo>
                    <a:pt x="21" y="0"/>
                  </a:lnTo>
                  <a:cubicBezTo>
                    <a:pt x="17" y="0"/>
                    <a:pt x="13" y="1"/>
                    <a:pt x="10" y="3"/>
                  </a:cubicBezTo>
                  <a:cubicBezTo>
                    <a:pt x="7" y="5"/>
                    <a:pt x="5" y="7"/>
                    <a:pt x="3" y="10"/>
                  </a:cubicBezTo>
                  <a:cubicBezTo>
                    <a:pt x="1" y="13"/>
                    <a:pt x="0" y="17"/>
                    <a:pt x="0" y="21"/>
                  </a:cubicBezTo>
                  <a:lnTo>
                    <a:pt x="0" y="257"/>
                  </a:lnTo>
                  <a:lnTo>
                    <a:pt x="0" y="257"/>
                  </a:lnTo>
                  <a:cubicBezTo>
                    <a:pt x="0" y="261"/>
                    <a:pt x="1" y="265"/>
                    <a:pt x="3" y="268"/>
                  </a:cubicBezTo>
                  <a:cubicBezTo>
                    <a:pt x="5" y="271"/>
                    <a:pt x="7" y="273"/>
                    <a:pt x="10" y="275"/>
                  </a:cubicBezTo>
                  <a:cubicBezTo>
                    <a:pt x="13" y="277"/>
                    <a:pt x="17" y="278"/>
                    <a:pt x="21" y="278"/>
                  </a:cubicBezTo>
                  <a:lnTo>
                    <a:pt x="1240" y="278"/>
                  </a:lnTo>
                  <a:lnTo>
                    <a:pt x="1240" y="278"/>
                  </a:lnTo>
                  <a:cubicBezTo>
                    <a:pt x="1244" y="278"/>
                    <a:pt x="1248" y="277"/>
                    <a:pt x="1251" y="275"/>
                  </a:cubicBezTo>
                  <a:cubicBezTo>
                    <a:pt x="1254" y="273"/>
                    <a:pt x="1256" y="271"/>
                    <a:pt x="1258" y="268"/>
                  </a:cubicBezTo>
                  <a:cubicBezTo>
                    <a:pt x="1260" y="265"/>
                    <a:pt x="1261" y="261"/>
                    <a:pt x="1261" y="257"/>
                  </a:cubicBezTo>
                  <a:lnTo>
                    <a:pt x="1261" y="20"/>
                  </a:lnTo>
                  <a:lnTo>
                    <a:pt x="1261" y="21"/>
                  </a:lnTo>
                  <a:lnTo>
                    <a:pt x="1261" y="21"/>
                  </a:lnTo>
                  <a:cubicBezTo>
                    <a:pt x="1261" y="17"/>
                    <a:pt x="1260" y="13"/>
                    <a:pt x="1258" y="10"/>
                  </a:cubicBezTo>
                  <a:cubicBezTo>
                    <a:pt x="1256" y="7"/>
                    <a:pt x="1254" y="5"/>
                    <a:pt x="1251" y="3"/>
                  </a:cubicBezTo>
                  <a:cubicBezTo>
                    <a:pt x="1248" y="1"/>
                    <a:pt x="1244" y="0"/>
                    <a:pt x="1240" y="0"/>
                  </a:cubicBezTo>
                  <a:lnTo>
                    <a:pt x="20" y="0"/>
                  </a:lnTo>
                </a:path>
              </a:pathLst>
            </a:custGeom>
            <a:solidFill>
              <a:srgbClr val="00AAAD"/>
            </a:solidFill>
            <a:ln w="9000">
              <a:solidFill>
                <a:srgbClr val="15846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4" name="TextShape 10"/>
            <p:cNvSpPr txBox="1"/>
            <p:nvPr/>
          </p:nvSpPr>
          <p:spPr>
            <a:xfrm>
              <a:off x="6396840" y="4514040"/>
              <a:ext cx="1879560" cy="39420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>
              <a:noAutofit/>
            </a:bodyPr>
            <a:lstStyle/>
            <a:p>
              <a:r>
                <a:rPr lang="en-US" sz="1200" b="1" strike="noStrike" spc="-1">
                  <a:solidFill>
                    <a:srgbClr val="0066B3"/>
                  </a:solidFill>
                  <a:latin typeface="Arial"/>
                </a:rPr>
                <a:t>Exteroceptive sensors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05" name="TextShape 11"/>
            <p:cNvSpPr txBox="1"/>
            <p:nvPr/>
          </p:nvSpPr>
          <p:spPr>
            <a:xfrm>
              <a:off x="6400800" y="4689360"/>
              <a:ext cx="1879560" cy="39420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>
              <a:noAutofit/>
            </a:bodyPr>
            <a:lstStyle/>
            <a:p>
              <a:r>
                <a:rPr lang="en-US" sz="1200" b="1" strike="noStrike" spc="-1">
                  <a:solidFill>
                    <a:srgbClr val="00AAAD"/>
                  </a:solidFill>
                  <a:latin typeface="Arial"/>
                </a:rPr>
                <a:t>Proprioceptive sensors</a:t>
              </a:r>
              <a:endParaRPr lang="en-US" sz="1200" b="0" strike="noStrike" spc="-1">
                <a:latin typeface="Arial"/>
              </a:endParaRPr>
            </a:p>
          </p:txBody>
        </p:sp>
      </p:grpSp>
      <p:cxnSp>
        <p:nvCxnSpPr>
          <p:cNvPr id="106" name="Line 12"/>
          <p:cNvCxnSpPr>
            <a:endCxn id="97" idx="3"/>
          </p:cNvCxnSpPr>
          <p:nvPr/>
        </p:nvCxnSpPr>
        <p:spPr>
          <a:xfrm flipH="1">
            <a:off x="6828120" y="3923640"/>
            <a:ext cx="671400" cy="321480"/>
          </a:xfrm>
          <a:prstGeom prst="bentConnector3">
            <a:avLst/>
          </a:prstGeom>
          <a:ln w="18360">
            <a:solidFill>
              <a:srgbClr val="0066B3"/>
            </a:solidFill>
            <a:round/>
            <a:headEnd type="oval" w="med" len="med"/>
            <a:tailEnd type="triangle" w="med" len="med"/>
          </a:ln>
        </p:spPr>
      </p:cxnSp>
      <p:sp>
        <p:nvSpPr>
          <p:cNvPr id="107" name="CustomShape 13"/>
          <p:cNvSpPr/>
          <p:nvPr/>
        </p:nvSpPr>
        <p:spPr>
          <a:xfrm>
            <a:off x="1562760" y="2777040"/>
            <a:ext cx="1308960" cy="587520"/>
          </a:xfrm>
          <a:custGeom>
            <a:avLst/>
            <a:gdLst/>
            <a:ahLst/>
            <a:cxnLst/>
            <a:rect l="0" t="0" r="r" b="b"/>
            <a:pathLst>
              <a:path w="3638" h="1634">
                <a:moveTo>
                  <a:pt x="0" y="238"/>
                </a:moveTo>
                <a:lnTo>
                  <a:pt x="2619" y="238"/>
                </a:lnTo>
                <a:lnTo>
                  <a:pt x="2619" y="0"/>
                </a:lnTo>
                <a:lnTo>
                  <a:pt x="3637" y="816"/>
                </a:lnTo>
                <a:lnTo>
                  <a:pt x="2619" y="1633"/>
                </a:lnTo>
                <a:lnTo>
                  <a:pt x="2619" y="1394"/>
                </a:lnTo>
                <a:lnTo>
                  <a:pt x="0" y="1394"/>
                </a:lnTo>
                <a:lnTo>
                  <a:pt x="0" y="238"/>
                </a:lnTo>
              </a:path>
            </a:pathLst>
          </a:custGeom>
          <a:solidFill>
            <a:srgbClr val="8D1D75"/>
          </a:solidFill>
          <a:ln>
            <a:solidFill>
              <a:srgbClr val="6509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FFFFFF"/>
                </a:solidFill>
                <a:latin typeface="Arial"/>
              </a:rPr>
              <a:t>model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08" name="TextShape 14"/>
          <p:cNvSpPr txBox="1"/>
          <p:nvPr/>
        </p:nvSpPr>
        <p:spPr>
          <a:xfrm>
            <a:off x="3088800" y="2686680"/>
            <a:ext cx="1175760" cy="6022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algn="ctr"/>
            <a:r>
              <a:rPr lang="en-US" sz="1200" b="0" strike="noStrike" spc="-1">
                <a:latin typeface="Arial"/>
              </a:rPr>
              <a:t>Most expected</a:t>
            </a:r>
            <a:br/>
            <a:r>
              <a:rPr lang="en-US" sz="1200" b="0" strike="noStrike" spc="-1">
                <a:latin typeface="Arial"/>
              </a:rPr>
              <a:t>observation in</a:t>
            </a:r>
          </a:p>
          <a:p>
            <a:pPr algn="ctr"/>
            <a:r>
              <a:rPr lang="en-US" sz="1200" b="0" strike="noStrike" spc="-1">
                <a:latin typeface="Arial"/>
              </a:rPr>
              <a:t>next timestep</a:t>
            </a:r>
          </a:p>
        </p:txBody>
      </p:sp>
      <p:sp>
        <p:nvSpPr>
          <p:cNvPr id="109" name="CustomShape 15"/>
          <p:cNvSpPr/>
          <p:nvPr/>
        </p:nvSpPr>
        <p:spPr>
          <a:xfrm>
            <a:off x="3441600" y="4203360"/>
            <a:ext cx="365760" cy="365760"/>
          </a:xfrm>
          <a:prstGeom prst="ellipse">
            <a:avLst/>
          </a:prstGeom>
          <a:solidFill>
            <a:srgbClr val="EA75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FFFFFF"/>
                </a:solidFill>
                <a:latin typeface="Arial"/>
              </a:rPr>
              <a:t>Z</a:t>
            </a:r>
            <a:r>
              <a:rPr lang="en-US" sz="1400" b="1" strike="noStrike" spc="-1" baseline="-33000">
                <a:solidFill>
                  <a:srgbClr val="FFFFFF"/>
                </a:solidFill>
                <a:latin typeface="Arial"/>
              </a:rPr>
              <a:t>t</a:t>
            </a:r>
            <a:endParaRPr lang="en-US" sz="1400" b="1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CustomShape 16"/>
          <p:cNvSpPr/>
          <p:nvPr/>
        </p:nvSpPr>
        <p:spPr>
          <a:xfrm>
            <a:off x="1272960" y="2885400"/>
            <a:ext cx="365760" cy="365760"/>
          </a:xfrm>
          <a:prstGeom prst="ellipse">
            <a:avLst/>
          </a:prstGeom>
          <a:solidFill>
            <a:srgbClr val="EA75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FFFFFF"/>
                </a:solidFill>
                <a:latin typeface="Arial"/>
              </a:rPr>
              <a:t>Z</a:t>
            </a:r>
            <a:r>
              <a:rPr lang="en-US" sz="1400" b="1" strike="noStrike" spc="-1" baseline="-33000">
                <a:solidFill>
                  <a:srgbClr val="FFFFFF"/>
                </a:solidFill>
                <a:latin typeface="Arial"/>
              </a:rPr>
              <a:t>t-1</a:t>
            </a:r>
            <a:endParaRPr lang="en-US" sz="1400" b="1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CustomShape 17"/>
          <p:cNvSpPr/>
          <p:nvPr/>
        </p:nvSpPr>
        <p:spPr>
          <a:xfrm>
            <a:off x="2691720" y="2904480"/>
            <a:ext cx="365760" cy="365760"/>
          </a:xfrm>
          <a:prstGeom prst="ellipse">
            <a:avLst/>
          </a:prstGeom>
          <a:solidFill>
            <a:srgbClr val="EA75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FFFFFF"/>
                </a:solidFill>
                <a:latin typeface="Arial"/>
              </a:rPr>
              <a:t>Z</a:t>
            </a:r>
            <a:r>
              <a:rPr lang="en-US" sz="1400" b="1" strike="noStrike" spc="-1" baseline="-33000">
                <a:solidFill>
                  <a:srgbClr val="FFFFFF"/>
                </a:solidFill>
                <a:latin typeface="Arial"/>
              </a:rPr>
              <a:t>t</a:t>
            </a:r>
            <a:endParaRPr lang="en-US" sz="1400" b="1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Shape 18"/>
          <p:cNvSpPr txBox="1"/>
          <p:nvPr/>
        </p:nvSpPr>
        <p:spPr>
          <a:xfrm>
            <a:off x="332640" y="2740320"/>
            <a:ext cx="971640" cy="6022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algn="ctr"/>
            <a:r>
              <a:rPr lang="en-US" sz="1200" b="0" strike="noStrike" spc="-1">
                <a:latin typeface="Arial"/>
              </a:rPr>
              <a:t>Current</a:t>
            </a:r>
          </a:p>
          <a:p>
            <a:pPr algn="ctr"/>
            <a:r>
              <a:rPr lang="en-US" sz="1200" b="0" strike="noStrike" spc="-1">
                <a:latin typeface="Arial"/>
              </a:rPr>
              <a:t>sensory</a:t>
            </a:r>
            <a:br/>
            <a:r>
              <a:rPr lang="en-US" sz="1200" b="0" strike="noStrike" spc="-1">
                <a:latin typeface="Arial"/>
              </a:rPr>
              <a:t>observation</a:t>
            </a:r>
          </a:p>
        </p:txBody>
      </p:sp>
      <p:grpSp>
        <p:nvGrpSpPr>
          <p:cNvPr id="113" name="Group 19"/>
          <p:cNvGrpSpPr/>
          <p:nvPr/>
        </p:nvGrpSpPr>
        <p:grpSpPr>
          <a:xfrm>
            <a:off x="2816280" y="2942280"/>
            <a:ext cx="91440" cy="53640"/>
            <a:chOff x="2816280" y="2942280"/>
            <a:chExt cx="91440" cy="53640"/>
          </a:xfrm>
        </p:grpSpPr>
        <p:sp>
          <p:nvSpPr>
            <p:cNvPr id="114" name="Line 20"/>
            <p:cNvSpPr/>
            <p:nvPr/>
          </p:nvSpPr>
          <p:spPr>
            <a:xfrm flipV="1">
              <a:off x="2816280" y="2942280"/>
              <a:ext cx="45720" cy="53640"/>
            </a:xfrm>
            <a:prstGeom prst="line">
              <a:avLst/>
            </a:prstGeom>
            <a:ln w="1908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5" name="Line 21"/>
            <p:cNvSpPr/>
            <p:nvPr/>
          </p:nvSpPr>
          <p:spPr>
            <a:xfrm flipH="1" flipV="1">
              <a:off x="2862000" y="2942280"/>
              <a:ext cx="45720" cy="53640"/>
            </a:xfrm>
            <a:prstGeom prst="line">
              <a:avLst/>
            </a:prstGeom>
            <a:ln w="1908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116" name="TextShape 22"/>
          <p:cNvSpPr txBox="1"/>
          <p:nvPr/>
        </p:nvSpPr>
        <p:spPr>
          <a:xfrm>
            <a:off x="3750120" y="4228920"/>
            <a:ext cx="971640" cy="4316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algn="ctr"/>
            <a:r>
              <a:rPr lang="en-US" sz="1200" b="0" strike="noStrike" spc="-1">
                <a:latin typeface="Arial"/>
              </a:rPr>
              <a:t>observation</a:t>
            </a:r>
          </a:p>
        </p:txBody>
      </p:sp>
      <p:sp>
        <p:nvSpPr>
          <p:cNvPr id="117" name="TextShape 23"/>
          <p:cNvSpPr txBox="1"/>
          <p:nvPr/>
        </p:nvSpPr>
        <p:spPr>
          <a:xfrm>
            <a:off x="2226240" y="3601080"/>
            <a:ext cx="1123920" cy="6022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algn="ctr"/>
            <a:r>
              <a:rPr lang="en-US" sz="1200" b="0" strike="noStrike" spc="-1">
                <a:latin typeface="Arial"/>
              </a:rPr>
              <a:t>This distance </a:t>
            </a:r>
            <a:br/>
            <a:r>
              <a:rPr lang="en-US" sz="1200" b="0" strike="noStrike" spc="-1">
                <a:latin typeface="Arial"/>
              </a:rPr>
              <a:t>is a sample</a:t>
            </a:r>
          </a:p>
          <a:p>
            <a:pPr algn="ctr"/>
            <a:r>
              <a:rPr lang="en-US" sz="1200" b="0" strike="noStrike" spc="-1">
                <a:latin typeface="Arial"/>
              </a:rPr>
              <a:t>abnormality</a:t>
            </a:r>
          </a:p>
        </p:txBody>
      </p:sp>
      <p:sp>
        <p:nvSpPr>
          <p:cNvPr id="118" name="Line 24"/>
          <p:cNvSpPr/>
          <p:nvPr/>
        </p:nvSpPr>
        <p:spPr>
          <a:xfrm>
            <a:off x="2984400" y="3270240"/>
            <a:ext cx="548640" cy="914400"/>
          </a:xfrm>
          <a:prstGeom prst="line">
            <a:avLst/>
          </a:prstGeom>
          <a:ln w="28800">
            <a:solidFill>
              <a:srgbClr val="3465A4"/>
            </a:solidFill>
            <a:round/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roup 1"/>
          <p:cNvGrpSpPr/>
          <p:nvPr/>
        </p:nvGrpSpPr>
        <p:grpSpPr>
          <a:xfrm>
            <a:off x="4894560" y="1353240"/>
            <a:ext cx="3175200" cy="3035880"/>
            <a:chOff x="4894560" y="1353240"/>
            <a:chExt cx="3175200" cy="3035880"/>
          </a:xfrm>
        </p:grpSpPr>
        <p:sp>
          <p:nvSpPr>
            <p:cNvPr id="120" name="CustomShape 2"/>
            <p:cNvSpPr/>
            <p:nvPr/>
          </p:nvSpPr>
          <p:spPr>
            <a:xfrm>
              <a:off x="4894560" y="1353240"/>
              <a:ext cx="3175200" cy="3035880"/>
            </a:xfrm>
            <a:prstGeom prst="frame">
              <a:avLst>
                <a:gd name="adj1" fmla="val 34083"/>
              </a:avLst>
            </a:prstGeom>
            <a:solidFill>
              <a:srgbClr val="FFFCDF"/>
            </a:solidFill>
            <a:ln w="18360">
              <a:solidFill>
                <a:srgbClr val="ED1C2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1" name="CustomShape 3"/>
            <p:cNvSpPr/>
            <p:nvPr/>
          </p:nvSpPr>
          <p:spPr>
            <a:xfrm rot="16200000">
              <a:off x="5883840" y="1570680"/>
              <a:ext cx="67680" cy="67680"/>
            </a:xfrm>
            <a:custGeom>
              <a:avLst/>
              <a:gdLst/>
              <a:ahLst/>
              <a:cxnLst/>
              <a:rect l="0" t="0" r="r" b="b"/>
              <a:pathLst>
                <a:path w="190" h="190">
                  <a:moveTo>
                    <a:pt x="94" y="0"/>
                  </a:moveTo>
                  <a:lnTo>
                    <a:pt x="189" y="189"/>
                  </a:lnTo>
                  <a:lnTo>
                    <a:pt x="0" y="189"/>
                  </a:lnTo>
                  <a:lnTo>
                    <a:pt x="94" y="0"/>
                  </a:lnTo>
                </a:path>
              </a:pathLst>
            </a:custGeom>
            <a:solidFill>
              <a:srgbClr val="0066B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2" name="CustomShape 4"/>
            <p:cNvSpPr/>
            <p:nvPr/>
          </p:nvSpPr>
          <p:spPr>
            <a:xfrm>
              <a:off x="5596200" y="2563200"/>
              <a:ext cx="334800" cy="615960"/>
            </a:xfrm>
            <a:prstGeom prst="rect">
              <a:avLst/>
            </a:prstGeom>
            <a:pattFill prst="wdUpDiag">
              <a:fgClr>
                <a:srgbClr val="ED1C24"/>
              </a:fgClr>
              <a:bgClr>
                <a:srgbClr val="FFFFFF"/>
              </a:bgClr>
            </a:pattFill>
            <a:ln w="18360">
              <a:solidFill>
                <a:srgbClr val="FF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3" name="Freeform 5"/>
            <p:cNvSpPr/>
            <p:nvPr/>
          </p:nvSpPr>
          <p:spPr>
            <a:xfrm>
              <a:off x="5257080" y="1608840"/>
              <a:ext cx="2541600" cy="2510280"/>
            </a:xfrm>
            <a:custGeom>
              <a:avLst/>
              <a:gdLst/>
              <a:ahLst/>
              <a:cxnLst/>
              <a:rect l="0" t="0" r="r" b="b"/>
              <a:pathLst>
                <a:path w="7060" h="6973">
                  <a:moveTo>
                    <a:pt x="42" y="6970"/>
                  </a:moveTo>
                  <a:lnTo>
                    <a:pt x="0" y="4446"/>
                  </a:lnTo>
                  <a:lnTo>
                    <a:pt x="435" y="4436"/>
                  </a:lnTo>
                  <a:lnTo>
                    <a:pt x="475" y="2490"/>
                  </a:lnTo>
                  <a:lnTo>
                    <a:pt x="51" y="2480"/>
                  </a:lnTo>
                  <a:lnTo>
                    <a:pt x="42" y="0"/>
                  </a:lnTo>
                  <a:lnTo>
                    <a:pt x="7059" y="1"/>
                  </a:lnTo>
                  <a:lnTo>
                    <a:pt x="7059" y="6972"/>
                  </a:lnTo>
                  <a:lnTo>
                    <a:pt x="42" y="6970"/>
                  </a:lnTo>
                  <a:close/>
                </a:path>
              </a:pathLst>
            </a:custGeom>
            <a:noFill/>
            <a:ln w="18360">
              <a:solidFill>
                <a:srgbClr val="3465A4"/>
              </a:solidFill>
              <a:custDash>
                <a:ds d="197000" sp="197000"/>
              </a:custDash>
              <a:round/>
            </a:ln>
          </p:spPr>
        </p:sp>
        <p:sp>
          <p:nvSpPr>
            <p:cNvPr id="124" name="CustomShape 6"/>
            <p:cNvSpPr/>
            <p:nvPr/>
          </p:nvSpPr>
          <p:spPr>
            <a:xfrm>
              <a:off x="7765200" y="2338560"/>
              <a:ext cx="68040" cy="68040"/>
            </a:xfrm>
            <a:custGeom>
              <a:avLst/>
              <a:gdLst/>
              <a:ahLst/>
              <a:cxnLst/>
              <a:rect l="0" t="0" r="r" b="b"/>
              <a:pathLst>
                <a:path w="191" h="191">
                  <a:moveTo>
                    <a:pt x="95" y="0"/>
                  </a:moveTo>
                  <a:lnTo>
                    <a:pt x="190" y="190"/>
                  </a:lnTo>
                  <a:lnTo>
                    <a:pt x="0" y="190"/>
                  </a:lnTo>
                  <a:lnTo>
                    <a:pt x="95" y="0"/>
                  </a:lnTo>
                </a:path>
              </a:pathLst>
            </a:custGeom>
            <a:solidFill>
              <a:srgbClr val="0066B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5" name="CustomShape 7"/>
            <p:cNvSpPr/>
            <p:nvPr/>
          </p:nvSpPr>
          <p:spPr>
            <a:xfrm rot="10800000">
              <a:off x="5225400" y="3313440"/>
              <a:ext cx="67680" cy="67680"/>
            </a:xfrm>
            <a:custGeom>
              <a:avLst/>
              <a:gdLst/>
              <a:ahLst/>
              <a:cxnLst/>
              <a:rect l="0" t="0" r="r" b="b"/>
              <a:pathLst>
                <a:path w="190" h="190">
                  <a:moveTo>
                    <a:pt x="94" y="0"/>
                  </a:moveTo>
                  <a:lnTo>
                    <a:pt x="189" y="189"/>
                  </a:lnTo>
                  <a:lnTo>
                    <a:pt x="0" y="189"/>
                  </a:lnTo>
                  <a:lnTo>
                    <a:pt x="94" y="0"/>
                  </a:lnTo>
                </a:path>
              </a:pathLst>
            </a:custGeom>
            <a:solidFill>
              <a:srgbClr val="0066B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6" name="CustomShape 8"/>
            <p:cNvSpPr/>
            <p:nvPr/>
          </p:nvSpPr>
          <p:spPr>
            <a:xfrm rot="5427600">
              <a:off x="6862680" y="4085640"/>
              <a:ext cx="68400" cy="68760"/>
            </a:xfrm>
            <a:custGeom>
              <a:avLst/>
              <a:gdLst/>
              <a:ahLst/>
              <a:cxnLst/>
              <a:rect l="0" t="0" r="r" b="b"/>
              <a:pathLst>
                <a:path w="192" h="193">
                  <a:moveTo>
                    <a:pt x="94" y="0"/>
                  </a:moveTo>
                  <a:lnTo>
                    <a:pt x="191" y="192"/>
                  </a:lnTo>
                  <a:lnTo>
                    <a:pt x="0" y="192"/>
                  </a:lnTo>
                  <a:lnTo>
                    <a:pt x="94" y="0"/>
                  </a:lnTo>
                </a:path>
              </a:pathLst>
            </a:custGeom>
            <a:solidFill>
              <a:srgbClr val="0066B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7" name="CustomShape 9"/>
            <p:cNvSpPr/>
            <p:nvPr/>
          </p:nvSpPr>
          <p:spPr>
            <a:xfrm>
              <a:off x="4896000" y="2563200"/>
              <a:ext cx="334800" cy="615960"/>
            </a:xfrm>
            <a:prstGeom prst="rect">
              <a:avLst/>
            </a:prstGeom>
            <a:pattFill prst="wdUpDiag">
              <a:fgClr>
                <a:srgbClr val="ED1C24"/>
              </a:fgClr>
              <a:bgClr>
                <a:srgbClr val="FFFFFF"/>
              </a:bgClr>
            </a:pattFill>
            <a:ln w="18360">
              <a:solidFill>
                <a:srgbClr val="FF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8" name="CustomShape 10"/>
            <p:cNvSpPr/>
            <p:nvPr/>
          </p:nvSpPr>
          <p:spPr>
            <a:xfrm rot="16200000">
              <a:off x="5879160" y="2063520"/>
              <a:ext cx="67680" cy="68040"/>
            </a:xfrm>
            <a:custGeom>
              <a:avLst/>
              <a:gdLst/>
              <a:ahLst/>
              <a:cxnLst/>
              <a:rect l="0" t="0" r="r" b="b"/>
              <a:pathLst>
                <a:path w="190" h="191">
                  <a:moveTo>
                    <a:pt x="94" y="0"/>
                  </a:moveTo>
                  <a:lnTo>
                    <a:pt x="189" y="190"/>
                  </a:lnTo>
                  <a:lnTo>
                    <a:pt x="0" y="190"/>
                  </a:lnTo>
                  <a:lnTo>
                    <a:pt x="94" y="0"/>
                  </a:lnTo>
                </a:path>
              </a:pathLst>
            </a:custGeom>
            <a:solidFill>
              <a:srgbClr val="00A65D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9" name="Freeform 11"/>
            <p:cNvSpPr/>
            <p:nvPr/>
          </p:nvSpPr>
          <p:spPr>
            <a:xfrm>
              <a:off x="5416920" y="2101680"/>
              <a:ext cx="1865520" cy="1491840"/>
            </a:xfrm>
            <a:custGeom>
              <a:avLst/>
              <a:gdLst/>
              <a:ahLst/>
              <a:cxnLst/>
              <a:rect l="0" t="0" r="r" b="b"/>
              <a:pathLst>
                <a:path w="5182" h="4144">
                  <a:moveTo>
                    <a:pt x="661" y="4143"/>
                  </a:moveTo>
                  <a:lnTo>
                    <a:pt x="631" y="3081"/>
                  </a:lnTo>
                  <a:lnTo>
                    <a:pt x="0" y="3080"/>
                  </a:lnTo>
                  <a:lnTo>
                    <a:pt x="28" y="1108"/>
                  </a:lnTo>
                  <a:lnTo>
                    <a:pt x="653" y="1119"/>
                  </a:lnTo>
                  <a:lnTo>
                    <a:pt x="661" y="0"/>
                  </a:lnTo>
                  <a:lnTo>
                    <a:pt x="5181" y="0"/>
                  </a:lnTo>
                  <a:lnTo>
                    <a:pt x="5181" y="4143"/>
                  </a:lnTo>
                  <a:lnTo>
                    <a:pt x="661" y="4143"/>
                  </a:lnTo>
                  <a:close/>
                </a:path>
              </a:pathLst>
            </a:custGeom>
            <a:noFill/>
            <a:ln w="18360">
              <a:solidFill>
                <a:srgbClr val="00A65D"/>
              </a:solidFill>
              <a:custDash>
                <a:ds d="197000" sp="197000"/>
              </a:custDash>
              <a:round/>
            </a:ln>
          </p:spPr>
        </p:sp>
        <p:grpSp>
          <p:nvGrpSpPr>
            <p:cNvPr id="130" name="Group 12"/>
            <p:cNvGrpSpPr/>
            <p:nvPr/>
          </p:nvGrpSpPr>
          <p:grpSpPr>
            <a:xfrm>
              <a:off x="5338440" y="2630880"/>
              <a:ext cx="160560" cy="164520"/>
              <a:chOff x="5338440" y="2630880"/>
              <a:chExt cx="160560" cy="164520"/>
            </a:xfrm>
          </p:grpSpPr>
          <p:grpSp>
            <p:nvGrpSpPr>
              <p:cNvPr id="131" name="Group 13"/>
              <p:cNvGrpSpPr/>
              <p:nvPr/>
            </p:nvGrpSpPr>
            <p:grpSpPr>
              <a:xfrm>
                <a:off x="5338440" y="2630880"/>
                <a:ext cx="160560" cy="164520"/>
                <a:chOff x="5338440" y="2630880"/>
                <a:chExt cx="160560" cy="164520"/>
              </a:xfrm>
            </p:grpSpPr>
            <p:sp>
              <p:nvSpPr>
                <p:cNvPr id="132" name="Freeform 14"/>
                <p:cNvSpPr/>
                <p:nvPr/>
              </p:nvSpPr>
              <p:spPr>
                <a:xfrm>
                  <a:off x="5373720" y="2663280"/>
                  <a:ext cx="95040" cy="9252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64" h="257">
                      <a:moveTo>
                        <a:pt x="0" y="43"/>
                      </a:moveTo>
                      <a:lnTo>
                        <a:pt x="39" y="4"/>
                      </a:lnTo>
                      <a:lnTo>
                        <a:pt x="129" y="95"/>
                      </a:lnTo>
                      <a:lnTo>
                        <a:pt x="224" y="0"/>
                      </a:lnTo>
                      <a:lnTo>
                        <a:pt x="263" y="38"/>
                      </a:lnTo>
                      <a:lnTo>
                        <a:pt x="167" y="133"/>
                      </a:lnTo>
                      <a:lnTo>
                        <a:pt x="251" y="217"/>
                      </a:lnTo>
                      <a:lnTo>
                        <a:pt x="213" y="256"/>
                      </a:lnTo>
                      <a:lnTo>
                        <a:pt x="129" y="172"/>
                      </a:lnTo>
                      <a:lnTo>
                        <a:pt x="49" y="251"/>
                      </a:lnTo>
                      <a:lnTo>
                        <a:pt x="11" y="213"/>
                      </a:lnTo>
                      <a:lnTo>
                        <a:pt x="90" y="133"/>
                      </a:lnTo>
                      <a:lnTo>
                        <a:pt x="0" y="43"/>
                      </a:lnTo>
                      <a:close/>
                    </a:path>
                  </a:pathLst>
                </a:custGeom>
                <a:solidFill>
                  <a:srgbClr val="28A127"/>
                </a:solidFill>
                <a:ln w="9000">
                  <a:solidFill>
                    <a:srgbClr val="2B511A"/>
                  </a:solidFill>
                  <a:round/>
                </a:ln>
              </p:spPr>
            </p:sp>
            <p:sp>
              <p:nvSpPr>
                <p:cNvPr id="133" name="CustomShape 15"/>
                <p:cNvSpPr/>
                <p:nvPr/>
              </p:nvSpPr>
              <p:spPr>
                <a:xfrm>
                  <a:off x="5338440" y="2630880"/>
                  <a:ext cx="72360" cy="72720"/>
                </a:xfrm>
                <a:prstGeom prst="ellipse">
                  <a:avLst/>
                </a:prstGeom>
                <a:solidFill>
                  <a:srgbClr val="28A127"/>
                </a:solidFill>
                <a:ln w="9000">
                  <a:solidFill>
                    <a:srgbClr val="395511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134" name="CustomShape 16"/>
                <p:cNvSpPr/>
                <p:nvPr/>
              </p:nvSpPr>
              <p:spPr>
                <a:xfrm>
                  <a:off x="5428080" y="2630880"/>
                  <a:ext cx="70920" cy="72720"/>
                </a:xfrm>
                <a:prstGeom prst="ellipse">
                  <a:avLst/>
                </a:prstGeom>
                <a:solidFill>
                  <a:srgbClr val="28A127"/>
                </a:solidFill>
                <a:ln w="9000">
                  <a:solidFill>
                    <a:srgbClr val="395511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135" name="CustomShape 17"/>
                <p:cNvSpPr/>
                <p:nvPr/>
              </p:nvSpPr>
              <p:spPr>
                <a:xfrm>
                  <a:off x="5428080" y="2723040"/>
                  <a:ext cx="70920" cy="72360"/>
                </a:xfrm>
                <a:prstGeom prst="ellipse">
                  <a:avLst/>
                </a:prstGeom>
                <a:solidFill>
                  <a:srgbClr val="28A127"/>
                </a:solidFill>
                <a:ln w="9000">
                  <a:solidFill>
                    <a:srgbClr val="395511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136" name="CustomShape 18"/>
                <p:cNvSpPr/>
                <p:nvPr/>
              </p:nvSpPr>
              <p:spPr>
                <a:xfrm>
                  <a:off x="5338440" y="2723040"/>
                  <a:ext cx="72360" cy="72360"/>
                </a:xfrm>
                <a:prstGeom prst="ellipse">
                  <a:avLst/>
                </a:prstGeom>
                <a:solidFill>
                  <a:srgbClr val="28A127"/>
                </a:solidFill>
                <a:ln w="9000">
                  <a:solidFill>
                    <a:srgbClr val="395511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</p:grpSp>
        </p:grpSp>
        <p:sp>
          <p:nvSpPr>
            <p:cNvPr id="137" name="CustomShape 19"/>
            <p:cNvSpPr/>
            <p:nvPr/>
          </p:nvSpPr>
          <p:spPr>
            <a:xfrm>
              <a:off x="7246440" y="2325600"/>
              <a:ext cx="68040" cy="68040"/>
            </a:xfrm>
            <a:custGeom>
              <a:avLst/>
              <a:gdLst/>
              <a:ahLst/>
              <a:cxnLst/>
              <a:rect l="0" t="0" r="r" b="b"/>
              <a:pathLst>
                <a:path w="191" h="191">
                  <a:moveTo>
                    <a:pt x="95" y="0"/>
                  </a:moveTo>
                  <a:lnTo>
                    <a:pt x="190" y="190"/>
                  </a:lnTo>
                  <a:lnTo>
                    <a:pt x="0" y="190"/>
                  </a:lnTo>
                  <a:lnTo>
                    <a:pt x="95" y="0"/>
                  </a:lnTo>
                </a:path>
              </a:pathLst>
            </a:custGeom>
            <a:solidFill>
              <a:srgbClr val="00A65D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8" name="CustomShape 20"/>
            <p:cNvSpPr/>
            <p:nvPr/>
          </p:nvSpPr>
          <p:spPr>
            <a:xfrm rot="10800000">
              <a:off x="5613120" y="3301920"/>
              <a:ext cx="68040" cy="68040"/>
            </a:xfrm>
            <a:custGeom>
              <a:avLst/>
              <a:gdLst/>
              <a:ahLst/>
              <a:cxnLst/>
              <a:rect l="0" t="0" r="r" b="b"/>
              <a:pathLst>
                <a:path w="191" h="191">
                  <a:moveTo>
                    <a:pt x="95" y="0"/>
                  </a:moveTo>
                  <a:lnTo>
                    <a:pt x="190" y="190"/>
                  </a:lnTo>
                  <a:lnTo>
                    <a:pt x="0" y="190"/>
                  </a:lnTo>
                  <a:lnTo>
                    <a:pt x="95" y="0"/>
                  </a:lnTo>
                </a:path>
              </a:pathLst>
            </a:custGeom>
            <a:solidFill>
              <a:srgbClr val="00A65D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9" name="CustomShape 21"/>
            <p:cNvSpPr/>
            <p:nvPr/>
          </p:nvSpPr>
          <p:spPr>
            <a:xfrm rot="5427600">
              <a:off x="6863760" y="3555360"/>
              <a:ext cx="67680" cy="67680"/>
            </a:xfrm>
            <a:custGeom>
              <a:avLst/>
              <a:gdLst/>
              <a:ahLst/>
              <a:cxnLst/>
              <a:rect l="0" t="0" r="r" b="b"/>
              <a:pathLst>
                <a:path w="190" h="190">
                  <a:moveTo>
                    <a:pt x="93" y="0"/>
                  </a:moveTo>
                  <a:lnTo>
                    <a:pt x="189" y="189"/>
                  </a:lnTo>
                  <a:lnTo>
                    <a:pt x="0" y="189"/>
                  </a:lnTo>
                  <a:lnTo>
                    <a:pt x="93" y="0"/>
                  </a:lnTo>
                </a:path>
              </a:pathLst>
            </a:custGeom>
            <a:solidFill>
              <a:srgbClr val="00A65D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grpSp>
          <p:nvGrpSpPr>
            <p:cNvPr id="140" name="Group 22"/>
            <p:cNvGrpSpPr/>
            <p:nvPr/>
          </p:nvGrpSpPr>
          <p:grpSpPr>
            <a:xfrm>
              <a:off x="5338440" y="2925360"/>
              <a:ext cx="160920" cy="163080"/>
              <a:chOff x="5338440" y="2925360"/>
              <a:chExt cx="160920" cy="163080"/>
            </a:xfrm>
          </p:grpSpPr>
          <p:grpSp>
            <p:nvGrpSpPr>
              <p:cNvPr id="141" name="Group 23"/>
              <p:cNvGrpSpPr/>
              <p:nvPr/>
            </p:nvGrpSpPr>
            <p:grpSpPr>
              <a:xfrm>
                <a:off x="5338440" y="2925360"/>
                <a:ext cx="160920" cy="163080"/>
                <a:chOff x="5338440" y="2925360"/>
                <a:chExt cx="160920" cy="163080"/>
              </a:xfrm>
            </p:grpSpPr>
            <p:sp>
              <p:nvSpPr>
                <p:cNvPr id="142" name="Freeform 24"/>
                <p:cNvSpPr/>
                <p:nvPr/>
              </p:nvSpPr>
              <p:spPr>
                <a:xfrm>
                  <a:off x="5373720" y="2956680"/>
                  <a:ext cx="95040" cy="9252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64" h="257">
                      <a:moveTo>
                        <a:pt x="0" y="43"/>
                      </a:moveTo>
                      <a:lnTo>
                        <a:pt x="39" y="5"/>
                      </a:lnTo>
                      <a:lnTo>
                        <a:pt x="129" y="95"/>
                      </a:lnTo>
                      <a:lnTo>
                        <a:pt x="224" y="0"/>
                      </a:lnTo>
                      <a:lnTo>
                        <a:pt x="263" y="38"/>
                      </a:lnTo>
                      <a:lnTo>
                        <a:pt x="167" y="133"/>
                      </a:lnTo>
                      <a:lnTo>
                        <a:pt x="251" y="217"/>
                      </a:lnTo>
                      <a:lnTo>
                        <a:pt x="213" y="256"/>
                      </a:lnTo>
                      <a:lnTo>
                        <a:pt x="129" y="172"/>
                      </a:lnTo>
                      <a:lnTo>
                        <a:pt x="49" y="252"/>
                      </a:lnTo>
                      <a:lnTo>
                        <a:pt x="11" y="214"/>
                      </a:lnTo>
                      <a:lnTo>
                        <a:pt x="90" y="133"/>
                      </a:lnTo>
                      <a:lnTo>
                        <a:pt x="0" y="43"/>
                      </a:lnTo>
                      <a:close/>
                    </a:path>
                  </a:pathLst>
                </a:custGeom>
                <a:solidFill>
                  <a:srgbClr val="729FCF"/>
                </a:solidFill>
                <a:ln w="9000">
                  <a:solidFill>
                    <a:srgbClr val="3465A4"/>
                  </a:solidFill>
                  <a:round/>
                </a:ln>
              </p:spPr>
            </p:sp>
            <p:sp>
              <p:nvSpPr>
                <p:cNvPr id="143" name="CustomShape 25"/>
                <p:cNvSpPr/>
                <p:nvPr/>
              </p:nvSpPr>
              <p:spPr>
                <a:xfrm>
                  <a:off x="5338440" y="2925360"/>
                  <a:ext cx="72360" cy="71280"/>
                </a:xfrm>
                <a:prstGeom prst="ellipse">
                  <a:avLst/>
                </a:prstGeom>
                <a:solidFill>
                  <a:srgbClr val="729FCF"/>
                </a:solidFill>
                <a:ln w="9000">
                  <a:solidFill>
                    <a:srgbClr val="3465A4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144" name="CustomShape 26"/>
                <p:cNvSpPr/>
                <p:nvPr/>
              </p:nvSpPr>
              <p:spPr>
                <a:xfrm>
                  <a:off x="5428080" y="2925360"/>
                  <a:ext cx="71280" cy="71280"/>
                </a:xfrm>
                <a:prstGeom prst="ellipse">
                  <a:avLst/>
                </a:prstGeom>
                <a:solidFill>
                  <a:srgbClr val="729FCF"/>
                </a:solidFill>
                <a:ln w="9000">
                  <a:solidFill>
                    <a:srgbClr val="3465A4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145" name="CustomShape 27"/>
                <p:cNvSpPr/>
                <p:nvPr/>
              </p:nvSpPr>
              <p:spPr>
                <a:xfrm>
                  <a:off x="5428080" y="3016800"/>
                  <a:ext cx="71280" cy="71640"/>
                </a:xfrm>
                <a:prstGeom prst="ellipse">
                  <a:avLst/>
                </a:prstGeom>
                <a:solidFill>
                  <a:srgbClr val="729FCF"/>
                </a:solidFill>
                <a:ln w="9000">
                  <a:solidFill>
                    <a:srgbClr val="3465A4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146" name="CustomShape 28"/>
                <p:cNvSpPr/>
                <p:nvPr/>
              </p:nvSpPr>
              <p:spPr>
                <a:xfrm>
                  <a:off x="5338440" y="3016800"/>
                  <a:ext cx="72360" cy="71640"/>
                </a:xfrm>
                <a:prstGeom prst="ellipse">
                  <a:avLst/>
                </a:prstGeom>
                <a:solidFill>
                  <a:srgbClr val="729FCF"/>
                </a:solidFill>
                <a:ln w="9000">
                  <a:solidFill>
                    <a:srgbClr val="3465A4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</p:grpSp>
        </p:grpSp>
      </p:grpSp>
      <p:sp>
        <p:nvSpPr>
          <p:cNvPr id="147" name="TextShape 29"/>
          <p:cNvSpPr txBox="1"/>
          <p:nvPr/>
        </p:nvSpPr>
        <p:spPr>
          <a:xfrm>
            <a:off x="311760" y="14364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0" strike="noStrike" spc="-1">
                <a:solidFill>
                  <a:srgbClr val="336B81"/>
                </a:solidFill>
                <a:latin typeface="Arial"/>
                <a:ea typeface="Arial"/>
              </a:rPr>
              <a:t>Motivation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Shape 30"/>
          <p:cNvSpPr txBox="1"/>
          <p:nvPr/>
        </p:nvSpPr>
        <p:spPr>
          <a:xfrm>
            <a:off x="8503920" y="4636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F42C3D43-89A9-4F4A-873F-966C60F472D2}" type="slidenum">
              <a:rPr lang="en-GB" sz="1000" b="0" strike="noStrike" spc="-1">
                <a:solidFill>
                  <a:srgbClr val="595959"/>
                </a:solidFill>
                <a:latin typeface="Arial"/>
                <a:ea typeface="Arial"/>
              </a:rPr>
              <a:t>3</a:t>
            </a:fld>
            <a:endParaRPr lang="en-US" sz="1000" b="0" strike="noStrike" spc="-1">
              <a:latin typeface="Times New Roman"/>
            </a:endParaRPr>
          </a:p>
        </p:txBody>
      </p:sp>
      <p:grpSp>
        <p:nvGrpSpPr>
          <p:cNvPr id="149" name="Group 31"/>
          <p:cNvGrpSpPr/>
          <p:nvPr/>
        </p:nvGrpSpPr>
        <p:grpSpPr>
          <a:xfrm>
            <a:off x="681840" y="1353240"/>
            <a:ext cx="3187440" cy="3049200"/>
            <a:chOff x="681840" y="1353240"/>
            <a:chExt cx="3187440" cy="3049200"/>
          </a:xfrm>
        </p:grpSpPr>
        <p:sp>
          <p:nvSpPr>
            <p:cNvPr id="150" name="CustomShape 32"/>
            <p:cNvSpPr/>
            <p:nvPr/>
          </p:nvSpPr>
          <p:spPr>
            <a:xfrm>
              <a:off x="681840" y="1353240"/>
              <a:ext cx="3187440" cy="3049200"/>
            </a:xfrm>
            <a:prstGeom prst="frame">
              <a:avLst>
                <a:gd name="adj1" fmla="val 34083"/>
              </a:avLst>
            </a:prstGeom>
            <a:solidFill>
              <a:srgbClr val="FFFCDF"/>
            </a:solidFill>
            <a:ln w="18360">
              <a:solidFill>
                <a:srgbClr val="ED1C2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51" name="CustomShape 33"/>
            <p:cNvSpPr/>
            <p:nvPr/>
          </p:nvSpPr>
          <p:spPr>
            <a:xfrm rot="16200000">
              <a:off x="1674000" y="2079720"/>
              <a:ext cx="68400" cy="68760"/>
            </a:xfrm>
            <a:custGeom>
              <a:avLst/>
              <a:gdLst/>
              <a:ahLst/>
              <a:cxnLst/>
              <a:rect l="0" t="0" r="r" b="b"/>
              <a:pathLst>
                <a:path w="192" h="193">
                  <a:moveTo>
                    <a:pt x="95" y="0"/>
                  </a:moveTo>
                  <a:lnTo>
                    <a:pt x="191" y="192"/>
                  </a:lnTo>
                  <a:lnTo>
                    <a:pt x="0" y="192"/>
                  </a:lnTo>
                  <a:lnTo>
                    <a:pt x="95" y="0"/>
                  </a:lnTo>
                </a:path>
              </a:pathLst>
            </a:custGeom>
            <a:solidFill>
              <a:srgbClr val="00A65D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52" name="CustomShape 34"/>
            <p:cNvSpPr/>
            <p:nvPr/>
          </p:nvSpPr>
          <p:spPr>
            <a:xfrm rot="16200000">
              <a:off x="1674360" y="1571400"/>
              <a:ext cx="68040" cy="68760"/>
            </a:xfrm>
            <a:custGeom>
              <a:avLst/>
              <a:gdLst/>
              <a:ahLst/>
              <a:cxnLst/>
              <a:rect l="0" t="0" r="r" b="b"/>
              <a:pathLst>
                <a:path w="191" h="193">
                  <a:moveTo>
                    <a:pt x="95" y="0"/>
                  </a:moveTo>
                  <a:lnTo>
                    <a:pt x="190" y="192"/>
                  </a:lnTo>
                  <a:lnTo>
                    <a:pt x="0" y="192"/>
                  </a:lnTo>
                  <a:lnTo>
                    <a:pt x="95" y="0"/>
                  </a:lnTo>
                </a:path>
              </a:pathLst>
            </a:custGeom>
            <a:solidFill>
              <a:srgbClr val="0066B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53" name="CustomShape 35"/>
            <p:cNvSpPr/>
            <p:nvPr/>
          </p:nvSpPr>
          <p:spPr>
            <a:xfrm>
              <a:off x="1450080" y="2117520"/>
              <a:ext cx="1633320" cy="1497600"/>
            </a:xfrm>
            <a:prstGeom prst="rect">
              <a:avLst/>
            </a:prstGeom>
            <a:noFill/>
            <a:ln w="18360">
              <a:solidFill>
                <a:srgbClr val="00A65D"/>
              </a:solidFill>
              <a:custDash>
                <a:ds d="197000" sp="197000"/>
              </a:custDash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54" name="CustomShape 36"/>
            <p:cNvSpPr/>
            <p:nvPr/>
          </p:nvSpPr>
          <p:spPr>
            <a:xfrm>
              <a:off x="932040" y="1611000"/>
              <a:ext cx="2665440" cy="2519640"/>
            </a:xfrm>
            <a:prstGeom prst="rect">
              <a:avLst/>
            </a:prstGeom>
            <a:noFill/>
            <a:ln w="18360">
              <a:solidFill>
                <a:srgbClr val="3465A4"/>
              </a:solidFill>
              <a:custDash>
                <a:ds d="197000" sp="197000"/>
              </a:custDash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grpSp>
          <p:nvGrpSpPr>
            <p:cNvPr id="155" name="Group 37"/>
            <p:cNvGrpSpPr/>
            <p:nvPr/>
          </p:nvGrpSpPr>
          <p:grpSpPr>
            <a:xfrm>
              <a:off x="3518280" y="2846520"/>
              <a:ext cx="162000" cy="164520"/>
              <a:chOff x="3518280" y="2846520"/>
              <a:chExt cx="162000" cy="164520"/>
            </a:xfrm>
          </p:grpSpPr>
          <p:grpSp>
            <p:nvGrpSpPr>
              <p:cNvPr id="156" name="Group 38"/>
              <p:cNvGrpSpPr/>
              <p:nvPr/>
            </p:nvGrpSpPr>
            <p:grpSpPr>
              <a:xfrm>
                <a:off x="3518280" y="2846520"/>
                <a:ext cx="162000" cy="164520"/>
                <a:chOff x="3518280" y="2846520"/>
                <a:chExt cx="162000" cy="164520"/>
              </a:xfrm>
            </p:grpSpPr>
            <p:sp>
              <p:nvSpPr>
                <p:cNvPr id="157" name="Freeform 39"/>
                <p:cNvSpPr/>
                <p:nvPr/>
              </p:nvSpPr>
              <p:spPr>
                <a:xfrm>
                  <a:off x="3553200" y="2878560"/>
                  <a:ext cx="95760" cy="9324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66" h="259">
                      <a:moveTo>
                        <a:pt x="0" y="42"/>
                      </a:moveTo>
                      <a:lnTo>
                        <a:pt x="40" y="4"/>
                      </a:lnTo>
                      <a:lnTo>
                        <a:pt x="131" y="95"/>
                      </a:lnTo>
                      <a:lnTo>
                        <a:pt x="226" y="0"/>
                      </a:lnTo>
                      <a:lnTo>
                        <a:pt x="265" y="38"/>
                      </a:lnTo>
                      <a:lnTo>
                        <a:pt x="170" y="135"/>
                      </a:lnTo>
                      <a:lnTo>
                        <a:pt x="253" y="218"/>
                      </a:lnTo>
                      <a:lnTo>
                        <a:pt x="214" y="258"/>
                      </a:lnTo>
                      <a:lnTo>
                        <a:pt x="131" y="174"/>
                      </a:lnTo>
                      <a:lnTo>
                        <a:pt x="49" y="253"/>
                      </a:lnTo>
                      <a:lnTo>
                        <a:pt x="12" y="214"/>
                      </a:lnTo>
                      <a:lnTo>
                        <a:pt x="92" y="135"/>
                      </a:lnTo>
                      <a:lnTo>
                        <a:pt x="0" y="42"/>
                      </a:lnTo>
                      <a:close/>
                    </a:path>
                  </a:pathLst>
                </a:custGeom>
                <a:solidFill>
                  <a:srgbClr val="729FCF"/>
                </a:solidFill>
                <a:ln w="9000">
                  <a:solidFill>
                    <a:srgbClr val="3465A4"/>
                  </a:solidFill>
                  <a:round/>
                </a:ln>
              </p:spPr>
            </p:sp>
            <p:sp>
              <p:nvSpPr>
                <p:cNvPr id="158" name="CustomShape 40"/>
                <p:cNvSpPr/>
                <p:nvPr/>
              </p:nvSpPr>
              <p:spPr>
                <a:xfrm>
                  <a:off x="3518280" y="2846520"/>
                  <a:ext cx="72360" cy="71640"/>
                </a:xfrm>
                <a:prstGeom prst="ellipse">
                  <a:avLst/>
                </a:prstGeom>
                <a:solidFill>
                  <a:srgbClr val="729FCF"/>
                </a:solidFill>
                <a:ln w="9000">
                  <a:solidFill>
                    <a:srgbClr val="3465A4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159" name="CustomShape 41"/>
                <p:cNvSpPr/>
                <p:nvPr/>
              </p:nvSpPr>
              <p:spPr>
                <a:xfrm>
                  <a:off x="3607560" y="2846520"/>
                  <a:ext cx="72720" cy="71640"/>
                </a:xfrm>
                <a:prstGeom prst="ellipse">
                  <a:avLst/>
                </a:prstGeom>
                <a:solidFill>
                  <a:srgbClr val="729FCF"/>
                </a:solidFill>
                <a:ln w="9000">
                  <a:solidFill>
                    <a:srgbClr val="3465A4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160" name="CustomShape 42"/>
                <p:cNvSpPr/>
                <p:nvPr/>
              </p:nvSpPr>
              <p:spPr>
                <a:xfrm>
                  <a:off x="3607560" y="2938320"/>
                  <a:ext cx="72720" cy="72720"/>
                </a:xfrm>
                <a:prstGeom prst="ellipse">
                  <a:avLst/>
                </a:prstGeom>
                <a:solidFill>
                  <a:srgbClr val="729FCF"/>
                </a:solidFill>
                <a:ln w="9000">
                  <a:solidFill>
                    <a:srgbClr val="3465A4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161" name="CustomShape 43"/>
                <p:cNvSpPr/>
                <p:nvPr/>
              </p:nvSpPr>
              <p:spPr>
                <a:xfrm>
                  <a:off x="3518280" y="2938320"/>
                  <a:ext cx="72360" cy="72720"/>
                </a:xfrm>
                <a:prstGeom prst="ellipse">
                  <a:avLst/>
                </a:prstGeom>
                <a:solidFill>
                  <a:srgbClr val="729FCF"/>
                </a:solidFill>
                <a:ln w="9000">
                  <a:solidFill>
                    <a:srgbClr val="3465A4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</p:grpSp>
        </p:grpSp>
        <p:grpSp>
          <p:nvGrpSpPr>
            <p:cNvPr id="162" name="Group 44"/>
            <p:cNvGrpSpPr/>
            <p:nvPr/>
          </p:nvGrpSpPr>
          <p:grpSpPr>
            <a:xfrm>
              <a:off x="3002040" y="2846520"/>
              <a:ext cx="161640" cy="164520"/>
              <a:chOff x="3002040" y="2846520"/>
              <a:chExt cx="161640" cy="164520"/>
            </a:xfrm>
          </p:grpSpPr>
          <p:grpSp>
            <p:nvGrpSpPr>
              <p:cNvPr id="163" name="Group 45"/>
              <p:cNvGrpSpPr/>
              <p:nvPr/>
            </p:nvGrpSpPr>
            <p:grpSpPr>
              <a:xfrm>
                <a:off x="3002040" y="2846520"/>
                <a:ext cx="161640" cy="164520"/>
                <a:chOff x="3002040" y="2846520"/>
                <a:chExt cx="161640" cy="164520"/>
              </a:xfrm>
            </p:grpSpPr>
            <p:sp>
              <p:nvSpPr>
                <p:cNvPr id="164" name="Freeform 46"/>
                <p:cNvSpPr/>
                <p:nvPr/>
              </p:nvSpPr>
              <p:spPr>
                <a:xfrm>
                  <a:off x="3037320" y="2878560"/>
                  <a:ext cx="95400" cy="9324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65" h="259">
                      <a:moveTo>
                        <a:pt x="0" y="42"/>
                      </a:moveTo>
                      <a:lnTo>
                        <a:pt x="39" y="4"/>
                      </a:lnTo>
                      <a:lnTo>
                        <a:pt x="131" y="95"/>
                      </a:lnTo>
                      <a:lnTo>
                        <a:pt x="225" y="0"/>
                      </a:lnTo>
                      <a:lnTo>
                        <a:pt x="264" y="38"/>
                      </a:lnTo>
                      <a:lnTo>
                        <a:pt x="169" y="135"/>
                      </a:lnTo>
                      <a:lnTo>
                        <a:pt x="253" y="218"/>
                      </a:lnTo>
                      <a:lnTo>
                        <a:pt x="214" y="258"/>
                      </a:lnTo>
                      <a:lnTo>
                        <a:pt x="131" y="174"/>
                      </a:lnTo>
                      <a:lnTo>
                        <a:pt x="48" y="253"/>
                      </a:lnTo>
                      <a:lnTo>
                        <a:pt x="11" y="214"/>
                      </a:lnTo>
                      <a:lnTo>
                        <a:pt x="91" y="135"/>
                      </a:lnTo>
                      <a:lnTo>
                        <a:pt x="0" y="42"/>
                      </a:lnTo>
                      <a:close/>
                    </a:path>
                  </a:pathLst>
                </a:custGeom>
                <a:solidFill>
                  <a:srgbClr val="28A127"/>
                </a:solidFill>
                <a:ln w="9000">
                  <a:solidFill>
                    <a:srgbClr val="2B511A"/>
                  </a:solidFill>
                  <a:round/>
                </a:ln>
              </p:spPr>
            </p:sp>
            <p:sp>
              <p:nvSpPr>
                <p:cNvPr id="165" name="CustomShape 47"/>
                <p:cNvSpPr/>
                <p:nvPr/>
              </p:nvSpPr>
              <p:spPr>
                <a:xfrm>
                  <a:off x="3002040" y="2846520"/>
                  <a:ext cx="72360" cy="71640"/>
                </a:xfrm>
                <a:prstGeom prst="ellipse">
                  <a:avLst/>
                </a:prstGeom>
                <a:solidFill>
                  <a:srgbClr val="28A127"/>
                </a:solidFill>
                <a:ln w="9000">
                  <a:solidFill>
                    <a:srgbClr val="395511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166" name="CustomShape 48"/>
                <p:cNvSpPr/>
                <p:nvPr/>
              </p:nvSpPr>
              <p:spPr>
                <a:xfrm>
                  <a:off x="3090960" y="2846520"/>
                  <a:ext cx="72720" cy="71640"/>
                </a:xfrm>
                <a:prstGeom prst="ellipse">
                  <a:avLst/>
                </a:prstGeom>
                <a:solidFill>
                  <a:srgbClr val="28A127"/>
                </a:solidFill>
                <a:ln w="9000">
                  <a:solidFill>
                    <a:srgbClr val="395511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167" name="CustomShape 49"/>
                <p:cNvSpPr/>
                <p:nvPr/>
              </p:nvSpPr>
              <p:spPr>
                <a:xfrm>
                  <a:off x="3090960" y="2938320"/>
                  <a:ext cx="72720" cy="72720"/>
                </a:xfrm>
                <a:prstGeom prst="ellipse">
                  <a:avLst/>
                </a:prstGeom>
                <a:solidFill>
                  <a:srgbClr val="28A127"/>
                </a:solidFill>
                <a:ln w="9000">
                  <a:solidFill>
                    <a:srgbClr val="395511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168" name="CustomShape 50"/>
                <p:cNvSpPr/>
                <p:nvPr/>
              </p:nvSpPr>
              <p:spPr>
                <a:xfrm>
                  <a:off x="3002040" y="2938320"/>
                  <a:ext cx="72360" cy="72720"/>
                </a:xfrm>
                <a:prstGeom prst="ellipse">
                  <a:avLst/>
                </a:prstGeom>
                <a:solidFill>
                  <a:srgbClr val="28A127"/>
                </a:solidFill>
                <a:ln w="9000">
                  <a:solidFill>
                    <a:srgbClr val="395511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</p:grpSp>
        </p:grpSp>
        <p:sp>
          <p:nvSpPr>
            <p:cNvPr id="169" name="CustomShape 51"/>
            <p:cNvSpPr/>
            <p:nvPr/>
          </p:nvSpPr>
          <p:spPr>
            <a:xfrm>
              <a:off x="3047400" y="2343600"/>
              <a:ext cx="68040" cy="67680"/>
            </a:xfrm>
            <a:custGeom>
              <a:avLst/>
              <a:gdLst/>
              <a:ahLst/>
              <a:cxnLst/>
              <a:rect l="0" t="0" r="r" b="b"/>
              <a:pathLst>
                <a:path w="191" h="190">
                  <a:moveTo>
                    <a:pt x="95" y="0"/>
                  </a:moveTo>
                  <a:lnTo>
                    <a:pt x="190" y="189"/>
                  </a:lnTo>
                  <a:lnTo>
                    <a:pt x="0" y="189"/>
                  </a:lnTo>
                  <a:lnTo>
                    <a:pt x="95" y="0"/>
                  </a:lnTo>
                </a:path>
              </a:pathLst>
            </a:custGeom>
            <a:solidFill>
              <a:srgbClr val="00A65D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70" name="CustomShape 52"/>
            <p:cNvSpPr/>
            <p:nvPr/>
          </p:nvSpPr>
          <p:spPr>
            <a:xfrm>
              <a:off x="3563280" y="2343600"/>
              <a:ext cx="69480" cy="67680"/>
            </a:xfrm>
            <a:custGeom>
              <a:avLst/>
              <a:gdLst/>
              <a:ahLst/>
              <a:cxnLst/>
              <a:rect l="0" t="0" r="r" b="b"/>
              <a:pathLst>
                <a:path w="195" h="190">
                  <a:moveTo>
                    <a:pt x="97" y="0"/>
                  </a:moveTo>
                  <a:lnTo>
                    <a:pt x="194" y="189"/>
                  </a:lnTo>
                  <a:lnTo>
                    <a:pt x="0" y="189"/>
                  </a:lnTo>
                  <a:lnTo>
                    <a:pt x="97" y="0"/>
                  </a:lnTo>
                </a:path>
              </a:pathLst>
            </a:custGeom>
            <a:solidFill>
              <a:srgbClr val="0066B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71" name="CustomShape 53"/>
            <p:cNvSpPr/>
            <p:nvPr/>
          </p:nvSpPr>
          <p:spPr>
            <a:xfrm rot="10800000">
              <a:off x="1416600" y="3322800"/>
              <a:ext cx="67680" cy="69120"/>
            </a:xfrm>
            <a:custGeom>
              <a:avLst/>
              <a:gdLst/>
              <a:ahLst/>
              <a:cxnLst/>
              <a:rect l="0" t="0" r="r" b="b"/>
              <a:pathLst>
                <a:path w="190" h="194">
                  <a:moveTo>
                    <a:pt x="94" y="0"/>
                  </a:moveTo>
                  <a:lnTo>
                    <a:pt x="189" y="193"/>
                  </a:lnTo>
                  <a:lnTo>
                    <a:pt x="0" y="193"/>
                  </a:lnTo>
                  <a:lnTo>
                    <a:pt x="94" y="0"/>
                  </a:lnTo>
                </a:path>
              </a:pathLst>
            </a:custGeom>
            <a:solidFill>
              <a:srgbClr val="00A65D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72" name="CustomShape 54"/>
            <p:cNvSpPr/>
            <p:nvPr/>
          </p:nvSpPr>
          <p:spPr>
            <a:xfrm rot="10800000">
              <a:off x="900360" y="3322800"/>
              <a:ext cx="68400" cy="69120"/>
            </a:xfrm>
            <a:custGeom>
              <a:avLst/>
              <a:gdLst/>
              <a:ahLst/>
              <a:cxnLst/>
              <a:rect l="0" t="0" r="r" b="b"/>
              <a:pathLst>
                <a:path w="192" h="194">
                  <a:moveTo>
                    <a:pt x="95" y="0"/>
                  </a:moveTo>
                  <a:lnTo>
                    <a:pt x="191" y="193"/>
                  </a:lnTo>
                  <a:lnTo>
                    <a:pt x="0" y="193"/>
                  </a:lnTo>
                  <a:lnTo>
                    <a:pt x="95" y="0"/>
                  </a:lnTo>
                </a:path>
              </a:pathLst>
            </a:custGeom>
            <a:solidFill>
              <a:srgbClr val="0066B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73" name="CustomShape 55"/>
            <p:cNvSpPr/>
            <p:nvPr/>
          </p:nvSpPr>
          <p:spPr>
            <a:xfrm rot="5427600">
              <a:off x="2662200" y="3576960"/>
              <a:ext cx="68760" cy="68760"/>
            </a:xfrm>
            <a:custGeom>
              <a:avLst/>
              <a:gdLst/>
              <a:ahLst/>
              <a:cxnLst/>
              <a:rect l="0" t="0" r="r" b="b"/>
              <a:pathLst>
                <a:path w="193" h="193">
                  <a:moveTo>
                    <a:pt x="96" y="0"/>
                  </a:moveTo>
                  <a:lnTo>
                    <a:pt x="192" y="192"/>
                  </a:lnTo>
                  <a:lnTo>
                    <a:pt x="0" y="192"/>
                  </a:lnTo>
                  <a:lnTo>
                    <a:pt x="96" y="0"/>
                  </a:lnTo>
                </a:path>
              </a:pathLst>
            </a:custGeom>
            <a:solidFill>
              <a:srgbClr val="00A65D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74" name="CustomShape 56"/>
            <p:cNvSpPr/>
            <p:nvPr/>
          </p:nvSpPr>
          <p:spPr>
            <a:xfrm rot="5427600">
              <a:off x="2658240" y="4097160"/>
              <a:ext cx="68760" cy="68760"/>
            </a:xfrm>
            <a:custGeom>
              <a:avLst/>
              <a:gdLst/>
              <a:ahLst/>
              <a:cxnLst/>
              <a:rect l="0" t="0" r="r" b="b"/>
              <a:pathLst>
                <a:path w="193" h="193">
                  <a:moveTo>
                    <a:pt x="94" y="0"/>
                  </a:moveTo>
                  <a:lnTo>
                    <a:pt x="192" y="192"/>
                  </a:lnTo>
                  <a:lnTo>
                    <a:pt x="0" y="192"/>
                  </a:lnTo>
                  <a:lnTo>
                    <a:pt x="94" y="0"/>
                  </a:lnTo>
                </a:path>
              </a:pathLst>
            </a:custGeom>
            <a:solidFill>
              <a:srgbClr val="0066B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175" name="CustomShape 57"/>
          <p:cNvSpPr/>
          <p:nvPr/>
        </p:nvSpPr>
        <p:spPr>
          <a:xfrm>
            <a:off x="4749840" y="2417400"/>
            <a:ext cx="1396080" cy="930600"/>
          </a:xfrm>
          <a:prstGeom prst="rect">
            <a:avLst/>
          </a:prstGeom>
          <a:solidFill>
            <a:srgbClr val="729FCF">
              <a:alpha val="22000"/>
            </a:srgbClr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6" name="CustomShape 58"/>
          <p:cNvSpPr/>
          <p:nvPr/>
        </p:nvSpPr>
        <p:spPr>
          <a:xfrm rot="5427600">
            <a:off x="6892560" y="3568320"/>
            <a:ext cx="68040" cy="68040"/>
          </a:xfrm>
          <a:custGeom>
            <a:avLst/>
            <a:gdLst/>
            <a:ahLst/>
            <a:cxnLst/>
            <a:rect l="0" t="0" r="r" b="b"/>
            <a:pathLst>
              <a:path w="191" h="192">
                <a:moveTo>
                  <a:pt x="93" y="0"/>
                </a:moveTo>
                <a:lnTo>
                  <a:pt x="190" y="191"/>
                </a:lnTo>
                <a:lnTo>
                  <a:pt x="0" y="190"/>
                </a:lnTo>
                <a:lnTo>
                  <a:pt x="93" y="0"/>
                </a:lnTo>
              </a:path>
            </a:pathLst>
          </a:custGeom>
          <a:solidFill>
            <a:srgbClr val="00A65D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7" name="CustomShape 59"/>
          <p:cNvSpPr/>
          <p:nvPr/>
        </p:nvSpPr>
        <p:spPr>
          <a:xfrm rot="5427600">
            <a:off x="6888240" y="4087800"/>
            <a:ext cx="68040" cy="68040"/>
          </a:xfrm>
          <a:custGeom>
            <a:avLst/>
            <a:gdLst/>
            <a:ahLst/>
            <a:cxnLst/>
            <a:rect l="0" t="0" r="r" b="b"/>
            <a:pathLst>
              <a:path w="191" h="191">
                <a:moveTo>
                  <a:pt x="95" y="0"/>
                </a:moveTo>
                <a:lnTo>
                  <a:pt x="190" y="190"/>
                </a:lnTo>
                <a:lnTo>
                  <a:pt x="0" y="190"/>
                </a:lnTo>
                <a:lnTo>
                  <a:pt x="95" y="0"/>
                </a:lnTo>
              </a:path>
            </a:pathLst>
          </a:custGeom>
          <a:solidFill>
            <a:srgbClr val="0066B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8" name="CustomShape 60"/>
          <p:cNvSpPr/>
          <p:nvPr/>
        </p:nvSpPr>
        <p:spPr>
          <a:xfrm>
            <a:off x="760320" y="3954240"/>
            <a:ext cx="349200" cy="349200"/>
          </a:xfrm>
          <a:prstGeom prst="ellipse">
            <a:avLst/>
          </a:prstGeom>
          <a:solidFill>
            <a:srgbClr val="729FC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en-US" sz="1800" b="1" strike="noStrike" spc="-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9" name="CustomShape 61"/>
          <p:cNvSpPr/>
          <p:nvPr/>
        </p:nvSpPr>
        <p:spPr>
          <a:xfrm>
            <a:off x="5960520" y="2286000"/>
            <a:ext cx="348840" cy="348840"/>
          </a:xfrm>
          <a:prstGeom prst="ellipse">
            <a:avLst/>
          </a:prstGeom>
          <a:solidFill>
            <a:srgbClr val="729FC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en-US" sz="1800" b="1" strike="noStrike" spc="-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0" name="TextShape 62"/>
          <p:cNvSpPr txBox="1"/>
          <p:nvPr/>
        </p:nvSpPr>
        <p:spPr>
          <a:xfrm>
            <a:off x="544320" y="4419360"/>
            <a:ext cx="2891520" cy="4406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200" b="0" strike="noStrike" spc="-1">
                <a:latin typeface="Arial"/>
              </a:rPr>
              <a:t>Training scenario</a:t>
            </a:r>
          </a:p>
        </p:txBody>
      </p:sp>
      <p:sp>
        <p:nvSpPr>
          <p:cNvPr id="181" name="CustomShape 63"/>
          <p:cNvSpPr/>
          <p:nvPr/>
        </p:nvSpPr>
        <p:spPr>
          <a:xfrm>
            <a:off x="6217920" y="3423741"/>
            <a:ext cx="1640387" cy="954637"/>
          </a:xfrm>
          <a:prstGeom prst="wedgeRoundRectCallout">
            <a:avLst>
              <a:gd name="adj1" fmla="val -95291"/>
              <a:gd name="adj2" fmla="val -107106"/>
              <a:gd name="adj3" fmla="val 16667"/>
            </a:avLst>
          </a:prstGeom>
          <a:solidFill>
            <a:srgbClr val="729FCF">
              <a:alpha val="80000"/>
            </a:srgbClr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en-US" sz="1400" b="1" strike="noStrike" spc="-1">
                <a:solidFill>
                  <a:srgbClr val="FFFFFF"/>
                </a:solidFill>
                <a:latin typeface="Arial"/>
              </a:rPr>
              <a:t>Are we </a:t>
            </a:r>
          </a:p>
          <a:p>
            <a:pPr algn="ctr"/>
            <a:r>
              <a:rPr lang="en-US" sz="1400" b="1" strike="noStrike" spc="-1">
                <a:solidFill>
                  <a:srgbClr val="FFFFFF"/>
                </a:solidFill>
                <a:latin typeface="Arial"/>
              </a:rPr>
              <a:t>experiencing </a:t>
            </a:r>
          </a:p>
          <a:p>
            <a:pPr algn="ctr"/>
            <a:r>
              <a:rPr lang="en-US" sz="1400" b="1" strike="noStrike" spc="-1">
                <a:solidFill>
                  <a:srgbClr val="FFFFFF"/>
                </a:solidFill>
                <a:latin typeface="Arial"/>
              </a:rPr>
              <a:t>a new relation?</a:t>
            </a:r>
          </a:p>
          <a:p>
            <a:pPr algn="ctr"/>
            <a:r>
              <a:rPr lang="en-US" sz="1400" b="1" strike="noStrike" spc="-1">
                <a:solidFill>
                  <a:srgbClr val="FFFFFF"/>
                </a:solidFill>
                <a:latin typeface="Arial"/>
              </a:rPr>
              <a:t>(high anomaly?)</a:t>
            </a:r>
          </a:p>
        </p:txBody>
      </p:sp>
      <p:sp>
        <p:nvSpPr>
          <p:cNvPr id="182" name="TextShape 64"/>
          <p:cNvSpPr txBox="1"/>
          <p:nvPr/>
        </p:nvSpPr>
        <p:spPr>
          <a:xfrm>
            <a:off x="4820400" y="4419360"/>
            <a:ext cx="2135520" cy="4406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200" b="0" strike="noStrike" spc="-1">
                <a:latin typeface="Arial"/>
              </a:rPr>
              <a:t>New scenario</a:t>
            </a:r>
          </a:p>
        </p:txBody>
      </p:sp>
      <p:sp>
        <p:nvSpPr>
          <p:cNvPr id="183" name="TextShape 65"/>
          <p:cNvSpPr txBox="1"/>
          <p:nvPr/>
        </p:nvSpPr>
        <p:spPr>
          <a:xfrm>
            <a:off x="324000" y="695160"/>
            <a:ext cx="8545680" cy="6022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800" b="1" strike="noStrike" spc="-1">
                <a:solidFill>
                  <a:srgbClr val="000000"/>
                </a:solidFill>
                <a:latin typeface="Arial"/>
                <a:ea typeface="Arial"/>
              </a:rPr>
              <a:t>Anomaly detection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 to make multiple robots able to detect new spatiotemporal 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  <a:ea typeface="Arial"/>
              </a:rPr>
              <a:t>relations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  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84" name="CustomShape 66"/>
          <p:cNvSpPr/>
          <p:nvPr/>
        </p:nvSpPr>
        <p:spPr>
          <a:xfrm>
            <a:off x="3710520" y="2301120"/>
            <a:ext cx="1350000" cy="1046880"/>
          </a:xfrm>
          <a:custGeom>
            <a:avLst/>
            <a:gdLst/>
            <a:ahLst/>
            <a:cxnLst/>
            <a:rect l="0" t="0" r="r" b="b"/>
            <a:pathLst>
              <a:path w="3752" h="2910">
                <a:moveTo>
                  <a:pt x="0" y="424"/>
                </a:moveTo>
                <a:lnTo>
                  <a:pt x="2701" y="424"/>
                </a:lnTo>
                <a:lnTo>
                  <a:pt x="2701" y="0"/>
                </a:lnTo>
                <a:lnTo>
                  <a:pt x="3751" y="1454"/>
                </a:lnTo>
                <a:lnTo>
                  <a:pt x="2701" y="2909"/>
                </a:lnTo>
                <a:lnTo>
                  <a:pt x="2701" y="2484"/>
                </a:lnTo>
                <a:lnTo>
                  <a:pt x="0" y="2484"/>
                </a:lnTo>
                <a:lnTo>
                  <a:pt x="0" y="424"/>
                </a:lnTo>
              </a:path>
            </a:pathLst>
          </a:custGeom>
          <a:solidFill>
            <a:srgbClr val="8D1D75"/>
          </a:solidFill>
          <a:ln>
            <a:solidFill>
              <a:srgbClr val="6509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-1">
                <a:solidFill>
                  <a:srgbClr val="FFFFFF"/>
                </a:solidFill>
                <a:latin typeface="Arial"/>
              </a:rPr>
              <a:t>model </a:t>
            </a:r>
            <a:endParaRPr lang="en-US" sz="12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1" strike="noStrike" spc="-1">
                <a:solidFill>
                  <a:srgbClr val="FFFFFF"/>
                </a:solidFill>
                <a:latin typeface="Arial"/>
              </a:rPr>
              <a:t>for 1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85" name="CustomShape 67"/>
          <p:cNvSpPr/>
          <p:nvPr/>
        </p:nvSpPr>
        <p:spPr>
          <a:xfrm>
            <a:off x="7405920" y="2301120"/>
            <a:ext cx="1350000" cy="1046880"/>
          </a:xfrm>
          <a:custGeom>
            <a:avLst/>
            <a:gdLst/>
            <a:ahLst/>
            <a:cxnLst/>
            <a:rect l="0" t="0" r="r" b="b"/>
            <a:pathLst>
              <a:path w="3752" h="2910">
                <a:moveTo>
                  <a:pt x="0" y="424"/>
                </a:moveTo>
                <a:lnTo>
                  <a:pt x="2701" y="424"/>
                </a:lnTo>
                <a:lnTo>
                  <a:pt x="2701" y="0"/>
                </a:lnTo>
                <a:lnTo>
                  <a:pt x="3751" y="1454"/>
                </a:lnTo>
                <a:lnTo>
                  <a:pt x="2701" y="2909"/>
                </a:lnTo>
                <a:lnTo>
                  <a:pt x="2701" y="2484"/>
                </a:lnTo>
                <a:lnTo>
                  <a:pt x="0" y="2484"/>
                </a:lnTo>
                <a:lnTo>
                  <a:pt x="0" y="424"/>
                </a:lnTo>
              </a:path>
            </a:pathLst>
          </a:custGeom>
          <a:solidFill>
            <a:srgbClr val="8D1D75"/>
          </a:solidFill>
          <a:ln>
            <a:solidFill>
              <a:srgbClr val="6509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-1">
                <a:solidFill>
                  <a:srgbClr val="FFFFFF"/>
                </a:solidFill>
                <a:latin typeface="Arial"/>
              </a:rPr>
              <a:t>Create </a:t>
            </a:r>
            <a:endParaRPr lang="en-US" sz="12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1" strike="noStrike" spc="-1">
                <a:solidFill>
                  <a:srgbClr val="FFFFFF"/>
                </a:solidFill>
                <a:latin typeface="Arial"/>
              </a:rPr>
              <a:t>a new model </a:t>
            </a:r>
            <a:endParaRPr lang="en-US" sz="12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1" strike="noStrike" spc="-1">
                <a:solidFill>
                  <a:srgbClr val="FFFFFF"/>
                </a:solidFill>
                <a:latin typeface="Arial"/>
              </a:rPr>
              <a:t>for 2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86" name="CustomShape 68"/>
          <p:cNvSpPr/>
          <p:nvPr/>
        </p:nvSpPr>
        <p:spPr>
          <a:xfrm>
            <a:off x="7772571" y="3061130"/>
            <a:ext cx="930960" cy="1046880"/>
          </a:xfrm>
          <a:custGeom>
            <a:avLst/>
            <a:gdLst/>
            <a:ahLst/>
            <a:cxnLst/>
            <a:rect l="0" t="0" r="r" b="b"/>
            <a:pathLst>
              <a:path w="1623" h="2176">
                <a:moveTo>
                  <a:pt x="664" y="721"/>
                </a:moveTo>
                <a:lnTo>
                  <a:pt x="663" y="759"/>
                </a:lnTo>
                <a:lnTo>
                  <a:pt x="661" y="796"/>
                </a:lnTo>
                <a:lnTo>
                  <a:pt x="656" y="833"/>
                </a:lnTo>
                <a:lnTo>
                  <a:pt x="650" y="870"/>
                </a:lnTo>
                <a:lnTo>
                  <a:pt x="643" y="907"/>
                </a:lnTo>
                <a:lnTo>
                  <a:pt x="634" y="943"/>
                </a:lnTo>
                <a:lnTo>
                  <a:pt x="623" y="979"/>
                </a:lnTo>
                <a:lnTo>
                  <a:pt x="610" y="1014"/>
                </a:lnTo>
                <a:lnTo>
                  <a:pt x="596" y="1048"/>
                </a:lnTo>
                <a:lnTo>
                  <a:pt x="581" y="1081"/>
                </a:lnTo>
                <a:lnTo>
                  <a:pt x="564" y="1114"/>
                </a:lnTo>
                <a:lnTo>
                  <a:pt x="545" y="1145"/>
                </a:lnTo>
                <a:lnTo>
                  <a:pt x="526" y="1175"/>
                </a:lnTo>
                <a:lnTo>
                  <a:pt x="504" y="1205"/>
                </a:lnTo>
                <a:lnTo>
                  <a:pt x="482" y="1232"/>
                </a:lnTo>
                <a:lnTo>
                  <a:pt x="458" y="1259"/>
                </a:lnTo>
                <a:lnTo>
                  <a:pt x="433" y="1284"/>
                </a:lnTo>
                <a:lnTo>
                  <a:pt x="407" y="1308"/>
                </a:lnTo>
                <a:lnTo>
                  <a:pt x="380" y="1330"/>
                </a:lnTo>
                <a:lnTo>
                  <a:pt x="352" y="1351"/>
                </a:lnTo>
                <a:lnTo>
                  <a:pt x="323" y="1370"/>
                </a:lnTo>
                <a:lnTo>
                  <a:pt x="294" y="1387"/>
                </a:lnTo>
                <a:lnTo>
                  <a:pt x="263" y="1403"/>
                </a:lnTo>
                <a:lnTo>
                  <a:pt x="232" y="1417"/>
                </a:lnTo>
                <a:lnTo>
                  <a:pt x="200" y="1429"/>
                </a:lnTo>
                <a:lnTo>
                  <a:pt x="168" y="1439"/>
                </a:lnTo>
                <a:lnTo>
                  <a:pt x="136" y="1447"/>
                </a:lnTo>
                <a:lnTo>
                  <a:pt x="103" y="1454"/>
                </a:lnTo>
                <a:lnTo>
                  <a:pt x="69" y="1458"/>
                </a:lnTo>
                <a:lnTo>
                  <a:pt x="36" y="1461"/>
                </a:lnTo>
                <a:lnTo>
                  <a:pt x="3" y="1462"/>
                </a:lnTo>
                <a:lnTo>
                  <a:pt x="0" y="2175"/>
                </a:lnTo>
                <a:lnTo>
                  <a:pt x="66" y="2173"/>
                </a:lnTo>
                <a:lnTo>
                  <a:pt x="131" y="2168"/>
                </a:lnTo>
                <a:lnTo>
                  <a:pt x="196" y="2159"/>
                </a:lnTo>
                <a:lnTo>
                  <a:pt x="261" y="2146"/>
                </a:lnTo>
                <a:lnTo>
                  <a:pt x="325" y="2130"/>
                </a:lnTo>
                <a:lnTo>
                  <a:pt x="388" y="2110"/>
                </a:lnTo>
                <a:lnTo>
                  <a:pt x="450" y="2086"/>
                </a:lnTo>
                <a:lnTo>
                  <a:pt x="511" y="2059"/>
                </a:lnTo>
                <a:lnTo>
                  <a:pt x="571" y="2028"/>
                </a:lnTo>
                <a:lnTo>
                  <a:pt x="630" y="1994"/>
                </a:lnTo>
                <a:lnTo>
                  <a:pt x="686" y="1957"/>
                </a:lnTo>
                <a:lnTo>
                  <a:pt x="741" y="1916"/>
                </a:lnTo>
                <a:lnTo>
                  <a:pt x="794" y="1873"/>
                </a:lnTo>
                <a:lnTo>
                  <a:pt x="845" y="1826"/>
                </a:lnTo>
                <a:lnTo>
                  <a:pt x="894" y="1777"/>
                </a:lnTo>
                <a:lnTo>
                  <a:pt x="940" y="1725"/>
                </a:lnTo>
                <a:lnTo>
                  <a:pt x="985" y="1670"/>
                </a:lnTo>
                <a:lnTo>
                  <a:pt x="1026" y="1613"/>
                </a:lnTo>
                <a:lnTo>
                  <a:pt x="1065" y="1553"/>
                </a:lnTo>
                <a:lnTo>
                  <a:pt x="1101" y="1492"/>
                </a:lnTo>
                <a:lnTo>
                  <a:pt x="1135" y="1428"/>
                </a:lnTo>
                <a:lnTo>
                  <a:pt x="1165" y="1363"/>
                </a:lnTo>
                <a:lnTo>
                  <a:pt x="1193" y="1296"/>
                </a:lnTo>
                <a:lnTo>
                  <a:pt x="1217" y="1227"/>
                </a:lnTo>
                <a:lnTo>
                  <a:pt x="1238" y="1157"/>
                </a:lnTo>
                <a:lnTo>
                  <a:pt x="1257" y="1086"/>
                </a:lnTo>
                <a:lnTo>
                  <a:pt x="1271" y="1014"/>
                </a:lnTo>
                <a:lnTo>
                  <a:pt x="1283" y="942"/>
                </a:lnTo>
                <a:lnTo>
                  <a:pt x="1291" y="868"/>
                </a:lnTo>
                <a:lnTo>
                  <a:pt x="1296" y="795"/>
                </a:lnTo>
                <a:lnTo>
                  <a:pt x="1298" y="721"/>
                </a:lnTo>
                <a:lnTo>
                  <a:pt x="1622" y="721"/>
                </a:lnTo>
                <a:lnTo>
                  <a:pt x="981" y="0"/>
                </a:lnTo>
                <a:lnTo>
                  <a:pt x="340" y="721"/>
                </a:lnTo>
                <a:lnTo>
                  <a:pt x="664" y="721"/>
                </a:lnTo>
              </a:path>
            </a:pathLst>
          </a:custGeom>
          <a:solidFill>
            <a:srgbClr val="729FC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7" name="TextShape 69"/>
          <p:cNvSpPr txBox="1"/>
          <p:nvPr/>
        </p:nvSpPr>
        <p:spPr>
          <a:xfrm rot="18674400">
            <a:off x="7947460" y="3467383"/>
            <a:ext cx="681480" cy="4413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400" b="1" strike="noStrike" spc="-1">
                <a:solidFill>
                  <a:srgbClr val="FFFFFF"/>
                </a:solidFill>
                <a:latin typeface="Arial"/>
              </a:rPr>
              <a:t>yes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extShape 1"/>
          <p:cNvSpPr txBox="1"/>
          <p:nvPr/>
        </p:nvSpPr>
        <p:spPr>
          <a:xfrm>
            <a:off x="311760" y="14364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0" strike="noStrike" spc="-1">
                <a:solidFill>
                  <a:srgbClr val="336B81"/>
                </a:solidFill>
                <a:latin typeface="Arial"/>
                <a:ea typeface="Arial"/>
              </a:rPr>
              <a:t>Motivation | A self-aware framework for MRS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Shape 2"/>
          <p:cNvSpPr txBox="1"/>
          <p:nvPr/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6AE8095C-772C-449D-BC05-4AB585319441}" type="slidenum">
              <a:rPr lang="en-GB" sz="1000" b="0" strike="noStrike" spc="-1">
                <a:solidFill>
                  <a:srgbClr val="595959"/>
                </a:solidFill>
                <a:latin typeface="Arial"/>
                <a:ea typeface="Arial"/>
              </a:rPr>
              <a:t>4</a:t>
            </a:fld>
            <a:endParaRPr lang="en-US" sz="1000" b="0" strike="noStrike" spc="-1">
              <a:latin typeface="Times New Roman"/>
            </a:endParaRPr>
          </a:p>
        </p:txBody>
      </p:sp>
      <p:grpSp>
        <p:nvGrpSpPr>
          <p:cNvPr id="190" name="Group 3"/>
          <p:cNvGrpSpPr/>
          <p:nvPr/>
        </p:nvGrpSpPr>
        <p:grpSpPr>
          <a:xfrm>
            <a:off x="1371600" y="1097280"/>
            <a:ext cx="6308640" cy="3170160"/>
            <a:chOff x="1371600" y="1097280"/>
            <a:chExt cx="6308640" cy="3170160"/>
          </a:xfrm>
        </p:grpSpPr>
        <p:pic>
          <p:nvPicPr>
            <p:cNvPr id="191" name="Grafik 190"/>
            <p:cNvPicPr/>
            <p:nvPr/>
          </p:nvPicPr>
          <p:blipFill>
            <a:blip r:embed="rId2"/>
            <a:stretch/>
          </p:blipFill>
          <p:spPr>
            <a:xfrm>
              <a:off x="1371600" y="3126240"/>
              <a:ext cx="610560" cy="4320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92" name="Grafik 191"/>
            <p:cNvPicPr/>
            <p:nvPr/>
          </p:nvPicPr>
          <p:blipFill>
            <a:blip r:embed="rId2"/>
            <a:stretch/>
          </p:blipFill>
          <p:spPr>
            <a:xfrm>
              <a:off x="1371600" y="1665000"/>
              <a:ext cx="610560" cy="432000"/>
            </a:xfrm>
            <a:prstGeom prst="rect">
              <a:avLst/>
            </a:prstGeom>
            <a:ln>
              <a:noFill/>
            </a:ln>
          </p:spPr>
        </p:pic>
        <p:cxnSp>
          <p:nvCxnSpPr>
            <p:cNvPr id="193" name="Line 4"/>
            <p:cNvCxnSpPr/>
            <p:nvPr/>
          </p:nvCxnSpPr>
          <p:spPr>
            <a:xfrm>
              <a:off x="2000160" y="1863720"/>
              <a:ext cx="551160" cy="2520"/>
            </a:xfrm>
            <a:prstGeom prst="straightConnector1">
              <a:avLst/>
            </a:prstGeom>
            <a:ln w="9000">
              <a:solidFill>
                <a:srgbClr val="000000"/>
              </a:solidFill>
              <a:round/>
              <a:tailEnd type="triangle" w="med" len="med"/>
            </a:ln>
          </p:spPr>
        </p:cxnSp>
        <p:cxnSp>
          <p:nvCxnSpPr>
            <p:cNvPr id="194" name="Line 5"/>
            <p:cNvCxnSpPr/>
            <p:nvPr/>
          </p:nvCxnSpPr>
          <p:spPr>
            <a:xfrm>
              <a:off x="1998000" y="3324240"/>
              <a:ext cx="551520" cy="2520"/>
            </a:xfrm>
            <a:prstGeom prst="straightConnector1">
              <a:avLst/>
            </a:prstGeom>
            <a:ln w="9000">
              <a:solidFill>
                <a:srgbClr val="000000"/>
              </a:solidFill>
              <a:round/>
              <a:tailEnd type="triangle" w="med" len="med"/>
            </a:ln>
          </p:spPr>
        </p:cxnSp>
        <p:sp>
          <p:nvSpPr>
            <p:cNvPr id="195" name="CustomShape 6"/>
            <p:cNvSpPr/>
            <p:nvPr/>
          </p:nvSpPr>
          <p:spPr>
            <a:xfrm>
              <a:off x="2612880" y="1703880"/>
              <a:ext cx="694440" cy="1766880"/>
            </a:xfrm>
            <a:prstGeom prst="rect">
              <a:avLst/>
            </a:prstGeom>
            <a:solidFill>
              <a:srgbClr val="DDE8CB"/>
            </a:solidFill>
            <a:ln>
              <a:solidFill>
                <a:srgbClr val="00A933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96" name="TextShape 7"/>
            <p:cNvSpPr txBox="1"/>
            <p:nvPr/>
          </p:nvSpPr>
          <p:spPr>
            <a:xfrm rot="16200000">
              <a:off x="2302920" y="2304720"/>
              <a:ext cx="1410480" cy="45828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>
              <a:noAutofit/>
            </a:bodyPr>
            <a:lstStyle/>
            <a:p>
              <a:r>
                <a:rPr lang="en-US" sz="1200" b="1" strike="noStrike" spc="-1">
                  <a:latin typeface="Arial"/>
                </a:rPr>
                <a:t>Preprocessing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197" name="TextShape 8"/>
            <p:cNvSpPr txBox="1"/>
            <p:nvPr/>
          </p:nvSpPr>
          <p:spPr>
            <a:xfrm rot="16200000">
              <a:off x="1555920" y="2198160"/>
              <a:ext cx="1183680" cy="82080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200" b="0" strike="noStrike" spc="-1">
                  <a:latin typeface="Arial"/>
                </a:rPr>
                <a:t>Exteroceptive </a:t>
              </a:r>
            </a:p>
            <a:p>
              <a:pPr algn="ctr">
                <a:lnSpc>
                  <a:spcPct val="100000"/>
                </a:lnSpc>
              </a:pPr>
              <a:r>
                <a:rPr lang="en-US" sz="1200" b="0" strike="noStrike" spc="-1">
                  <a:latin typeface="Arial"/>
                </a:rPr>
                <a:t>and </a:t>
              </a:r>
            </a:p>
            <a:p>
              <a:pPr algn="ctr">
                <a:lnSpc>
                  <a:spcPct val="100000"/>
                </a:lnSpc>
              </a:pPr>
              <a:r>
                <a:rPr lang="en-US" sz="1200" b="0" strike="noStrike" spc="-1">
                  <a:latin typeface="Arial"/>
                </a:rPr>
                <a:t>proprioceptive </a:t>
              </a:r>
            </a:p>
            <a:p>
              <a:pPr algn="ctr">
                <a:lnSpc>
                  <a:spcPct val="100000"/>
                </a:lnSpc>
              </a:pPr>
              <a:r>
                <a:rPr lang="en-US" sz="1200" b="0" strike="noStrike" spc="-1">
                  <a:latin typeface="Arial"/>
                </a:rPr>
                <a:t>sensory data</a:t>
              </a:r>
            </a:p>
          </p:txBody>
        </p:sp>
        <p:sp>
          <p:nvSpPr>
            <p:cNvPr id="198" name="CustomShape 9"/>
            <p:cNvSpPr/>
            <p:nvPr/>
          </p:nvSpPr>
          <p:spPr>
            <a:xfrm>
              <a:off x="3712320" y="2553480"/>
              <a:ext cx="89280" cy="91080"/>
            </a:xfrm>
            <a:prstGeom prst="ellipse">
              <a:avLst/>
            </a:prstGeom>
            <a:solidFill>
              <a:srgbClr val="00AAAD"/>
            </a:solidFill>
            <a:ln>
              <a:solidFill>
                <a:srgbClr val="3465A4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cxnSp>
          <p:nvCxnSpPr>
            <p:cNvPr id="199" name="Line 10"/>
            <p:cNvCxnSpPr>
              <a:stCxn id="195" idx="3"/>
              <a:endCxn id="198" idx="2"/>
            </p:cNvCxnSpPr>
            <p:nvPr/>
          </p:nvCxnSpPr>
          <p:spPr>
            <a:xfrm>
              <a:off x="3307320" y="2587320"/>
              <a:ext cx="405360" cy="12240"/>
            </a:xfrm>
            <a:prstGeom prst="straightConnector1">
              <a:avLst/>
            </a:prstGeom>
            <a:ln w="9000">
              <a:solidFill>
                <a:srgbClr val="000000"/>
              </a:solidFill>
              <a:round/>
              <a:tailEnd type="triangle" w="med" len="med"/>
            </a:ln>
          </p:spPr>
        </p:cxnSp>
        <p:sp>
          <p:nvSpPr>
            <p:cNvPr id="200" name="CustomShape 11"/>
            <p:cNvSpPr/>
            <p:nvPr/>
          </p:nvSpPr>
          <p:spPr>
            <a:xfrm>
              <a:off x="3923280" y="1943640"/>
              <a:ext cx="88920" cy="91080"/>
            </a:xfrm>
            <a:prstGeom prst="ellipse">
              <a:avLst/>
            </a:prstGeom>
            <a:solidFill>
              <a:srgbClr val="00AAAD"/>
            </a:solidFill>
            <a:ln>
              <a:solidFill>
                <a:srgbClr val="3465A4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01" name="CustomShape 12"/>
            <p:cNvSpPr/>
            <p:nvPr/>
          </p:nvSpPr>
          <p:spPr>
            <a:xfrm>
              <a:off x="3922200" y="3145680"/>
              <a:ext cx="88920" cy="91440"/>
            </a:xfrm>
            <a:prstGeom prst="ellipse">
              <a:avLst/>
            </a:prstGeom>
            <a:solidFill>
              <a:srgbClr val="00AAAD"/>
            </a:solidFill>
            <a:ln>
              <a:solidFill>
                <a:srgbClr val="3465A4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cxnSp>
          <p:nvCxnSpPr>
            <p:cNvPr id="202" name="Line 13"/>
            <p:cNvCxnSpPr>
              <a:stCxn id="198" idx="6"/>
              <a:endCxn id="200" idx="4"/>
            </p:cNvCxnSpPr>
            <p:nvPr/>
          </p:nvCxnSpPr>
          <p:spPr>
            <a:xfrm flipV="1">
              <a:off x="3801600" y="2034720"/>
              <a:ext cx="166680" cy="564840"/>
            </a:xfrm>
            <a:prstGeom prst="straightConnector1">
              <a:avLst/>
            </a:prstGeom>
            <a:ln w="9000">
              <a:solidFill>
                <a:srgbClr val="000000"/>
              </a:solidFill>
              <a:round/>
              <a:tailEnd type="triangle" w="med" len="med"/>
            </a:ln>
          </p:spPr>
        </p:cxnSp>
        <p:sp>
          <p:nvSpPr>
            <p:cNvPr id="203" name="CustomShape 14"/>
            <p:cNvSpPr/>
            <p:nvPr/>
          </p:nvSpPr>
          <p:spPr>
            <a:xfrm rot="16200000">
              <a:off x="5271840" y="437760"/>
              <a:ext cx="694800" cy="2013840"/>
            </a:xfrm>
            <a:prstGeom prst="rect">
              <a:avLst/>
            </a:prstGeom>
            <a:solidFill>
              <a:srgbClr val="DDE8CB"/>
            </a:solidFill>
            <a:ln>
              <a:solidFill>
                <a:srgbClr val="00A933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04" name="TextShape 15"/>
            <p:cNvSpPr txBox="1"/>
            <p:nvPr/>
          </p:nvSpPr>
          <p:spPr>
            <a:xfrm>
              <a:off x="5018400" y="1199880"/>
              <a:ext cx="1202040" cy="43164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>
              <a:noAutofit/>
            </a:bodyPr>
            <a:lstStyle/>
            <a:p>
              <a:pPr algn="ctr"/>
              <a:r>
                <a:rPr lang="en-US" sz="1200" b="1" strike="noStrike" spc="-1">
                  <a:latin typeface="Arial"/>
                </a:rPr>
                <a:t>abstracting</a:t>
              </a:r>
              <a:endParaRPr lang="en-US" sz="1200" b="0" strike="noStrike" spc="-1">
                <a:latin typeface="Arial"/>
              </a:endParaRPr>
            </a:p>
            <a:p>
              <a:pPr algn="ctr"/>
              <a:r>
                <a:rPr lang="en-US" sz="1200" b="1" strike="noStrike" spc="-1">
                  <a:latin typeface="Arial"/>
                </a:rPr>
                <a:t>state space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205" name="TextShape 16"/>
            <p:cNvSpPr txBox="1"/>
            <p:nvPr/>
          </p:nvSpPr>
          <p:spPr>
            <a:xfrm>
              <a:off x="6753600" y="1997640"/>
              <a:ext cx="926640" cy="45792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>
              <a:noAutofit/>
            </a:bodyPr>
            <a:lstStyle/>
            <a:p>
              <a:pPr algn="ctr"/>
              <a:r>
                <a:rPr lang="en-US" sz="1200" b="1" strike="noStrike" spc="-1">
                  <a:solidFill>
                    <a:srgbClr val="3465A4"/>
                  </a:solidFill>
                  <a:latin typeface="Arial"/>
                </a:rPr>
                <a:t>Offline </a:t>
              </a:r>
              <a:endParaRPr lang="en-US" sz="1200" b="0" strike="noStrike" spc="-1">
                <a:latin typeface="Arial"/>
              </a:endParaRPr>
            </a:p>
            <a:p>
              <a:pPr algn="ctr"/>
              <a:r>
                <a:rPr lang="en-US" sz="1200" b="1" strike="noStrike" spc="-1">
                  <a:solidFill>
                    <a:srgbClr val="3465A4"/>
                  </a:solidFill>
                  <a:latin typeface="Arial"/>
                </a:rPr>
                <a:t>learning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206" name="CustomShape 17"/>
            <p:cNvSpPr/>
            <p:nvPr/>
          </p:nvSpPr>
          <p:spPr>
            <a:xfrm rot="16200000">
              <a:off x="4889160" y="1589040"/>
              <a:ext cx="1460160" cy="2013840"/>
            </a:xfrm>
            <a:prstGeom prst="rect">
              <a:avLst/>
            </a:prstGeom>
            <a:solidFill>
              <a:srgbClr val="DDE8CB"/>
            </a:solidFill>
            <a:ln>
              <a:solidFill>
                <a:srgbClr val="00A933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07" name="CustomShape 18"/>
            <p:cNvSpPr/>
            <p:nvPr/>
          </p:nvSpPr>
          <p:spPr>
            <a:xfrm rot="16200000">
              <a:off x="5271480" y="2719800"/>
              <a:ext cx="695160" cy="2013840"/>
            </a:xfrm>
            <a:prstGeom prst="rect">
              <a:avLst/>
            </a:prstGeom>
            <a:solidFill>
              <a:srgbClr val="DDE8CB"/>
            </a:solidFill>
            <a:ln>
              <a:solidFill>
                <a:srgbClr val="00A933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08" name="CustomShape 19"/>
            <p:cNvSpPr/>
            <p:nvPr/>
          </p:nvSpPr>
          <p:spPr>
            <a:xfrm rot="16200000">
              <a:off x="4624200" y="2266200"/>
              <a:ext cx="1083960" cy="640080"/>
            </a:xfrm>
            <a:prstGeom prst="rect">
              <a:avLst/>
            </a:prstGeom>
            <a:solidFill>
              <a:srgbClr val="B3CAC7"/>
            </a:solidFill>
            <a:ln>
              <a:solidFill>
                <a:srgbClr val="00A933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09" name="CustomShape 20"/>
            <p:cNvSpPr/>
            <p:nvPr/>
          </p:nvSpPr>
          <p:spPr>
            <a:xfrm rot="16200000">
              <a:off x="5626800" y="2269800"/>
              <a:ext cx="1090800" cy="640080"/>
            </a:xfrm>
            <a:prstGeom prst="rect">
              <a:avLst/>
            </a:prstGeom>
            <a:solidFill>
              <a:srgbClr val="B3CAC7"/>
            </a:solidFill>
            <a:ln>
              <a:solidFill>
                <a:srgbClr val="00A933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cxnSp>
          <p:nvCxnSpPr>
            <p:cNvPr id="210" name="Line 21"/>
            <p:cNvCxnSpPr>
              <a:stCxn id="200" idx="0"/>
              <a:endCxn id="203" idx="0"/>
            </p:cNvCxnSpPr>
            <p:nvPr/>
          </p:nvCxnSpPr>
          <p:spPr>
            <a:xfrm flipV="1">
              <a:off x="3967920" y="1444680"/>
              <a:ext cx="644760" cy="499320"/>
            </a:xfrm>
            <a:prstGeom prst="bentConnector3">
              <a:avLst/>
            </a:prstGeom>
            <a:ln>
              <a:solidFill>
                <a:srgbClr val="3465A4"/>
              </a:solidFill>
              <a:tailEnd type="triangle" w="med" len="med"/>
            </a:ln>
          </p:spPr>
        </p:cxnSp>
        <p:cxnSp>
          <p:nvCxnSpPr>
            <p:cNvPr id="211" name="Line 22"/>
            <p:cNvCxnSpPr>
              <a:stCxn id="201" idx="4"/>
              <a:endCxn id="207" idx="0"/>
            </p:cNvCxnSpPr>
            <p:nvPr/>
          </p:nvCxnSpPr>
          <p:spPr>
            <a:xfrm>
              <a:off x="3966840" y="3237120"/>
              <a:ext cx="645840" cy="490320"/>
            </a:xfrm>
            <a:prstGeom prst="bentConnector3">
              <a:avLst/>
            </a:prstGeom>
            <a:ln>
              <a:solidFill>
                <a:srgbClr val="3465A4"/>
              </a:solidFill>
              <a:tailEnd type="triangle" w="med" len="med"/>
            </a:ln>
          </p:spPr>
        </p:cxnSp>
        <p:sp>
          <p:nvSpPr>
            <p:cNvPr id="212" name="TextShape 23"/>
            <p:cNvSpPr txBox="1"/>
            <p:nvPr/>
          </p:nvSpPr>
          <p:spPr>
            <a:xfrm>
              <a:off x="5018400" y="3511440"/>
              <a:ext cx="1202760" cy="45792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>
              <a:noAutofit/>
            </a:bodyPr>
            <a:lstStyle/>
            <a:p>
              <a:pPr algn="ctr"/>
              <a:r>
                <a:rPr lang="en-US" sz="1200" b="1" strike="noStrike" spc="-1">
                  <a:latin typeface="Arial"/>
                </a:rPr>
                <a:t>Anomaly</a:t>
              </a:r>
              <a:endParaRPr lang="en-US" sz="1200" b="0" strike="noStrike" spc="-1">
                <a:latin typeface="Arial"/>
              </a:endParaRPr>
            </a:p>
            <a:p>
              <a:pPr algn="ctr"/>
              <a:r>
                <a:rPr lang="en-US" sz="1200" b="1" strike="noStrike" spc="-1">
                  <a:latin typeface="Arial"/>
                </a:rPr>
                <a:t>detection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213" name="CustomShape 24"/>
            <p:cNvSpPr/>
            <p:nvPr/>
          </p:nvSpPr>
          <p:spPr>
            <a:xfrm>
              <a:off x="6686280" y="1242720"/>
              <a:ext cx="219960" cy="1905840"/>
            </a:xfrm>
            <a:custGeom>
              <a:avLst/>
              <a:gdLst/>
              <a:ahLst/>
              <a:cxnLst/>
              <a:rect l="0" t="0" r="r" b="b"/>
              <a:pathLst>
                <a:path w="613" h="5296">
                  <a:moveTo>
                    <a:pt x="0" y="0"/>
                  </a:moveTo>
                  <a:cubicBezTo>
                    <a:pt x="153" y="0"/>
                    <a:pt x="306" y="220"/>
                    <a:pt x="306" y="441"/>
                  </a:cubicBezTo>
                  <a:lnTo>
                    <a:pt x="306" y="2206"/>
                  </a:lnTo>
                  <a:cubicBezTo>
                    <a:pt x="306" y="2426"/>
                    <a:pt x="459" y="2647"/>
                    <a:pt x="612" y="2647"/>
                  </a:cubicBezTo>
                  <a:cubicBezTo>
                    <a:pt x="459" y="2647"/>
                    <a:pt x="306" y="2868"/>
                    <a:pt x="306" y="3088"/>
                  </a:cubicBezTo>
                  <a:lnTo>
                    <a:pt x="306" y="4853"/>
                  </a:lnTo>
                  <a:cubicBezTo>
                    <a:pt x="306" y="5074"/>
                    <a:pt x="153" y="5295"/>
                    <a:pt x="0" y="5295"/>
                  </a:cubicBezTo>
                </a:path>
              </a:pathLst>
            </a:custGeom>
            <a:noFill/>
            <a:ln w="36000">
              <a:solidFill>
                <a:srgbClr val="3465A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14" name="TextShape 25"/>
            <p:cNvSpPr txBox="1"/>
            <p:nvPr/>
          </p:nvSpPr>
          <p:spPr>
            <a:xfrm rot="16200000">
              <a:off x="4524480" y="2351520"/>
              <a:ext cx="1340640" cy="47772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>
              <a:noAutofit/>
            </a:bodyPr>
            <a:lstStyle/>
            <a:p>
              <a:pPr algn="ctr"/>
              <a:r>
                <a:rPr lang="en-US" sz="1200" b="0" strike="noStrike" spc="-1">
                  <a:latin typeface="Arial"/>
                </a:rPr>
                <a:t>proprioceptive </a:t>
              </a:r>
              <a:br/>
              <a:r>
                <a:rPr lang="en-US" sz="1200" b="0" strike="noStrike" spc="-1">
                  <a:latin typeface="Arial"/>
                </a:rPr>
                <a:t>models</a:t>
              </a:r>
            </a:p>
          </p:txBody>
        </p:sp>
        <p:sp>
          <p:nvSpPr>
            <p:cNvPr id="215" name="TextShape 26"/>
            <p:cNvSpPr txBox="1"/>
            <p:nvPr/>
          </p:nvSpPr>
          <p:spPr>
            <a:xfrm rot="16200000">
              <a:off x="5530320" y="2382480"/>
              <a:ext cx="1340640" cy="47772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>
              <a:noAutofit/>
            </a:bodyPr>
            <a:lstStyle/>
            <a:p>
              <a:pPr algn="ctr"/>
              <a:r>
                <a:rPr lang="en-US" sz="1200" b="0" strike="noStrike" spc="-1">
                  <a:latin typeface="Arial"/>
                </a:rPr>
                <a:t>exteroceptive </a:t>
              </a:r>
              <a:br/>
              <a:r>
                <a:rPr lang="en-US" sz="1200" b="0" strike="noStrike" spc="-1">
                  <a:latin typeface="Arial"/>
                </a:rPr>
                <a:t>models</a:t>
              </a:r>
            </a:p>
          </p:txBody>
        </p:sp>
        <p:cxnSp>
          <p:nvCxnSpPr>
            <p:cNvPr id="216" name="Line 27"/>
            <p:cNvCxnSpPr/>
            <p:nvPr/>
          </p:nvCxnSpPr>
          <p:spPr>
            <a:xfrm>
              <a:off x="5116320" y="1611000"/>
              <a:ext cx="7560" cy="382680"/>
            </a:xfrm>
            <a:prstGeom prst="straightConnector1">
              <a:avLst/>
            </a:prstGeom>
            <a:ln w="9000">
              <a:solidFill>
                <a:srgbClr val="000000"/>
              </a:solidFill>
              <a:round/>
              <a:tailEnd type="triangle" w="med" len="med"/>
            </a:ln>
          </p:spPr>
        </p:cxnSp>
        <p:cxnSp>
          <p:nvCxnSpPr>
            <p:cNvPr id="217" name="Line 28"/>
            <p:cNvCxnSpPr/>
            <p:nvPr/>
          </p:nvCxnSpPr>
          <p:spPr>
            <a:xfrm>
              <a:off x="6114960" y="1608480"/>
              <a:ext cx="7200" cy="383040"/>
            </a:xfrm>
            <a:prstGeom prst="straightConnector1">
              <a:avLst/>
            </a:prstGeom>
            <a:ln w="9000">
              <a:solidFill>
                <a:srgbClr val="000000"/>
              </a:solidFill>
              <a:round/>
              <a:tailEnd type="triangle" w="med" len="med"/>
            </a:ln>
          </p:spPr>
        </p:cxnSp>
        <p:cxnSp>
          <p:nvCxnSpPr>
            <p:cNvPr id="218" name="Line 29"/>
            <p:cNvCxnSpPr/>
            <p:nvPr/>
          </p:nvCxnSpPr>
          <p:spPr>
            <a:xfrm>
              <a:off x="5187600" y="3140280"/>
              <a:ext cx="7200" cy="383760"/>
            </a:xfrm>
            <a:prstGeom prst="straightConnector1">
              <a:avLst/>
            </a:prstGeom>
            <a:ln w="9000">
              <a:solidFill>
                <a:srgbClr val="000000"/>
              </a:solidFill>
              <a:round/>
              <a:tailEnd type="triangle" w="med" len="med"/>
            </a:ln>
          </p:spPr>
        </p:cxnSp>
        <p:cxnSp>
          <p:nvCxnSpPr>
            <p:cNvPr id="219" name="Line 30"/>
            <p:cNvCxnSpPr/>
            <p:nvPr/>
          </p:nvCxnSpPr>
          <p:spPr>
            <a:xfrm>
              <a:off x="6129000" y="3138840"/>
              <a:ext cx="7200" cy="382680"/>
            </a:xfrm>
            <a:prstGeom prst="straightConnector1">
              <a:avLst/>
            </a:prstGeom>
            <a:ln w="9000">
              <a:solidFill>
                <a:srgbClr val="000000"/>
              </a:solidFill>
              <a:round/>
              <a:tailEnd type="triangle" w="med" len="med"/>
            </a:ln>
          </p:spPr>
        </p:cxnSp>
        <p:cxnSp>
          <p:nvCxnSpPr>
            <p:cNvPr id="220" name="Line 31"/>
            <p:cNvCxnSpPr/>
            <p:nvPr/>
          </p:nvCxnSpPr>
          <p:spPr>
            <a:xfrm flipH="1" flipV="1">
              <a:off x="3788280" y="2712600"/>
              <a:ext cx="717840" cy="1279080"/>
            </a:xfrm>
            <a:prstGeom prst="bentConnector3">
              <a:avLst/>
            </a:prstGeom>
            <a:ln w="18360">
              <a:solidFill>
                <a:srgbClr val="3465A4"/>
              </a:solidFill>
              <a:custDash>
                <a:ds d="600000" sp="300000"/>
              </a:custDash>
              <a:round/>
            </a:ln>
          </p:spPr>
        </p:cxnSp>
        <p:sp>
          <p:nvSpPr>
            <p:cNvPr id="221" name="TextShape 32"/>
            <p:cNvSpPr txBox="1"/>
            <p:nvPr/>
          </p:nvSpPr>
          <p:spPr>
            <a:xfrm>
              <a:off x="3494160" y="2377440"/>
              <a:ext cx="1169280" cy="60228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 anchor="t">
              <a:noAutofit/>
            </a:bodyPr>
            <a:lstStyle/>
            <a:p>
              <a:pPr algn="ctr"/>
              <a:r>
                <a:rPr lang="en-US" sz="1100" b="1" strike="noStrike" spc="-1" dirty="0">
                  <a:solidFill>
                    <a:srgbClr val="C9211E"/>
                  </a:solidFill>
                  <a:latin typeface="Arial"/>
                </a:rPr>
                <a:t>Create/update</a:t>
              </a:r>
              <a:br>
                <a:rPr sz="1100" dirty="0"/>
              </a:br>
              <a:r>
                <a:rPr lang="en-US" sz="1100" b="1" strike="noStrike" spc="-1" dirty="0">
                  <a:solidFill>
                    <a:srgbClr val="C9211E"/>
                  </a:solidFill>
                  <a:latin typeface="Arial"/>
                </a:rPr>
                <a:t>models</a:t>
              </a:r>
              <a:endParaRPr lang="en-US" sz="1100" b="0" strike="noStrike" spc="-1">
                <a:latin typeface="Arial"/>
              </a:endParaRPr>
            </a:p>
          </p:txBody>
        </p:sp>
        <p:sp>
          <p:nvSpPr>
            <p:cNvPr id="222" name="CustomShape 33"/>
            <p:cNvSpPr/>
            <p:nvPr/>
          </p:nvSpPr>
          <p:spPr>
            <a:xfrm>
              <a:off x="6686280" y="3368160"/>
              <a:ext cx="219960" cy="698040"/>
            </a:xfrm>
            <a:custGeom>
              <a:avLst/>
              <a:gdLst/>
              <a:ahLst/>
              <a:cxnLst/>
              <a:rect l="0" t="0" r="r" b="b"/>
              <a:pathLst>
                <a:path w="613" h="1941">
                  <a:moveTo>
                    <a:pt x="0" y="0"/>
                  </a:moveTo>
                  <a:cubicBezTo>
                    <a:pt x="153" y="0"/>
                    <a:pt x="306" y="80"/>
                    <a:pt x="306" y="161"/>
                  </a:cubicBezTo>
                  <a:lnTo>
                    <a:pt x="306" y="808"/>
                  </a:lnTo>
                  <a:cubicBezTo>
                    <a:pt x="306" y="889"/>
                    <a:pt x="459" y="970"/>
                    <a:pt x="612" y="970"/>
                  </a:cubicBezTo>
                  <a:cubicBezTo>
                    <a:pt x="459" y="970"/>
                    <a:pt x="306" y="1050"/>
                    <a:pt x="306" y="1131"/>
                  </a:cubicBezTo>
                  <a:lnTo>
                    <a:pt x="306" y="1778"/>
                  </a:lnTo>
                  <a:cubicBezTo>
                    <a:pt x="306" y="1859"/>
                    <a:pt x="153" y="1940"/>
                    <a:pt x="0" y="1940"/>
                  </a:cubicBezTo>
                </a:path>
              </a:pathLst>
            </a:custGeom>
            <a:noFill/>
            <a:ln w="36000">
              <a:solidFill>
                <a:srgbClr val="BF004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23" name="TextShape 34"/>
            <p:cNvSpPr txBox="1"/>
            <p:nvPr/>
          </p:nvSpPr>
          <p:spPr>
            <a:xfrm>
              <a:off x="6740640" y="3490560"/>
              <a:ext cx="939600" cy="45828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>
              <a:noAutofit/>
            </a:bodyPr>
            <a:lstStyle/>
            <a:p>
              <a:pPr algn="ctr"/>
              <a:r>
                <a:rPr lang="en-US" sz="1200" b="1" strike="noStrike" spc="-1">
                  <a:solidFill>
                    <a:srgbClr val="BF0041"/>
                  </a:solidFill>
                  <a:latin typeface="Arial"/>
                </a:rPr>
                <a:t>Online</a:t>
              </a:r>
              <a:endParaRPr lang="en-US" sz="1200" b="0" strike="noStrike" spc="-1">
                <a:latin typeface="Arial"/>
              </a:endParaRPr>
            </a:p>
            <a:p>
              <a:pPr algn="ctr"/>
              <a:r>
                <a:rPr lang="en-US" sz="1200" b="1" strike="noStrike" spc="-1">
                  <a:solidFill>
                    <a:srgbClr val="BF0041"/>
                  </a:solidFill>
                  <a:latin typeface="Arial"/>
                </a:rPr>
                <a:t>testing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224" name="TextShape 35"/>
            <p:cNvSpPr txBox="1"/>
            <p:nvPr/>
          </p:nvSpPr>
          <p:spPr>
            <a:xfrm>
              <a:off x="3781440" y="3925440"/>
              <a:ext cx="758160" cy="34200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>
              <a:noAutofit/>
            </a:bodyPr>
            <a:lstStyle/>
            <a:p>
              <a:r>
                <a:rPr lang="en-US" sz="1200" b="0" strike="noStrike" spc="-1">
                  <a:latin typeface="Arial"/>
                </a:rPr>
                <a:t>anomaly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extShape 1"/>
          <p:cNvSpPr txBox="1"/>
          <p:nvPr/>
        </p:nvSpPr>
        <p:spPr>
          <a:xfrm>
            <a:off x="311760" y="14364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0" strike="noStrike" spc="-1">
                <a:solidFill>
                  <a:srgbClr val="336B81"/>
                </a:solidFill>
                <a:latin typeface="Arial"/>
                <a:ea typeface="Arial"/>
              </a:rPr>
              <a:t>Related work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Shape 2"/>
          <p:cNvSpPr txBox="1"/>
          <p:nvPr/>
        </p:nvSpPr>
        <p:spPr>
          <a:xfrm>
            <a:off x="8504280" y="466344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222ADEED-7CF3-43E8-AE95-066C7F9D85FA}" type="slidenum">
              <a:rPr lang="en-GB" sz="1000" b="0" strike="noStrike" spc="-1">
                <a:solidFill>
                  <a:srgbClr val="595959"/>
                </a:solidFill>
                <a:latin typeface="Arial"/>
                <a:ea typeface="Arial"/>
              </a:rPr>
              <a:t>5</a:t>
            </a:fld>
            <a:endParaRPr lang="en-US" sz="1000" b="0" strike="noStrike" spc="-1">
              <a:latin typeface="Times New Roman"/>
            </a:endParaRPr>
          </a:p>
        </p:txBody>
      </p:sp>
      <p:sp>
        <p:nvSpPr>
          <p:cNvPr id="227" name="TextShape 3"/>
          <p:cNvSpPr txBox="1"/>
          <p:nvPr/>
        </p:nvSpPr>
        <p:spPr>
          <a:xfrm>
            <a:off x="322200" y="2051280"/>
            <a:ext cx="8550360" cy="8859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800" b="0" strike="noStrike" spc="-1">
                <a:solidFill>
                  <a:srgbClr val="81337A"/>
                </a:solidFill>
                <a:latin typeface="Arial"/>
              </a:rPr>
              <a:t>An SA framework based on MJPF in a single-robot system</a:t>
            </a:r>
            <a:br/>
            <a:r>
              <a:rPr lang="en-US" sz="1000" b="0" strike="noStrike" spc="-1">
                <a:latin typeface="Arial"/>
              </a:rPr>
              <a:t>Regazzoni, B. Rinner et al, “Multisensorial generative and descriptive self-awareness models for autonomous systems,” Proc. of the IEEE 2020</a:t>
            </a:r>
          </a:p>
          <a:p>
            <a:endParaRPr lang="en-US" sz="1000" b="0" strike="noStrike" spc="-1">
              <a:latin typeface="Arial"/>
            </a:endParaRPr>
          </a:p>
          <a:p>
            <a:r>
              <a:rPr lang="en-US" sz="1800" b="0" strike="noStrike" spc="-1">
                <a:latin typeface="Arial"/>
              </a:rPr>
              <a:t> </a:t>
            </a:r>
          </a:p>
        </p:txBody>
      </p:sp>
      <p:sp>
        <p:nvSpPr>
          <p:cNvPr id="228" name="TextShape 4"/>
          <p:cNvSpPr txBox="1"/>
          <p:nvPr/>
        </p:nvSpPr>
        <p:spPr>
          <a:xfrm>
            <a:off x="322200" y="914400"/>
            <a:ext cx="8602920" cy="10000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800" b="0" strike="noStrike" spc="-1">
                <a:solidFill>
                  <a:srgbClr val="81337A"/>
                </a:solidFill>
                <a:latin typeface="Arial"/>
              </a:rPr>
              <a:t>Markov Jump Particle Filter (MJPF) as spatiotemporal model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Arial"/>
              </a:rPr>
              <a:t>M. Baydoun et al “Learning switching models for abnormality detection for autonomous driving,”Conference on Information Fusion, 2018.</a:t>
            </a:r>
            <a:endParaRPr lang="en-US" sz="1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A 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hierarchical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 model applying 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Particle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 and 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Kalman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 filters based on 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dynamic Bayesian networks (DBN)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29" name="TextShape 5"/>
          <p:cNvSpPr txBox="1"/>
          <p:nvPr/>
        </p:nvSpPr>
        <p:spPr>
          <a:xfrm>
            <a:off x="322920" y="3491640"/>
            <a:ext cx="8550360" cy="11455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800" b="0" strike="noStrike" spc="-1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latin typeface="Arial"/>
              </a:rPr>
              <a:t>Uses </a:t>
            </a:r>
            <a:r>
              <a:rPr lang="en-US" sz="1400" b="1" strike="noStrike" spc="-1">
                <a:latin typeface="Arial"/>
              </a:rPr>
              <a:t>Coupled MJPFs</a:t>
            </a:r>
            <a:r>
              <a:rPr lang="en-US" sz="1400" b="0" strike="noStrike" spc="-1">
                <a:latin typeface="Arial"/>
              </a:rPr>
              <a:t> as spatiotemporal models in several scenarios for anomaly detection in MRS</a:t>
            </a: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latin typeface="Arial"/>
              </a:rPr>
              <a:t>Compares the results with </a:t>
            </a:r>
            <a:r>
              <a:rPr lang="en-US" sz="1400" b="1" strike="noStrike" spc="-1">
                <a:latin typeface="Arial"/>
              </a:rPr>
              <a:t>single MJPF </a:t>
            </a:r>
            <a:endParaRPr lang="en-US" sz="1400" b="0" strike="noStrike" spc="-1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latin typeface="Arial"/>
              </a:rPr>
              <a:t>Studies </a:t>
            </a:r>
            <a:r>
              <a:rPr lang="en-US" sz="1400" b="1" strike="noStrike" spc="-1">
                <a:latin typeface="Arial"/>
              </a:rPr>
              <a:t>sensors’ noise</a:t>
            </a:r>
            <a:r>
              <a:rPr lang="en-US" sz="1400" b="0" strike="noStrike" spc="-1">
                <a:latin typeface="Arial"/>
              </a:rPr>
              <a:t> impact anomaly detection ability</a:t>
            </a: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latin typeface="Arial"/>
              </a:rPr>
              <a:t>Studies impact of </a:t>
            </a:r>
            <a:r>
              <a:rPr lang="en-US" sz="1400" b="1" strike="noStrike" spc="-1">
                <a:latin typeface="Arial"/>
              </a:rPr>
              <a:t>clusters number</a:t>
            </a:r>
            <a:r>
              <a:rPr lang="en-US" sz="1400" b="0" strike="noStrike" spc="-1">
                <a:latin typeface="Arial"/>
              </a:rPr>
              <a:t> in state space on anomaly detection</a:t>
            </a:r>
          </a:p>
        </p:txBody>
      </p:sp>
      <p:sp>
        <p:nvSpPr>
          <p:cNvPr id="230" name="TextShape 6"/>
          <p:cNvSpPr txBox="1"/>
          <p:nvPr/>
        </p:nvSpPr>
        <p:spPr>
          <a:xfrm>
            <a:off x="328680" y="3501720"/>
            <a:ext cx="1413720" cy="346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800" b="1" strike="noStrike" spc="-1">
                <a:solidFill>
                  <a:srgbClr val="81337A"/>
                </a:solidFill>
                <a:latin typeface="Arial"/>
              </a:rPr>
              <a:t>This paper:</a:t>
            </a:r>
          </a:p>
        </p:txBody>
      </p:sp>
      <p:sp>
        <p:nvSpPr>
          <p:cNvPr id="231" name="TextShape 7"/>
          <p:cNvSpPr txBox="1"/>
          <p:nvPr/>
        </p:nvSpPr>
        <p:spPr>
          <a:xfrm>
            <a:off x="323280" y="2807640"/>
            <a:ext cx="8550360" cy="4881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800" b="0" strike="noStrike" spc="-1">
                <a:solidFill>
                  <a:srgbClr val="81337A"/>
                </a:solidFill>
                <a:latin typeface="Arial"/>
              </a:rPr>
              <a:t>Suggesting Coupled MJPFs as a spatiotemporal model in MRS</a:t>
            </a:r>
            <a:br/>
            <a:r>
              <a:rPr lang="en-US" sz="1000" b="0" strike="noStrike" spc="-1">
                <a:latin typeface="Arial"/>
              </a:rPr>
              <a:t>M. Rahmani and B. Rinner, “Towards self-awareness in multi-robot systems,” in Proc. Austrian Robotics Workshop, 2022, pp. 1–2.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rafik 231"/>
          <p:cNvPicPr/>
          <p:nvPr/>
        </p:nvPicPr>
        <p:blipFill>
          <a:blip r:embed="rId2"/>
          <a:stretch/>
        </p:blipFill>
        <p:spPr>
          <a:xfrm>
            <a:off x="108000" y="822960"/>
            <a:ext cx="3138120" cy="3833280"/>
          </a:xfrm>
          <a:prstGeom prst="rect">
            <a:avLst/>
          </a:prstGeom>
          <a:ln>
            <a:noFill/>
          </a:ln>
        </p:spPr>
      </p:pic>
      <p:sp>
        <p:nvSpPr>
          <p:cNvPr id="233" name="TextShape 1"/>
          <p:cNvSpPr txBox="1"/>
          <p:nvPr/>
        </p:nvSpPr>
        <p:spPr>
          <a:xfrm>
            <a:off x="311760" y="14364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0" strike="noStrike" spc="-1">
                <a:solidFill>
                  <a:srgbClr val="336B81"/>
                </a:solidFill>
                <a:latin typeface="Arial"/>
                <a:ea typeface="Arial"/>
              </a:rPr>
              <a:t>Methodology | Proposed spatiotemporal model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Shape 2"/>
          <p:cNvSpPr txBox="1"/>
          <p:nvPr/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50A5F9E6-77F5-40B7-AB5B-B03223449BEA}" type="slidenum">
              <a:rPr lang="en-GB" sz="1000" b="0" strike="noStrike" spc="-1">
                <a:solidFill>
                  <a:srgbClr val="595959"/>
                </a:solidFill>
                <a:latin typeface="Arial"/>
                <a:ea typeface="Arial"/>
              </a:rPr>
              <a:t>6</a:t>
            </a:fld>
            <a:endParaRPr lang="en-US" sz="1000" b="0" strike="noStrike" spc="-1">
              <a:latin typeface="Times New Roman"/>
            </a:endParaRPr>
          </a:p>
        </p:txBody>
      </p:sp>
      <p:sp>
        <p:nvSpPr>
          <p:cNvPr id="235" name="CustomShape 3"/>
          <p:cNvSpPr/>
          <p:nvPr/>
        </p:nvSpPr>
        <p:spPr>
          <a:xfrm>
            <a:off x="2452320" y="2468880"/>
            <a:ext cx="1100160" cy="640080"/>
          </a:xfrm>
          <a:custGeom>
            <a:avLst/>
            <a:gdLst/>
            <a:ahLst/>
            <a:cxnLst/>
            <a:rect l="0" t="0" r="r" b="b"/>
            <a:pathLst>
              <a:path w="3058" h="1780">
                <a:moveTo>
                  <a:pt x="0" y="230"/>
                </a:moveTo>
                <a:lnTo>
                  <a:pt x="2273" y="230"/>
                </a:lnTo>
                <a:lnTo>
                  <a:pt x="2273" y="0"/>
                </a:lnTo>
                <a:lnTo>
                  <a:pt x="3057" y="889"/>
                </a:lnTo>
                <a:lnTo>
                  <a:pt x="2273" y="1779"/>
                </a:lnTo>
                <a:lnTo>
                  <a:pt x="2273" y="1548"/>
                </a:lnTo>
                <a:lnTo>
                  <a:pt x="0" y="1548"/>
                </a:lnTo>
                <a:lnTo>
                  <a:pt x="0" y="230"/>
                </a:lnTo>
              </a:path>
            </a:pathLst>
          </a:custGeom>
          <a:solidFill>
            <a:srgbClr val="729FC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en-US" sz="1200" b="1" strike="noStrike" spc="-1">
                <a:solidFill>
                  <a:srgbClr val="FFFFFF"/>
                </a:solidFill>
                <a:latin typeface="Arial"/>
              </a:rPr>
              <a:t>Joint</a:t>
            </a:r>
          </a:p>
          <a:p>
            <a:pPr algn="ctr"/>
            <a:r>
              <a:rPr lang="en-US" sz="1200" b="1" strike="noStrike" spc="-1">
                <a:solidFill>
                  <a:srgbClr val="FFFFFF"/>
                </a:solidFill>
                <a:latin typeface="Arial"/>
              </a:rPr>
              <a:t>predictions</a:t>
            </a:r>
          </a:p>
        </p:txBody>
      </p:sp>
      <p:sp>
        <p:nvSpPr>
          <p:cNvPr id="236" name="TextShape 4"/>
          <p:cNvSpPr txBox="1"/>
          <p:nvPr/>
        </p:nvSpPr>
        <p:spPr>
          <a:xfrm>
            <a:off x="3509640" y="1445400"/>
            <a:ext cx="5653080" cy="26499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1" strike="noStrike" spc="-1">
                <a:latin typeface="Arial"/>
              </a:rPr>
              <a:t>3-layer hierarchical model based on Coupled Dynamic </a:t>
            </a:r>
            <a:endParaRPr lang="en-US" sz="1400" b="0" strike="noStrike" spc="-1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1" strike="noStrike" spc="-1">
                <a:latin typeface="Arial"/>
              </a:rPr>
              <a:t>Bayesian Networks (CDBN)</a:t>
            </a:r>
            <a:endParaRPr lang="en-US" sz="1400" b="0" strike="noStrike" spc="-1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400" b="0" strike="noStrike" spc="-1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1" strike="noStrike" spc="-1">
                <a:latin typeface="Arial"/>
              </a:rPr>
              <a:t>Abstract layer (S) </a:t>
            </a:r>
            <a:r>
              <a:rPr lang="en-US" sz="1400" b="0" strike="noStrike" spc="-1">
                <a:latin typeface="Arial"/>
              </a:rPr>
              <a:t>in which</a:t>
            </a:r>
            <a:r>
              <a:rPr lang="en-US" sz="1400" b="1" strike="noStrike" spc="-1">
                <a:latin typeface="Arial"/>
              </a:rPr>
              <a:t> Particle filter </a:t>
            </a:r>
            <a:r>
              <a:rPr lang="en-US" sz="1400" b="0" strike="noStrike" spc="-1">
                <a:latin typeface="Arial"/>
              </a:rPr>
              <a:t>is used for determining </a:t>
            </a: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latin typeface="Arial"/>
              </a:rPr>
              <a:t>the most probable abstract state</a:t>
            </a:r>
            <a:br/>
            <a:endParaRPr lang="en-US" sz="14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1" strike="noStrike" spc="-1">
                <a:latin typeface="Arial"/>
              </a:rPr>
              <a:t>Continuous states (X) </a:t>
            </a:r>
            <a:r>
              <a:rPr lang="en-US" sz="1400" b="0" strike="noStrike" spc="-1">
                <a:latin typeface="Arial"/>
              </a:rPr>
              <a:t>that uses a </a:t>
            </a:r>
            <a:r>
              <a:rPr lang="en-US" sz="1400" b="1" strike="noStrike" spc="-1">
                <a:latin typeface="Arial"/>
              </a:rPr>
              <a:t>Kalman filter </a:t>
            </a:r>
            <a:r>
              <a:rPr lang="en-US" sz="1400" b="0" strike="noStrike" spc="-1">
                <a:latin typeface="Arial"/>
              </a:rPr>
              <a:t>with a </a:t>
            </a:r>
            <a:r>
              <a:rPr lang="en-US" sz="1400" b="1" strike="noStrike" spc="-1">
                <a:latin typeface="Arial"/>
              </a:rPr>
              <a:t>constant</a:t>
            </a:r>
            <a:r>
              <a:rPr lang="en-US" sz="1400" b="0" strike="noStrike" spc="-1">
                <a:latin typeface="Arial"/>
              </a:rPr>
              <a:t> </a:t>
            </a:r>
            <a:br/>
            <a:r>
              <a:rPr lang="en-US" sz="1400" b="0" strike="noStrike" spc="-1">
                <a:latin typeface="Arial"/>
              </a:rPr>
              <a:t>velocity vector for state estimation inside the abstract state</a:t>
            </a: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latin typeface="Arial"/>
              </a:rPr>
              <a:t> </a:t>
            </a: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1" strike="noStrike" spc="-1">
                <a:latin typeface="Arial"/>
              </a:rPr>
              <a:t>The interaction layer (D)</a:t>
            </a:r>
            <a:r>
              <a:rPr lang="en-US" sz="1400" b="0" strike="noStrike" spc="-1">
                <a:latin typeface="Arial"/>
              </a:rPr>
              <a:t> couples robots for joint predictions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extShape 1"/>
          <p:cNvSpPr txBox="1"/>
          <p:nvPr/>
        </p:nvSpPr>
        <p:spPr>
          <a:xfrm>
            <a:off x="311760" y="14364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0" strike="noStrike" spc="-1">
                <a:solidFill>
                  <a:srgbClr val="336B81"/>
                </a:solidFill>
                <a:latin typeface="Arial"/>
                <a:ea typeface="Arial"/>
              </a:rPr>
              <a:t>Methodology | Offline training 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38" name="Group 2"/>
          <p:cNvGrpSpPr/>
          <p:nvPr/>
        </p:nvGrpSpPr>
        <p:grpSpPr>
          <a:xfrm>
            <a:off x="494280" y="1869480"/>
            <a:ext cx="2397600" cy="2293560"/>
            <a:chOff x="494280" y="1869480"/>
            <a:chExt cx="2397600" cy="2293560"/>
          </a:xfrm>
        </p:grpSpPr>
        <p:sp>
          <p:nvSpPr>
            <p:cNvPr id="239" name="CustomShape 3"/>
            <p:cNvSpPr/>
            <p:nvPr/>
          </p:nvSpPr>
          <p:spPr>
            <a:xfrm>
              <a:off x="494280" y="1869480"/>
              <a:ext cx="2397600" cy="2293560"/>
            </a:xfrm>
            <a:prstGeom prst="frame">
              <a:avLst>
                <a:gd name="adj1" fmla="val 34083"/>
              </a:avLst>
            </a:prstGeom>
            <a:solidFill>
              <a:srgbClr val="FFFCDF"/>
            </a:solidFill>
            <a:ln w="18360">
              <a:solidFill>
                <a:srgbClr val="ED1C2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40" name="CustomShape 4"/>
            <p:cNvSpPr/>
            <p:nvPr/>
          </p:nvSpPr>
          <p:spPr>
            <a:xfrm rot="16200000">
              <a:off x="1240200" y="2416320"/>
              <a:ext cx="51840" cy="51480"/>
            </a:xfrm>
            <a:custGeom>
              <a:avLst/>
              <a:gdLst/>
              <a:ahLst/>
              <a:cxnLst/>
              <a:rect l="0" t="0" r="r" b="b"/>
              <a:pathLst>
                <a:path w="146" h="145">
                  <a:moveTo>
                    <a:pt x="72" y="0"/>
                  </a:moveTo>
                  <a:lnTo>
                    <a:pt x="145" y="144"/>
                  </a:lnTo>
                  <a:lnTo>
                    <a:pt x="0" y="144"/>
                  </a:lnTo>
                  <a:lnTo>
                    <a:pt x="72" y="0"/>
                  </a:lnTo>
                </a:path>
              </a:pathLst>
            </a:custGeom>
            <a:solidFill>
              <a:srgbClr val="00A65D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41" name="CustomShape 5"/>
            <p:cNvSpPr/>
            <p:nvPr/>
          </p:nvSpPr>
          <p:spPr>
            <a:xfrm rot="16200000">
              <a:off x="1240560" y="2033640"/>
              <a:ext cx="51480" cy="51480"/>
            </a:xfrm>
            <a:custGeom>
              <a:avLst/>
              <a:gdLst/>
              <a:ahLst/>
              <a:cxnLst/>
              <a:rect l="0" t="0" r="r" b="b"/>
              <a:pathLst>
                <a:path w="145" h="145">
                  <a:moveTo>
                    <a:pt x="72" y="0"/>
                  </a:moveTo>
                  <a:lnTo>
                    <a:pt x="144" y="144"/>
                  </a:lnTo>
                  <a:lnTo>
                    <a:pt x="0" y="144"/>
                  </a:lnTo>
                  <a:lnTo>
                    <a:pt x="72" y="0"/>
                  </a:lnTo>
                </a:path>
              </a:pathLst>
            </a:custGeom>
            <a:solidFill>
              <a:srgbClr val="0066B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42" name="CustomShape 6"/>
            <p:cNvSpPr/>
            <p:nvPr/>
          </p:nvSpPr>
          <p:spPr>
            <a:xfrm>
              <a:off x="1072080" y="2444400"/>
              <a:ext cx="1228680" cy="1126440"/>
            </a:xfrm>
            <a:prstGeom prst="rect">
              <a:avLst/>
            </a:prstGeom>
            <a:noFill/>
            <a:ln w="18360">
              <a:solidFill>
                <a:srgbClr val="00A65D"/>
              </a:solidFill>
              <a:custDash>
                <a:ds d="197000" sp="197000"/>
              </a:custDash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43" name="CustomShape 7"/>
            <p:cNvSpPr/>
            <p:nvPr/>
          </p:nvSpPr>
          <p:spPr>
            <a:xfrm>
              <a:off x="681840" y="2063520"/>
              <a:ext cx="2005920" cy="1895400"/>
            </a:xfrm>
            <a:prstGeom prst="rect">
              <a:avLst/>
            </a:prstGeom>
            <a:noFill/>
            <a:ln w="18360">
              <a:solidFill>
                <a:srgbClr val="3465A4"/>
              </a:solidFill>
              <a:custDash>
                <a:ds d="197000" sp="197000"/>
              </a:custDash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grpSp>
          <p:nvGrpSpPr>
            <p:cNvPr id="244" name="Group 8"/>
            <p:cNvGrpSpPr/>
            <p:nvPr/>
          </p:nvGrpSpPr>
          <p:grpSpPr>
            <a:xfrm>
              <a:off x="2628000" y="2992680"/>
              <a:ext cx="121680" cy="123840"/>
              <a:chOff x="2628000" y="2992680"/>
              <a:chExt cx="121680" cy="123840"/>
            </a:xfrm>
          </p:grpSpPr>
          <p:grpSp>
            <p:nvGrpSpPr>
              <p:cNvPr id="245" name="Group 9"/>
              <p:cNvGrpSpPr/>
              <p:nvPr/>
            </p:nvGrpSpPr>
            <p:grpSpPr>
              <a:xfrm>
                <a:off x="2628000" y="2992680"/>
                <a:ext cx="121680" cy="123840"/>
                <a:chOff x="2628000" y="2992680"/>
                <a:chExt cx="121680" cy="123840"/>
              </a:xfrm>
            </p:grpSpPr>
            <p:sp>
              <p:nvSpPr>
                <p:cNvPr id="246" name="Freeform 10"/>
                <p:cNvSpPr/>
                <p:nvPr/>
              </p:nvSpPr>
              <p:spPr>
                <a:xfrm>
                  <a:off x="2654640" y="3016800"/>
                  <a:ext cx="72000" cy="702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00" h="195">
                      <a:moveTo>
                        <a:pt x="0" y="32"/>
                      </a:moveTo>
                      <a:lnTo>
                        <a:pt x="30" y="3"/>
                      </a:lnTo>
                      <a:lnTo>
                        <a:pt x="98" y="72"/>
                      </a:lnTo>
                      <a:lnTo>
                        <a:pt x="170" y="0"/>
                      </a:lnTo>
                      <a:lnTo>
                        <a:pt x="199" y="29"/>
                      </a:lnTo>
                      <a:lnTo>
                        <a:pt x="127" y="101"/>
                      </a:lnTo>
                      <a:lnTo>
                        <a:pt x="191" y="164"/>
                      </a:lnTo>
                      <a:lnTo>
                        <a:pt x="160" y="194"/>
                      </a:lnTo>
                      <a:lnTo>
                        <a:pt x="98" y="131"/>
                      </a:lnTo>
                      <a:lnTo>
                        <a:pt x="37" y="191"/>
                      </a:lnTo>
                      <a:lnTo>
                        <a:pt x="9" y="160"/>
                      </a:lnTo>
                      <a:lnTo>
                        <a:pt x="69" y="101"/>
                      </a:lnTo>
                      <a:lnTo>
                        <a:pt x="0" y="32"/>
                      </a:lnTo>
                      <a:close/>
                    </a:path>
                  </a:pathLst>
                </a:custGeom>
                <a:solidFill>
                  <a:srgbClr val="729FCF"/>
                </a:solidFill>
                <a:ln w="9000">
                  <a:solidFill>
                    <a:srgbClr val="3465A4"/>
                  </a:solidFill>
                  <a:round/>
                </a:ln>
              </p:spPr>
            </p:sp>
            <p:sp>
              <p:nvSpPr>
                <p:cNvPr id="247" name="CustomShape 11"/>
                <p:cNvSpPr/>
                <p:nvPr/>
              </p:nvSpPr>
              <p:spPr>
                <a:xfrm>
                  <a:off x="2628000" y="2992680"/>
                  <a:ext cx="54360" cy="54000"/>
                </a:xfrm>
                <a:prstGeom prst="ellipse">
                  <a:avLst/>
                </a:prstGeom>
                <a:solidFill>
                  <a:srgbClr val="729FCF"/>
                </a:solidFill>
                <a:ln w="9000">
                  <a:solidFill>
                    <a:srgbClr val="3465A4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248" name="CustomShape 12"/>
                <p:cNvSpPr/>
                <p:nvPr/>
              </p:nvSpPr>
              <p:spPr>
                <a:xfrm>
                  <a:off x="2695320" y="2992680"/>
                  <a:ext cx="54360" cy="54000"/>
                </a:xfrm>
                <a:prstGeom prst="ellipse">
                  <a:avLst/>
                </a:prstGeom>
                <a:solidFill>
                  <a:srgbClr val="729FCF"/>
                </a:solidFill>
                <a:ln w="9000">
                  <a:solidFill>
                    <a:srgbClr val="3465A4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249" name="CustomShape 13"/>
                <p:cNvSpPr/>
                <p:nvPr/>
              </p:nvSpPr>
              <p:spPr>
                <a:xfrm>
                  <a:off x="2695320" y="3062160"/>
                  <a:ext cx="54360" cy="54360"/>
                </a:xfrm>
                <a:prstGeom prst="ellipse">
                  <a:avLst/>
                </a:prstGeom>
                <a:solidFill>
                  <a:srgbClr val="729FCF"/>
                </a:solidFill>
                <a:ln w="9000">
                  <a:solidFill>
                    <a:srgbClr val="3465A4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250" name="CustomShape 14"/>
                <p:cNvSpPr/>
                <p:nvPr/>
              </p:nvSpPr>
              <p:spPr>
                <a:xfrm>
                  <a:off x="2628000" y="3062160"/>
                  <a:ext cx="54360" cy="54360"/>
                </a:xfrm>
                <a:prstGeom prst="ellipse">
                  <a:avLst/>
                </a:prstGeom>
                <a:solidFill>
                  <a:srgbClr val="729FCF"/>
                </a:solidFill>
                <a:ln w="9000">
                  <a:solidFill>
                    <a:srgbClr val="3465A4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</p:grpSp>
        </p:grpSp>
        <p:grpSp>
          <p:nvGrpSpPr>
            <p:cNvPr id="251" name="Group 15"/>
            <p:cNvGrpSpPr/>
            <p:nvPr/>
          </p:nvGrpSpPr>
          <p:grpSpPr>
            <a:xfrm>
              <a:off x="2239560" y="2992680"/>
              <a:ext cx="121680" cy="123840"/>
              <a:chOff x="2239560" y="2992680"/>
              <a:chExt cx="121680" cy="123840"/>
            </a:xfrm>
          </p:grpSpPr>
          <p:grpSp>
            <p:nvGrpSpPr>
              <p:cNvPr id="252" name="Group 16"/>
              <p:cNvGrpSpPr/>
              <p:nvPr/>
            </p:nvGrpSpPr>
            <p:grpSpPr>
              <a:xfrm>
                <a:off x="2239560" y="2992680"/>
                <a:ext cx="121680" cy="123840"/>
                <a:chOff x="2239560" y="2992680"/>
                <a:chExt cx="121680" cy="123840"/>
              </a:xfrm>
            </p:grpSpPr>
            <p:sp>
              <p:nvSpPr>
                <p:cNvPr id="253" name="Freeform 17"/>
                <p:cNvSpPr/>
                <p:nvPr/>
              </p:nvSpPr>
              <p:spPr>
                <a:xfrm>
                  <a:off x="2266200" y="3016800"/>
                  <a:ext cx="72000" cy="702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00" h="195">
                      <a:moveTo>
                        <a:pt x="0" y="32"/>
                      </a:moveTo>
                      <a:lnTo>
                        <a:pt x="30" y="3"/>
                      </a:lnTo>
                      <a:lnTo>
                        <a:pt x="98" y="72"/>
                      </a:lnTo>
                      <a:lnTo>
                        <a:pt x="170" y="0"/>
                      </a:lnTo>
                      <a:lnTo>
                        <a:pt x="199" y="29"/>
                      </a:lnTo>
                      <a:lnTo>
                        <a:pt x="127" y="101"/>
                      </a:lnTo>
                      <a:lnTo>
                        <a:pt x="191" y="164"/>
                      </a:lnTo>
                      <a:lnTo>
                        <a:pt x="160" y="194"/>
                      </a:lnTo>
                      <a:lnTo>
                        <a:pt x="98" y="131"/>
                      </a:lnTo>
                      <a:lnTo>
                        <a:pt x="37" y="191"/>
                      </a:lnTo>
                      <a:lnTo>
                        <a:pt x="9" y="160"/>
                      </a:lnTo>
                      <a:lnTo>
                        <a:pt x="69" y="101"/>
                      </a:lnTo>
                      <a:lnTo>
                        <a:pt x="0" y="32"/>
                      </a:lnTo>
                      <a:close/>
                    </a:path>
                  </a:pathLst>
                </a:custGeom>
                <a:solidFill>
                  <a:srgbClr val="28A127"/>
                </a:solidFill>
                <a:ln w="9000">
                  <a:solidFill>
                    <a:srgbClr val="2B511A"/>
                  </a:solidFill>
                  <a:round/>
                </a:ln>
              </p:spPr>
            </p:sp>
            <p:sp>
              <p:nvSpPr>
                <p:cNvPr id="254" name="CustomShape 18"/>
                <p:cNvSpPr/>
                <p:nvPr/>
              </p:nvSpPr>
              <p:spPr>
                <a:xfrm>
                  <a:off x="2239560" y="2992680"/>
                  <a:ext cx="54720" cy="54000"/>
                </a:xfrm>
                <a:prstGeom prst="ellipse">
                  <a:avLst/>
                </a:prstGeom>
                <a:solidFill>
                  <a:srgbClr val="28A127"/>
                </a:solidFill>
                <a:ln w="9000">
                  <a:solidFill>
                    <a:srgbClr val="395511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255" name="CustomShape 19"/>
                <p:cNvSpPr/>
                <p:nvPr/>
              </p:nvSpPr>
              <p:spPr>
                <a:xfrm>
                  <a:off x="2306880" y="2992680"/>
                  <a:ext cx="54360" cy="54000"/>
                </a:xfrm>
                <a:prstGeom prst="ellipse">
                  <a:avLst/>
                </a:prstGeom>
                <a:solidFill>
                  <a:srgbClr val="28A127"/>
                </a:solidFill>
                <a:ln w="9000">
                  <a:solidFill>
                    <a:srgbClr val="395511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256" name="CustomShape 20"/>
                <p:cNvSpPr/>
                <p:nvPr/>
              </p:nvSpPr>
              <p:spPr>
                <a:xfrm>
                  <a:off x="2306880" y="3062160"/>
                  <a:ext cx="54360" cy="54360"/>
                </a:xfrm>
                <a:prstGeom prst="ellipse">
                  <a:avLst/>
                </a:prstGeom>
                <a:solidFill>
                  <a:srgbClr val="28A127"/>
                </a:solidFill>
                <a:ln w="9000">
                  <a:solidFill>
                    <a:srgbClr val="395511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257" name="CustomShape 21"/>
                <p:cNvSpPr/>
                <p:nvPr/>
              </p:nvSpPr>
              <p:spPr>
                <a:xfrm>
                  <a:off x="2239560" y="3062160"/>
                  <a:ext cx="54720" cy="54360"/>
                </a:xfrm>
                <a:prstGeom prst="ellipse">
                  <a:avLst/>
                </a:prstGeom>
                <a:solidFill>
                  <a:srgbClr val="28A127"/>
                </a:solidFill>
                <a:ln w="9000">
                  <a:solidFill>
                    <a:srgbClr val="395511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</p:grpSp>
        </p:grpSp>
        <p:sp>
          <p:nvSpPr>
            <p:cNvPr id="258" name="CustomShape 22"/>
            <p:cNvSpPr/>
            <p:nvPr/>
          </p:nvSpPr>
          <p:spPr>
            <a:xfrm>
              <a:off x="2273760" y="2614680"/>
              <a:ext cx="51480" cy="51120"/>
            </a:xfrm>
            <a:custGeom>
              <a:avLst/>
              <a:gdLst/>
              <a:ahLst/>
              <a:cxnLst/>
              <a:rect l="0" t="0" r="r" b="b"/>
              <a:pathLst>
                <a:path w="145" h="144">
                  <a:moveTo>
                    <a:pt x="72" y="0"/>
                  </a:moveTo>
                  <a:lnTo>
                    <a:pt x="144" y="143"/>
                  </a:lnTo>
                  <a:lnTo>
                    <a:pt x="0" y="143"/>
                  </a:lnTo>
                  <a:lnTo>
                    <a:pt x="72" y="0"/>
                  </a:lnTo>
                </a:path>
              </a:pathLst>
            </a:custGeom>
            <a:solidFill>
              <a:srgbClr val="00A65D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59" name="CustomShape 23"/>
            <p:cNvSpPr/>
            <p:nvPr/>
          </p:nvSpPr>
          <p:spPr>
            <a:xfrm>
              <a:off x="2662200" y="2614680"/>
              <a:ext cx="51840" cy="51120"/>
            </a:xfrm>
            <a:custGeom>
              <a:avLst/>
              <a:gdLst/>
              <a:ahLst/>
              <a:cxnLst/>
              <a:rect l="0" t="0" r="r" b="b"/>
              <a:pathLst>
                <a:path w="146" h="144">
                  <a:moveTo>
                    <a:pt x="72" y="0"/>
                  </a:moveTo>
                  <a:lnTo>
                    <a:pt x="145" y="143"/>
                  </a:lnTo>
                  <a:lnTo>
                    <a:pt x="0" y="143"/>
                  </a:lnTo>
                  <a:lnTo>
                    <a:pt x="72" y="0"/>
                  </a:lnTo>
                </a:path>
              </a:pathLst>
            </a:custGeom>
            <a:solidFill>
              <a:srgbClr val="0066B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60" name="CustomShape 24"/>
            <p:cNvSpPr/>
            <p:nvPr/>
          </p:nvSpPr>
          <p:spPr>
            <a:xfrm rot="10800000">
              <a:off x="1046880" y="3351600"/>
              <a:ext cx="51120" cy="51480"/>
            </a:xfrm>
            <a:custGeom>
              <a:avLst/>
              <a:gdLst/>
              <a:ahLst/>
              <a:cxnLst/>
              <a:rect l="0" t="0" r="r" b="b"/>
              <a:pathLst>
                <a:path w="144" h="145">
                  <a:moveTo>
                    <a:pt x="71" y="0"/>
                  </a:moveTo>
                  <a:lnTo>
                    <a:pt x="143" y="144"/>
                  </a:lnTo>
                  <a:lnTo>
                    <a:pt x="0" y="144"/>
                  </a:lnTo>
                  <a:lnTo>
                    <a:pt x="71" y="0"/>
                  </a:lnTo>
                </a:path>
              </a:pathLst>
            </a:custGeom>
            <a:solidFill>
              <a:srgbClr val="00A65D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61" name="CustomShape 25"/>
            <p:cNvSpPr/>
            <p:nvPr/>
          </p:nvSpPr>
          <p:spPr>
            <a:xfrm rot="10800000">
              <a:off x="658440" y="3351600"/>
              <a:ext cx="51480" cy="51480"/>
            </a:xfrm>
            <a:custGeom>
              <a:avLst/>
              <a:gdLst/>
              <a:ahLst/>
              <a:cxnLst/>
              <a:rect l="0" t="0" r="r" b="b"/>
              <a:pathLst>
                <a:path w="145" h="145">
                  <a:moveTo>
                    <a:pt x="72" y="0"/>
                  </a:moveTo>
                  <a:lnTo>
                    <a:pt x="144" y="144"/>
                  </a:lnTo>
                  <a:lnTo>
                    <a:pt x="0" y="144"/>
                  </a:lnTo>
                  <a:lnTo>
                    <a:pt x="72" y="0"/>
                  </a:lnTo>
                </a:path>
              </a:pathLst>
            </a:custGeom>
            <a:solidFill>
              <a:srgbClr val="0066B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62" name="CustomShape 26"/>
            <p:cNvSpPr/>
            <p:nvPr/>
          </p:nvSpPr>
          <p:spPr>
            <a:xfrm rot="5427600">
              <a:off x="1983960" y="3542040"/>
              <a:ext cx="51480" cy="51840"/>
            </a:xfrm>
            <a:custGeom>
              <a:avLst/>
              <a:gdLst/>
              <a:ahLst/>
              <a:cxnLst/>
              <a:rect l="0" t="0" r="r" b="b"/>
              <a:pathLst>
                <a:path w="145" h="146">
                  <a:moveTo>
                    <a:pt x="70" y="0"/>
                  </a:moveTo>
                  <a:lnTo>
                    <a:pt x="144" y="145"/>
                  </a:lnTo>
                  <a:lnTo>
                    <a:pt x="0" y="144"/>
                  </a:lnTo>
                  <a:lnTo>
                    <a:pt x="70" y="0"/>
                  </a:lnTo>
                </a:path>
              </a:pathLst>
            </a:custGeom>
            <a:solidFill>
              <a:srgbClr val="00A65D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63" name="CustomShape 27"/>
            <p:cNvSpPr/>
            <p:nvPr/>
          </p:nvSpPr>
          <p:spPr>
            <a:xfrm rot="5427600">
              <a:off x="1980720" y="3933720"/>
              <a:ext cx="51480" cy="51840"/>
            </a:xfrm>
            <a:custGeom>
              <a:avLst/>
              <a:gdLst/>
              <a:ahLst/>
              <a:cxnLst/>
              <a:rect l="0" t="0" r="r" b="b"/>
              <a:pathLst>
                <a:path w="145" h="147">
                  <a:moveTo>
                    <a:pt x="70" y="0"/>
                  </a:moveTo>
                  <a:lnTo>
                    <a:pt x="144" y="146"/>
                  </a:lnTo>
                  <a:lnTo>
                    <a:pt x="0" y="145"/>
                  </a:lnTo>
                  <a:lnTo>
                    <a:pt x="70" y="0"/>
                  </a:lnTo>
                </a:path>
              </a:pathLst>
            </a:custGeom>
            <a:solidFill>
              <a:srgbClr val="0066B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pic>
        <p:nvPicPr>
          <p:cNvPr id="264" name="Grafik 263"/>
          <p:cNvPicPr/>
          <p:nvPr/>
        </p:nvPicPr>
        <p:blipFill>
          <a:blip r:embed="rId2"/>
          <a:stretch/>
        </p:blipFill>
        <p:spPr>
          <a:xfrm>
            <a:off x="3435480" y="1877040"/>
            <a:ext cx="2527560" cy="2286000"/>
          </a:xfrm>
          <a:prstGeom prst="rect">
            <a:avLst/>
          </a:prstGeom>
          <a:ln w="18360">
            <a:solidFill>
              <a:srgbClr val="FF0000"/>
            </a:solidFill>
            <a:round/>
          </a:ln>
        </p:spPr>
      </p:pic>
      <p:sp>
        <p:nvSpPr>
          <p:cNvPr id="265" name="TextShape 28"/>
          <p:cNvSpPr txBox="1"/>
          <p:nvPr/>
        </p:nvSpPr>
        <p:spPr>
          <a:xfrm>
            <a:off x="485640" y="4184280"/>
            <a:ext cx="2563560" cy="907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200" b="0" strike="noStrike" spc="-1">
                <a:latin typeface="Calibri"/>
              </a:rPr>
              <a:t>Simulate GPS and LIDAR data from a training scenario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266" name="TextShape 29"/>
          <p:cNvSpPr txBox="1"/>
          <p:nvPr/>
        </p:nvSpPr>
        <p:spPr>
          <a:xfrm>
            <a:off x="3409200" y="4184280"/>
            <a:ext cx="2563200" cy="4791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200" b="0" strike="noStrike" spc="-1">
                <a:latin typeface="Calibri"/>
              </a:rPr>
              <a:t>Cluster sensory data to quasi-stationary segments</a:t>
            </a:r>
            <a:endParaRPr lang="en-US" sz="1200" b="0" strike="noStrike" spc="-1">
              <a:latin typeface="Arial"/>
            </a:endParaRPr>
          </a:p>
        </p:txBody>
      </p:sp>
      <p:pic>
        <p:nvPicPr>
          <p:cNvPr id="267" name="Grafik 266"/>
          <p:cNvPicPr/>
          <p:nvPr/>
        </p:nvPicPr>
        <p:blipFill>
          <a:blip r:embed="rId3"/>
          <a:stretch/>
        </p:blipFill>
        <p:spPr>
          <a:xfrm>
            <a:off x="2099880" y="979560"/>
            <a:ext cx="1744560" cy="925560"/>
          </a:xfrm>
          <a:prstGeom prst="rect">
            <a:avLst/>
          </a:prstGeom>
          <a:ln w="18360">
            <a:solidFill>
              <a:srgbClr val="FF0000"/>
            </a:solidFill>
            <a:round/>
          </a:ln>
        </p:spPr>
      </p:pic>
      <p:sp>
        <p:nvSpPr>
          <p:cNvPr id="268" name="TextShape 30"/>
          <p:cNvSpPr txBox="1"/>
          <p:nvPr/>
        </p:nvSpPr>
        <p:spPr>
          <a:xfrm>
            <a:off x="3866760" y="1253160"/>
            <a:ext cx="4343400" cy="6519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200" b="0" strike="noStrike" spc="-1">
                <a:latin typeface="Calibri"/>
              </a:rPr>
              <a:t>Reduce high dimensional LIDAR </a:t>
            </a:r>
            <a:endParaRPr lang="en-US" sz="1200" b="0" strike="noStrike" spc="-1">
              <a:latin typeface="Arial"/>
            </a:endParaRPr>
          </a:p>
          <a:p>
            <a:r>
              <a:rPr lang="en-US" sz="1200" b="0" strike="noStrike" spc="-1">
                <a:latin typeface="Calibri"/>
              </a:rPr>
              <a:t>data with neural auto-encoders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269" name="CustomShape 31"/>
          <p:cNvSpPr/>
          <p:nvPr/>
        </p:nvSpPr>
        <p:spPr>
          <a:xfrm>
            <a:off x="582840" y="1944000"/>
            <a:ext cx="355680" cy="356040"/>
          </a:xfrm>
          <a:prstGeom prst="ellipse">
            <a:avLst/>
          </a:prstGeom>
          <a:solidFill>
            <a:srgbClr val="729FC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en-US" sz="1800" b="1" strike="noStrike" spc="-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0" name="CustomShape 32"/>
          <p:cNvSpPr/>
          <p:nvPr/>
        </p:nvSpPr>
        <p:spPr>
          <a:xfrm>
            <a:off x="1909440" y="872640"/>
            <a:ext cx="356040" cy="356040"/>
          </a:xfrm>
          <a:prstGeom prst="ellipse">
            <a:avLst/>
          </a:prstGeom>
          <a:solidFill>
            <a:srgbClr val="729FC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en-US" sz="1800" b="1" strike="noStrike" spc="-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1" name="CustomShape 33"/>
          <p:cNvSpPr/>
          <p:nvPr/>
        </p:nvSpPr>
        <p:spPr>
          <a:xfrm>
            <a:off x="3512520" y="1951560"/>
            <a:ext cx="356040" cy="356040"/>
          </a:xfrm>
          <a:prstGeom prst="ellipse">
            <a:avLst/>
          </a:prstGeom>
          <a:solidFill>
            <a:srgbClr val="729FC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en-US" sz="1800" b="1" strike="noStrike" spc="-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2" name="CustomShape 34"/>
          <p:cNvSpPr/>
          <p:nvPr/>
        </p:nvSpPr>
        <p:spPr>
          <a:xfrm>
            <a:off x="6548040" y="1979640"/>
            <a:ext cx="356040" cy="356040"/>
          </a:xfrm>
          <a:prstGeom prst="ellipse">
            <a:avLst/>
          </a:prstGeom>
          <a:solidFill>
            <a:srgbClr val="729FC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en-US" sz="1800" b="1" strike="noStrike" spc="-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3" name="TextShape 35"/>
          <p:cNvSpPr txBox="1"/>
          <p:nvPr/>
        </p:nvSpPr>
        <p:spPr>
          <a:xfrm>
            <a:off x="8504280" y="466344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9DE5B707-7823-4B3D-B932-B29FB00F7B2E}" type="slidenum">
              <a:rPr lang="en-GB" sz="1000" b="0" strike="noStrike" spc="-1">
                <a:solidFill>
                  <a:srgbClr val="595959"/>
                </a:solidFill>
                <a:latin typeface="Arial"/>
                <a:ea typeface="Arial"/>
              </a:rPr>
              <a:t>7</a:t>
            </a:fld>
            <a:endParaRPr lang="en-US" sz="1000" b="0" strike="noStrike" spc="-1">
              <a:latin typeface="Times New Roman"/>
            </a:endParaRPr>
          </a:p>
        </p:txBody>
      </p:sp>
      <p:grpSp>
        <p:nvGrpSpPr>
          <p:cNvPr id="274" name="Group 36"/>
          <p:cNvGrpSpPr/>
          <p:nvPr/>
        </p:nvGrpSpPr>
        <p:grpSpPr>
          <a:xfrm>
            <a:off x="6375600" y="2374560"/>
            <a:ext cx="2479320" cy="1083600"/>
            <a:chOff x="6375600" y="2374560"/>
            <a:chExt cx="2479320" cy="1083600"/>
          </a:xfrm>
        </p:grpSpPr>
        <p:sp>
          <p:nvSpPr>
            <p:cNvPr id="275" name="Freeform 37"/>
            <p:cNvSpPr/>
            <p:nvPr/>
          </p:nvSpPr>
          <p:spPr>
            <a:xfrm>
              <a:off x="6584760" y="2898360"/>
              <a:ext cx="106200" cy="36000"/>
            </a:xfrm>
            <a:custGeom>
              <a:avLst/>
              <a:gdLst/>
              <a:ahLst/>
              <a:cxnLst/>
              <a:rect l="0" t="0" r="r" b="b"/>
              <a:pathLst>
                <a:path w="295" h="100">
                  <a:moveTo>
                    <a:pt x="279" y="16"/>
                  </a:moveTo>
                  <a:cubicBezTo>
                    <a:pt x="286" y="16"/>
                    <a:pt x="294" y="16"/>
                    <a:pt x="294" y="8"/>
                  </a:cubicBezTo>
                  <a:cubicBezTo>
                    <a:pt x="294" y="0"/>
                    <a:pt x="286" y="0"/>
                    <a:pt x="280" y="0"/>
                  </a:cubicBezTo>
                  <a:lnTo>
                    <a:pt x="15" y="0"/>
                  </a:lnTo>
                  <a:cubicBezTo>
                    <a:pt x="9" y="0"/>
                    <a:pt x="0" y="0"/>
                    <a:pt x="0" y="8"/>
                  </a:cubicBezTo>
                  <a:cubicBezTo>
                    <a:pt x="0" y="16"/>
                    <a:pt x="9" y="16"/>
                    <a:pt x="15" y="16"/>
                  </a:cubicBezTo>
                  <a:lnTo>
                    <a:pt x="279" y="16"/>
                  </a:lnTo>
                  <a:moveTo>
                    <a:pt x="280" y="99"/>
                  </a:moveTo>
                  <a:cubicBezTo>
                    <a:pt x="286" y="99"/>
                    <a:pt x="294" y="99"/>
                    <a:pt x="294" y="90"/>
                  </a:cubicBezTo>
                  <a:cubicBezTo>
                    <a:pt x="294" y="82"/>
                    <a:pt x="286" y="82"/>
                    <a:pt x="279" y="82"/>
                  </a:cubicBezTo>
                  <a:lnTo>
                    <a:pt x="15" y="82"/>
                  </a:lnTo>
                  <a:cubicBezTo>
                    <a:pt x="9" y="82"/>
                    <a:pt x="0" y="82"/>
                    <a:pt x="0" y="90"/>
                  </a:cubicBezTo>
                  <a:cubicBezTo>
                    <a:pt x="0" y="99"/>
                    <a:pt x="9" y="99"/>
                    <a:pt x="15" y="99"/>
                  </a:cubicBezTo>
                  <a:lnTo>
                    <a:pt x="280" y="99"/>
                  </a:lnTo>
                  <a:close/>
                </a:path>
              </a:pathLst>
            </a:custGeom>
            <a:solidFill>
              <a:srgbClr val="000000"/>
            </a:solidFill>
            <a:ln w="15840">
              <a:noFill/>
            </a:ln>
          </p:spPr>
        </p:sp>
        <p:sp>
          <p:nvSpPr>
            <p:cNvPr id="276" name="Freeform 38"/>
            <p:cNvSpPr/>
            <p:nvPr/>
          </p:nvSpPr>
          <p:spPr>
            <a:xfrm>
              <a:off x="6790320" y="2374560"/>
              <a:ext cx="88200" cy="272880"/>
            </a:xfrm>
            <a:custGeom>
              <a:avLst/>
              <a:gdLst/>
              <a:ahLst/>
              <a:cxnLst/>
              <a:rect l="0" t="0" r="r" b="b"/>
              <a:pathLst>
                <a:path w="245" h="758">
                  <a:moveTo>
                    <a:pt x="37" y="757"/>
                  </a:moveTo>
                  <a:cubicBezTo>
                    <a:pt x="47" y="757"/>
                    <a:pt x="50" y="757"/>
                    <a:pt x="50" y="752"/>
                  </a:cubicBezTo>
                  <a:cubicBezTo>
                    <a:pt x="51" y="458"/>
                    <a:pt x="87" y="214"/>
                    <a:pt x="242" y="9"/>
                  </a:cubicBezTo>
                  <a:cubicBezTo>
                    <a:pt x="244" y="6"/>
                    <a:pt x="244" y="5"/>
                    <a:pt x="244" y="4"/>
                  </a:cubicBezTo>
                  <a:cubicBezTo>
                    <a:pt x="244" y="0"/>
                    <a:pt x="242" y="0"/>
                    <a:pt x="234" y="0"/>
                  </a:cubicBezTo>
                  <a:cubicBezTo>
                    <a:pt x="227" y="0"/>
                    <a:pt x="226" y="0"/>
                    <a:pt x="226" y="1"/>
                  </a:cubicBezTo>
                  <a:cubicBezTo>
                    <a:pt x="223" y="1"/>
                    <a:pt x="167" y="63"/>
                    <a:pt x="123" y="148"/>
                  </a:cubicBezTo>
                  <a:cubicBezTo>
                    <a:pt x="63" y="257"/>
                    <a:pt x="27" y="384"/>
                    <a:pt x="11" y="537"/>
                  </a:cubicBezTo>
                  <a:cubicBezTo>
                    <a:pt x="9" y="549"/>
                    <a:pt x="0" y="636"/>
                    <a:pt x="0" y="737"/>
                  </a:cubicBezTo>
                  <a:lnTo>
                    <a:pt x="0" y="752"/>
                  </a:lnTo>
                  <a:cubicBezTo>
                    <a:pt x="0" y="757"/>
                    <a:pt x="2" y="757"/>
                    <a:pt x="11" y="757"/>
                  </a:cubicBezTo>
                  <a:lnTo>
                    <a:pt x="37" y="757"/>
                  </a:lnTo>
                  <a:close/>
                </a:path>
              </a:pathLst>
            </a:custGeom>
            <a:solidFill>
              <a:srgbClr val="000000"/>
            </a:solidFill>
            <a:ln w="15840">
              <a:noFill/>
            </a:ln>
          </p:spPr>
        </p:sp>
        <p:sp>
          <p:nvSpPr>
            <p:cNvPr id="277" name="Freeform 39"/>
            <p:cNvSpPr/>
            <p:nvPr/>
          </p:nvSpPr>
          <p:spPr>
            <a:xfrm>
              <a:off x="6790320" y="2643840"/>
              <a:ext cx="18720" cy="94320"/>
            </a:xfrm>
            <a:custGeom>
              <a:avLst/>
              <a:gdLst/>
              <a:ahLst/>
              <a:cxnLst/>
              <a:rect l="0" t="0" r="r" b="b"/>
              <a:pathLst>
                <a:path w="52" h="262">
                  <a:moveTo>
                    <a:pt x="51" y="11"/>
                  </a:moveTo>
                  <a:cubicBezTo>
                    <a:pt x="51" y="0"/>
                    <a:pt x="50" y="0"/>
                    <a:pt x="37" y="0"/>
                  </a:cubicBezTo>
                  <a:lnTo>
                    <a:pt x="14" y="0"/>
                  </a:lnTo>
                  <a:cubicBezTo>
                    <a:pt x="0" y="0"/>
                    <a:pt x="0" y="0"/>
                    <a:pt x="0" y="11"/>
                  </a:cubicBezTo>
                  <a:lnTo>
                    <a:pt x="0" y="248"/>
                  </a:lnTo>
                  <a:cubicBezTo>
                    <a:pt x="0" y="261"/>
                    <a:pt x="0" y="261"/>
                    <a:pt x="14" y="261"/>
                  </a:cubicBezTo>
                  <a:lnTo>
                    <a:pt x="37" y="261"/>
                  </a:lnTo>
                  <a:cubicBezTo>
                    <a:pt x="50" y="261"/>
                    <a:pt x="51" y="261"/>
                    <a:pt x="51" y="248"/>
                  </a:cubicBezTo>
                  <a:lnTo>
                    <a:pt x="51" y="11"/>
                  </a:lnTo>
                  <a:close/>
                </a:path>
              </a:pathLst>
            </a:custGeom>
            <a:solidFill>
              <a:srgbClr val="000000"/>
            </a:solidFill>
            <a:ln w="15840">
              <a:noFill/>
            </a:ln>
          </p:spPr>
        </p:sp>
        <p:sp>
          <p:nvSpPr>
            <p:cNvPr id="278" name="Freeform 40"/>
            <p:cNvSpPr/>
            <p:nvPr/>
          </p:nvSpPr>
          <p:spPr>
            <a:xfrm>
              <a:off x="6790320" y="2734200"/>
              <a:ext cx="18720" cy="94320"/>
            </a:xfrm>
            <a:custGeom>
              <a:avLst/>
              <a:gdLst/>
              <a:ahLst/>
              <a:cxnLst/>
              <a:rect l="0" t="0" r="r" b="b"/>
              <a:pathLst>
                <a:path w="52" h="262">
                  <a:moveTo>
                    <a:pt x="51" y="11"/>
                  </a:moveTo>
                  <a:cubicBezTo>
                    <a:pt x="51" y="0"/>
                    <a:pt x="50" y="0"/>
                    <a:pt x="37" y="0"/>
                  </a:cubicBezTo>
                  <a:lnTo>
                    <a:pt x="14" y="0"/>
                  </a:lnTo>
                  <a:cubicBezTo>
                    <a:pt x="0" y="0"/>
                    <a:pt x="0" y="0"/>
                    <a:pt x="0" y="11"/>
                  </a:cubicBezTo>
                  <a:lnTo>
                    <a:pt x="0" y="248"/>
                  </a:lnTo>
                  <a:cubicBezTo>
                    <a:pt x="0" y="261"/>
                    <a:pt x="0" y="261"/>
                    <a:pt x="14" y="261"/>
                  </a:cubicBezTo>
                  <a:lnTo>
                    <a:pt x="37" y="261"/>
                  </a:lnTo>
                  <a:cubicBezTo>
                    <a:pt x="50" y="261"/>
                    <a:pt x="51" y="261"/>
                    <a:pt x="51" y="248"/>
                  </a:cubicBezTo>
                  <a:lnTo>
                    <a:pt x="51" y="11"/>
                  </a:lnTo>
                  <a:close/>
                </a:path>
              </a:pathLst>
            </a:custGeom>
            <a:solidFill>
              <a:srgbClr val="000000"/>
            </a:solidFill>
            <a:ln w="15840">
              <a:noFill/>
            </a:ln>
          </p:spPr>
        </p:sp>
        <p:sp>
          <p:nvSpPr>
            <p:cNvPr id="279" name="Freeform 41"/>
            <p:cNvSpPr/>
            <p:nvPr/>
          </p:nvSpPr>
          <p:spPr>
            <a:xfrm>
              <a:off x="6790320" y="2824200"/>
              <a:ext cx="18720" cy="94320"/>
            </a:xfrm>
            <a:custGeom>
              <a:avLst/>
              <a:gdLst/>
              <a:ahLst/>
              <a:cxnLst/>
              <a:rect l="0" t="0" r="r" b="b"/>
              <a:pathLst>
                <a:path w="52" h="262">
                  <a:moveTo>
                    <a:pt x="51" y="11"/>
                  </a:moveTo>
                  <a:cubicBezTo>
                    <a:pt x="51" y="0"/>
                    <a:pt x="50" y="0"/>
                    <a:pt x="37" y="0"/>
                  </a:cubicBezTo>
                  <a:lnTo>
                    <a:pt x="14" y="0"/>
                  </a:lnTo>
                  <a:cubicBezTo>
                    <a:pt x="0" y="0"/>
                    <a:pt x="0" y="0"/>
                    <a:pt x="0" y="11"/>
                  </a:cubicBezTo>
                  <a:lnTo>
                    <a:pt x="0" y="248"/>
                  </a:lnTo>
                  <a:cubicBezTo>
                    <a:pt x="0" y="261"/>
                    <a:pt x="0" y="261"/>
                    <a:pt x="14" y="261"/>
                  </a:cubicBezTo>
                  <a:lnTo>
                    <a:pt x="37" y="261"/>
                  </a:lnTo>
                  <a:cubicBezTo>
                    <a:pt x="50" y="261"/>
                    <a:pt x="51" y="261"/>
                    <a:pt x="51" y="248"/>
                  </a:cubicBezTo>
                  <a:lnTo>
                    <a:pt x="51" y="11"/>
                  </a:lnTo>
                  <a:close/>
                </a:path>
              </a:pathLst>
            </a:custGeom>
            <a:solidFill>
              <a:srgbClr val="000000"/>
            </a:solidFill>
            <a:ln w="15840">
              <a:noFill/>
            </a:ln>
          </p:spPr>
        </p:sp>
        <p:sp>
          <p:nvSpPr>
            <p:cNvPr id="280" name="Freeform 42"/>
            <p:cNvSpPr/>
            <p:nvPr/>
          </p:nvSpPr>
          <p:spPr>
            <a:xfrm>
              <a:off x="6790320" y="2914920"/>
              <a:ext cx="18720" cy="94320"/>
            </a:xfrm>
            <a:custGeom>
              <a:avLst/>
              <a:gdLst/>
              <a:ahLst/>
              <a:cxnLst/>
              <a:rect l="0" t="0" r="r" b="b"/>
              <a:pathLst>
                <a:path w="52" h="262">
                  <a:moveTo>
                    <a:pt x="51" y="11"/>
                  </a:moveTo>
                  <a:cubicBezTo>
                    <a:pt x="51" y="0"/>
                    <a:pt x="50" y="0"/>
                    <a:pt x="37" y="0"/>
                  </a:cubicBezTo>
                  <a:lnTo>
                    <a:pt x="14" y="0"/>
                  </a:lnTo>
                  <a:cubicBezTo>
                    <a:pt x="0" y="0"/>
                    <a:pt x="0" y="0"/>
                    <a:pt x="0" y="11"/>
                  </a:cubicBezTo>
                  <a:lnTo>
                    <a:pt x="0" y="248"/>
                  </a:lnTo>
                  <a:cubicBezTo>
                    <a:pt x="0" y="261"/>
                    <a:pt x="0" y="261"/>
                    <a:pt x="14" y="261"/>
                  </a:cubicBezTo>
                  <a:lnTo>
                    <a:pt x="37" y="261"/>
                  </a:lnTo>
                  <a:cubicBezTo>
                    <a:pt x="50" y="261"/>
                    <a:pt x="51" y="261"/>
                    <a:pt x="51" y="248"/>
                  </a:cubicBezTo>
                  <a:lnTo>
                    <a:pt x="51" y="11"/>
                  </a:lnTo>
                  <a:close/>
                </a:path>
              </a:pathLst>
            </a:custGeom>
            <a:solidFill>
              <a:srgbClr val="000000"/>
            </a:solidFill>
            <a:ln w="15840">
              <a:noFill/>
            </a:ln>
          </p:spPr>
        </p:sp>
        <p:sp>
          <p:nvSpPr>
            <p:cNvPr id="281" name="Freeform 43"/>
            <p:cNvSpPr/>
            <p:nvPr/>
          </p:nvSpPr>
          <p:spPr>
            <a:xfrm>
              <a:off x="6790320" y="3004920"/>
              <a:ext cx="18720" cy="94320"/>
            </a:xfrm>
            <a:custGeom>
              <a:avLst/>
              <a:gdLst/>
              <a:ahLst/>
              <a:cxnLst/>
              <a:rect l="0" t="0" r="r" b="b"/>
              <a:pathLst>
                <a:path w="52" h="262">
                  <a:moveTo>
                    <a:pt x="51" y="11"/>
                  </a:moveTo>
                  <a:cubicBezTo>
                    <a:pt x="51" y="0"/>
                    <a:pt x="50" y="0"/>
                    <a:pt x="37" y="0"/>
                  </a:cubicBezTo>
                  <a:lnTo>
                    <a:pt x="14" y="0"/>
                  </a:lnTo>
                  <a:cubicBezTo>
                    <a:pt x="0" y="0"/>
                    <a:pt x="0" y="0"/>
                    <a:pt x="0" y="11"/>
                  </a:cubicBezTo>
                  <a:lnTo>
                    <a:pt x="0" y="248"/>
                  </a:lnTo>
                  <a:cubicBezTo>
                    <a:pt x="0" y="261"/>
                    <a:pt x="0" y="261"/>
                    <a:pt x="14" y="261"/>
                  </a:cubicBezTo>
                  <a:lnTo>
                    <a:pt x="37" y="261"/>
                  </a:lnTo>
                  <a:cubicBezTo>
                    <a:pt x="50" y="261"/>
                    <a:pt x="51" y="261"/>
                    <a:pt x="51" y="248"/>
                  </a:cubicBezTo>
                  <a:lnTo>
                    <a:pt x="51" y="11"/>
                  </a:lnTo>
                  <a:close/>
                </a:path>
              </a:pathLst>
            </a:custGeom>
            <a:solidFill>
              <a:srgbClr val="000000"/>
            </a:solidFill>
            <a:ln w="15840">
              <a:noFill/>
            </a:ln>
          </p:spPr>
        </p:sp>
        <p:sp>
          <p:nvSpPr>
            <p:cNvPr id="282" name="Freeform 44"/>
            <p:cNvSpPr/>
            <p:nvPr/>
          </p:nvSpPr>
          <p:spPr>
            <a:xfrm>
              <a:off x="6790320" y="3095280"/>
              <a:ext cx="18720" cy="94320"/>
            </a:xfrm>
            <a:custGeom>
              <a:avLst/>
              <a:gdLst/>
              <a:ahLst/>
              <a:cxnLst/>
              <a:rect l="0" t="0" r="r" b="b"/>
              <a:pathLst>
                <a:path w="52" h="262">
                  <a:moveTo>
                    <a:pt x="51" y="11"/>
                  </a:moveTo>
                  <a:cubicBezTo>
                    <a:pt x="51" y="0"/>
                    <a:pt x="50" y="0"/>
                    <a:pt x="37" y="0"/>
                  </a:cubicBezTo>
                  <a:lnTo>
                    <a:pt x="14" y="0"/>
                  </a:lnTo>
                  <a:cubicBezTo>
                    <a:pt x="0" y="0"/>
                    <a:pt x="0" y="0"/>
                    <a:pt x="0" y="11"/>
                  </a:cubicBezTo>
                  <a:lnTo>
                    <a:pt x="0" y="248"/>
                  </a:lnTo>
                  <a:cubicBezTo>
                    <a:pt x="0" y="261"/>
                    <a:pt x="0" y="261"/>
                    <a:pt x="14" y="261"/>
                  </a:cubicBezTo>
                  <a:lnTo>
                    <a:pt x="37" y="261"/>
                  </a:lnTo>
                  <a:cubicBezTo>
                    <a:pt x="50" y="261"/>
                    <a:pt x="51" y="261"/>
                    <a:pt x="51" y="248"/>
                  </a:cubicBezTo>
                  <a:lnTo>
                    <a:pt x="51" y="11"/>
                  </a:lnTo>
                  <a:close/>
                </a:path>
              </a:pathLst>
            </a:custGeom>
            <a:solidFill>
              <a:srgbClr val="000000"/>
            </a:solidFill>
            <a:ln w="15840">
              <a:noFill/>
            </a:ln>
          </p:spPr>
        </p:sp>
        <p:sp>
          <p:nvSpPr>
            <p:cNvPr id="283" name="Freeform 45"/>
            <p:cNvSpPr/>
            <p:nvPr/>
          </p:nvSpPr>
          <p:spPr>
            <a:xfrm>
              <a:off x="6790320" y="3185640"/>
              <a:ext cx="88200" cy="272880"/>
            </a:xfrm>
            <a:custGeom>
              <a:avLst/>
              <a:gdLst/>
              <a:ahLst/>
              <a:cxnLst/>
              <a:rect l="0" t="0" r="r" b="b"/>
              <a:pathLst>
                <a:path w="245" h="758">
                  <a:moveTo>
                    <a:pt x="11" y="0"/>
                  </a:moveTo>
                  <a:cubicBezTo>
                    <a:pt x="2" y="0"/>
                    <a:pt x="0" y="0"/>
                    <a:pt x="0" y="5"/>
                  </a:cubicBezTo>
                  <a:lnTo>
                    <a:pt x="0" y="21"/>
                  </a:lnTo>
                  <a:cubicBezTo>
                    <a:pt x="0" y="277"/>
                    <a:pt x="48" y="426"/>
                    <a:pt x="62" y="469"/>
                  </a:cubicBezTo>
                  <a:cubicBezTo>
                    <a:pt x="93" y="562"/>
                    <a:pt x="141" y="660"/>
                    <a:pt x="216" y="746"/>
                  </a:cubicBezTo>
                  <a:cubicBezTo>
                    <a:pt x="223" y="753"/>
                    <a:pt x="224" y="756"/>
                    <a:pt x="226" y="756"/>
                  </a:cubicBezTo>
                  <a:cubicBezTo>
                    <a:pt x="226" y="756"/>
                    <a:pt x="227" y="757"/>
                    <a:pt x="234" y="757"/>
                  </a:cubicBezTo>
                  <a:cubicBezTo>
                    <a:pt x="242" y="757"/>
                    <a:pt x="244" y="757"/>
                    <a:pt x="244" y="752"/>
                  </a:cubicBezTo>
                  <a:lnTo>
                    <a:pt x="242" y="748"/>
                  </a:lnTo>
                  <a:cubicBezTo>
                    <a:pt x="94" y="554"/>
                    <a:pt x="50" y="322"/>
                    <a:pt x="50" y="6"/>
                  </a:cubicBezTo>
                  <a:cubicBezTo>
                    <a:pt x="50" y="0"/>
                    <a:pt x="47" y="0"/>
                    <a:pt x="37" y="0"/>
                  </a:cubicBezTo>
                  <a:lnTo>
                    <a:pt x="11" y="0"/>
                  </a:lnTo>
                  <a:close/>
                </a:path>
              </a:pathLst>
            </a:custGeom>
            <a:solidFill>
              <a:srgbClr val="000000"/>
            </a:solidFill>
            <a:ln w="15840">
              <a:noFill/>
            </a:ln>
          </p:spPr>
        </p:sp>
        <p:sp>
          <p:nvSpPr>
            <p:cNvPr id="284" name="Freeform 46"/>
            <p:cNvSpPr/>
            <p:nvPr/>
          </p:nvSpPr>
          <p:spPr>
            <a:xfrm>
              <a:off x="6897240" y="2572200"/>
              <a:ext cx="17640" cy="16920"/>
            </a:xfrm>
            <a:custGeom>
              <a:avLst/>
              <a:gdLst/>
              <a:ahLst/>
              <a:cxnLst/>
              <a:rect l="0" t="0" r="r" b="b"/>
              <a:pathLst>
                <a:path w="49" h="47">
                  <a:moveTo>
                    <a:pt x="48" y="23"/>
                  </a:moveTo>
                  <a:cubicBezTo>
                    <a:pt x="48" y="11"/>
                    <a:pt x="37" y="0"/>
                    <a:pt x="25" y="0"/>
                  </a:cubicBezTo>
                  <a:cubicBezTo>
                    <a:pt x="11" y="0"/>
                    <a:pt x="0" y="11"/>
                    <a:pt x="0" y="23"/>
                  </a:cubicBezTo>
                  <a:cubicBezTo>
                    <a:pt x="0" y="35"/>
                    <a:pt x="11" y="46"/>
                    <a:pt x="25" y="46"/>
                  </a:cubicBezTo>
                  <a:cubicBezTo>
                    <a:pt x="37" y="46"/>
                    <a:pt x="48" y="35"/>
                    <a:pt x="48" y="23"/>
                  </a:cubicBezTo>
                  <a:close/>
                </a:path>
              </a:pathLst>
            </a:custGeom>
            <a:solidFill>
              <a:srgbClr val="000000"/>
            </a:solidFill>
            <a:ln w="15840">
              <a:noFill/>
            </a:ln>
          </p:spPr>
        </p:sp>
        <p:sp>
          <p:nvSpPr>
            <p:cNvPr id="285" name="Freeform 47"/>
            <p:cNvSpPr/>
            <p:nvPr/>
          </p:nvSpPr>
          <p:spPr>
            <a:xfrm>
              <a:off x="6967440" y="2572200"/>
              <a:ext cx="17640" cy="16920"/>
            </a:xfrm>
            <a:custGeom>
              <a:avLst/>
              <a:gdLst/>
              <a:ahLst/>
              <a:cxnLst/>
              <a:rect l="0" t="0" r="r" b="b"/>
              <a:pathLst>
                <a:path w="49" h="47">
                  <a:moveTo>
                    <a:pt x="48" y="23"/>
                  </a:moveTo>
                  <a:cubicBezTo>
                    <a:pt x="48" y="11"/>
                    <a:pt x="37" y="0"/>
                    <a:pt x="25" y="0"/>
                  </a:cubicBezTo>
                  <a:cubicBezTo>
                    <a:pt x="11" y="0"/>
                    <a:pt x="0" y="11"/>
                    <a:pt x="0" y="23"/>
                  </a:cubicBezTo>
                  <a:cubicBezTo>
                    <a:pt x="0" y="35"/>
                    <a:pt x="11" y="46"/>
                    <a:pt x="25" y="46"/>
                  </a:cubicBezTo>
                  <a:cubicBezTo>
                    <a:pt x="37" y="46"/>
                    <a:pt x="48" y="35"/>
                    <a:pt x="48" y="23"/>
                  </a:cubicBezTo>
                  <a:close/>
                </a:path>
              </a:pathLst>
            </a:custGeom>
            <a:solidFill>
              <a:srgbClr val="000000"/>
            </a:solidFill>
            <a:ln w="15840">
              <a:noFill/>
            </a:ln>
          </p:spPr>
        </p:sp>
        <p:sp>
          <p:nvSpPr>
            <p:cNvPr id="286" name="Freeform 48"/>
            <p:cNvSpPr/>
            <p:nvPr/>
          </p:nvSpPr>
          <p:spPr>
            <a:xfrm>
              <a:off x="7038360" y="2572200"/>
              <a:ext cx="17640" cy="16920"/>
            </a:xfrm>
            <a:custGeom>
              <a:avLst/>
              <a:gdLst/>
              <a:ahLst/>
              <a:cxnLst/>
              <a:rect l="0" t="0" r="r" b="b"/>
              <a:pathLst>
                <a:path w="49" h="47">
                  <a:moveTo>
                    <a:pt x="48" y="23"/>
                  </a:moveTo>
                  <a:cubicBezTo>
                    <a:pt x="48" y="11"/>
                    <a:pt x="37" y="0"/>
                    <a:pt x="25" y="0"/>
                  </a:cubicBezTo>
                  <a:cubicBezTo>
                    <a:pt x="11" y="0"/>
                    <a:pt x="0" y="11"/>
                    <a:pt x="0" y="23"/>
                  </a:cubicBezTo>
                  <a:cubicBezTo>
                    <a:pt x="0" y="35"/>
                    <a:pt x="11" y="46"/>
                    <a:pt x="25" y="46"/>
                  </a:cubicBezTo>
                  <a:cubicBezTo>
                    <a:pt x="37" y="46"/>
                    <a:pt x="48" y="35"/>
                    <a:pt x="48" y="23"/>
                  </a:cubicBezTo>
                  <a:close/>
                </a:path>
              </a:pathLst>
            </a:custGeom>
            <a:solidFill>
              <a:srgbClr val="000000"/>
            </a:solidFill>
            <a:ln w="15840">
              <a:noFill/>
            </a:ln>
          </p:spPr>
        </p:sp>
        <p:sp>
          <p:nvSpPr>
            <p:cNvPr id="287" name="Freeform 49"/>
            <p:cNvSpPr/>
            <p:nvPr/>
          </p:nvSpPr>
          <p:spPr>
            <a:xfrm>
              <a:off x="7827120" y="2451960"/>
              <a:ext cx="17640" cy="16920"/>
            </a:xfrm>
            <a:custGeom>
              <a:avLst/>
              <a:gdLst/>
              <a:ahLst/>
              <a:cxnLst/>
              <a:rect l="0" t="0" r="r" b="b"/>
              <a:pathLst>
                <a:path w="49" h="47">
                  <a:moveTo>
                    <a:pt x="48" y="23"/>
                  </a:moveTo>
                  <a:cubicBezTo>
                    <a:pt x="48" y="11"/>
                    <a:pt x="37" y="0"/>
                    <a:pt x="25" y="0"/>
                  </a:cubicBezTo>
                  <a:cubicBezTo>
                    <a:pt x="11" y="0"/>
                    <a:pt x="0" y="11"/>
                    <a:pt x="0" y="23"/>
                  </a:cubicBezTo>
                  <a:cubicBezTo>
                    <a:pt x="0" y="35"/>
                    <a:pt x="11" y="46"/>
                    <a:pt x="25" y="46"/>
                  </a:cubicBezTo>
                  <a:cubicBezTo>
                    <a:pt x="37" y="46"/>
                    <a:pt x="48" y="35"/>
                    <a:pt x="48" y="23"/>
                  </a:cubicBezTo>
                  <a:close/>
                </a:path>
              </a:pathLst>
            </a:custGeom>
            <a:solidFill>
              <a:srgbClr val="000000"/>
            </a:solidFill>
            <a:ln w="15840">
              <a:noFill/>
            </a:ln>
          </p:spPr>
        </p:sp>
        <p:sp>
          <p:nvSpPr>
            <p:cNvPr id="288" name="Freeform 50"/>
            <p:cNvSpPr/>
            <p:nvPr/>
          </p:nvSpPr>
          <p:spPr>
            <a:xfrm>
              <a:off x="7827120" y="2512440"/>
              <a:ext cx="17640" cy="16920"/>
            </a:xfrm>
            <a:custGeom>
              <a:avLst/>
              <a:gdLst/>
              <a:ahLst/>
              <a:cxnLst/>
              <a:rect l="0" t="0" r="r" b="b"/>
              <a:pathLst>
                <a:path w="49" h="47">
                  <a:moveTo>
                    <a:pt x="48" y="23"/>
                  </a:moveTo>
                  <a:cubicBezTo>
                    <a:pt x="48" y="11"/>
                    <a:pt x="37" y="0"/>
                    <a:pt x="25" y="0"/>
                  </a:cubicBezTo>
                  <a:cubicBezTo>
                    <a:pt x="11" y="0"/>
                    <a:pt x="0" y="11"/>
                    <a:pt x="0" y="23"/>
                  </a:cubicBezTo>
                  <a:cubicBezTo>
                    <a:pt x="0" y="35"/>
                    <a:pt x="11" y="46"/>
                    <a:pt x="25" y="46"/>
                  </a:cubicBezTo>
                  <a:cubicBezTo>
                    <a:pt x="37" y="46"/>
                    <a:pt x="48" y="35"/>
                    <a:pt x="48" y="23"/>
                  </a:cubicBezTo>
                  <a:close/>
                </a:path>
              </a:pathLst>
            </a:custGeom>
            <a:solidFill>
              <a:srgbClr val="000000"/>
            </a:solidFill>
            <a:ln w="15840">
              <a:noFill/>
            </a:ln>
          </p:spPr>
        </p:sp>
        <p:sp>
          <p:nvSpPr>
            <p:cNvPr id="289" name="Freeform 51"/>
            <p:cNvSpPr/>
            <p:nvPr/>
          </p:nvSpPr>
          <p:spPr>
            <a:xfrm>
              <a:off x="7827120" y="2572200"/>
              <a:ext cx="17640" cy="16920"/>
            </a:xfrm>
            <a:custGeom>
              <a:avLst/>
              <a:gdLst/>
              <a:ahLst/>
              <a:cxnLst/>
              <a:rect l="0" t="0" r="r" b="b"/>
              <a:pathLst>
                <a:path w="49" h="47">
                  <a:moveTo>
                    <a:pt x="48" y="23"/>
                  </a:moveTo>
                  <a:cubicBezTo>
                    <a:pt x="48" y="11"/>
                    <a:pt x="37" y="0"/>
                    <a:pt x="25" y="0"/>
                  </a:cubicBezTo>
                  <a:cubicBezTo>
                    <a:pt x="11" y="0"/>
                    <a:pt x="0" y="11"/>
                    <a:pt x="0" y="23"/>
                  </a:cubicBezTo>
                  <a:cubicBezTo>
                    <a:pt x="0" y="35"/>
                    <a:pt x="11" y="46"/>
                    <a:pt x="25" y="46"/>
                  </a:cubicBezTo>
                  <a:cubicBezTo>
                    <a:pt x="37" y="46"/>
                    <a:pt x="48" y="35"/>
                    <a:pt x="48" y="23"/>
                  </a:cubicBezTo>
                  <a:close/>
                </a:path>
              </a:pathLst>
            </a:custGeom>
            <a:solidFill>
              <a:srgbClr val="000000"/>
            </a:solidFill>
            <a:ln w="15840">
              <a:noFill/>
            </a:ln>
          </p:spPr>
        </p:sp>
        <p:sp>
          <p:nvSpPr>
            <p:cNvPr id="290" name="Freeform 52"/>
            <p:cNvSpPr/>
            <p:nvPr/>
          </p:nvSpPr>
          <p:spPr>
            <a:xfrm>
              <a:off x="8589960" y="2572200"/>
              <a:ext cx="17640" cy="16920"/>
            </a:xfrm>
            <a:custGeom>
              <a:avLst/>
              <a:gdLst/>
              <a:ahLst/>
              <a:cxnLst/>
              <a:rect l="0" t="0" r="r" b="b"/>
              <a:pathLst>
                <a:path w="49" h="47">
                  <a:moveTo>
                    <a:pt x="48" y="23"/>
                  </a:moveTo>
                  <a:cubicBezTo>
                    <a:pt x="48" y="11"/>
                    <a:pt x="37" y="0"/>
                    <a:pt x="25" y="0"/>
                  </a:cubicBezTo>
                  <a:cubicBezTo>
                    <a:pt x="11" y="0"/>
                    <a:pt x="0" y="11"/>
                    <a:pt x="0" y="23"/>
                  </a:cubicBezTo>
                  <a:cubicBezTo>
                    <a:pt x="0" y="35"/>
                    <a:pt x="11" y="46"/>
                    <a:pt x="25" y="46"/>
                  </a:cubicBezTo>
                  <a:cubicBezTo>
                    <a:pt x="37" y="46"/>
                    <a:pt x="48" y="35"/>
                    <a:pt x="48" y="23"/>
                  </a:cubicBezTo>
                  <a:close/>
                </a:path>
              </a:pathLst>
            </a:custGeom>
            <a:solidFill>
              <a:srgbClr val="000000"/>
            </a:solidFill>
            <a:ln w="15840">
              <a:noFill/>
            </a:ln>
          </p:spPr>
        </p:sp>
        <p:sp>
          <p:nvSpPr>
            <p:cNvPr id="291" name="Freeform 53"/>
            <p:cNvSpPr/>
            <p:nvPr/>
          </p:nvSpPr>
          <p:spPr>
            <a:xfrm>
              <a:off x="8660160" y="2572200"/>
              <a:ext cx="17640" cy="16920"/>
            </a:xfrm>
            <a:custGeom>
              <a:avLst/>
              <a:gdLst/>
              <a:ahLst/>
              <a:cxnLst/>
              <a:rect l="0" t="0" r="r" b="b"/>
              <a:pathLst>
                <a:path w="49" h="47">
                  <a:moveTo>
                    <a:pt x="48" y="23"/>
                  </a:moveTo>
                  <a:cubicBezTo>
                    <a:pt x="48" y="11"/>
                    <a:pt x="37" y="0"/>
                    <a:pt x="25" y="0"/>
                  </a:cubicBezTo>
                  <a:cubicBezTo>
                    <a:pt x="11" y="0"/>
                    <a:pt x="0" y="11"/>
                    <a:pt x="0" y="23"/>
                  </a:cubicBezTo>
                  <a:cubicBezTo>
                    <a:pt x="0" y="35"/>
                    <a:pt x="11" y="46"/>
                    <a:pt x="25" y="46"/>
                  </a:cubicBezTo>
                  <a:cubicBezTo>
                    <a:pt x="37" y="46"/>
                    <a:pt x="48" y="35"/>
                    <a:pt x="48" y="23"/>
                  </a:cubicBezTo>
                  <a:close/>
                </a:path>
              </a:pathLst>
            </a:custGeom>
            <a:solidFill>
              <a:srgbClr val="000000"/>
            </a:solidFill>
            <a:ln w="15840">
              <a:noFill/>
            </a:ln>
          </p:spPr>
        </p:sp>
        <p:sp>
          <p:nvSpPr>
            <p:cNvPr id="292" name="Freeform 54"/>
            <p:cNvSpPr/>
            <p:nvPr/>
          </p:nvSpPr>
          <p:spPr>
            <a:xfrm>
              <a:off x="8731440" y="2572200"/>
              <a:ext cx="17640" cy="16920"/>
            </a:xfrm>
            <a:custGeom>
              <a:avLst/>
              <a:gdLst/>
              <a:ahLst/>
              <a:cxnLst/>
              <a:rect l="0" t="0" r="r" b="b"/>
              <a:pathLst>
                <a:path w="49" h="47">
                  <a:moveTo>
                    <a:pt x="48" y="23"/>
                  </a:moveTo>
                  <a:cubicBezTo>
                    <a:pt x="48" y="11"/>
                    <a:pt x="37" y="0"/>
                    <a:pt x="25" y="0"/>
                  </a:cubicBezTo>
                  <a:cubicBezTo>
                    <a:pt x="11" y="0"/>
                    <a:pt x="0" y="11"/>
                    <a:pt x="0" y="23"/>
                  </a:cubicBezTo>
                  <a:cubicBezTo>
                    <a:pt x="0" y="35"/>
                    <a:pt x="11" y="46"/>
                    <a:pt x="25" y="46"/>
                  </a:cubicBezTo>
                  <a:cubicBezTo>
                    <a:pt x="37" y="46"/>
                    <a:pt x="48" y="35"/>
                    <a:pt x="48" y="23"/>
                  </a:cubicBezTo>
                  <a:close/>
                </a:path>
              </a:pathLst>
            </a:custGeom>
            <a:solidFill>
              <a:srgbClr val="000000"/>
            </a:solidFill>
            <a:ln w="15840">
              <a:noFill/>
            </a:ln>
          </p:spPr>
        </p:sp>
        <p:sp>
          <p:nvSpPr>
            <p:cNvPr id="293" name="Freeform 55"/>
            <p:cNvSpPr/>
            <p:nvPr/>
          </p:nvSpPr>
          <p:spPr>
            <a:xfrm>
              <a:off x="6897240" y="2933640"/>
              <a:ext cx="17640" cy="16920"/>
            </a:xfrm>
            <a:custGeom>
              <a:avLst/>
              <a:gdLst/>
              <a:ahLst/>
              <a:cxnLst/>
              <a:rect l="0" t="0" r="r" b="b"/>
              <a:pathLst>
                <a:path w="49" h="47">
                  <a:moveTo>
                    <a:pt x="48" y="23"/>
                  </a:moveTo>
                  <a:cubicBezTo>
                    <a:pt x="48" y="11"/>
                    <a:pt x="37" y="0"/>
                    <a:pt x="25" y="0"/>
                  </a:cubicBezTo>
                  <a:cubicBezTo>
                    <a:pt x="11" y="0"/>
                    <a:pt x="0" y="11"/>
                    <a:pt x="0" y="23"/>
                  </a:cubicBezTo>
                  <a:cubicBezTo>
                    <a:pt x="0" y="35"/>
                    <a:pt x="11" y="46"/>
                    <a:pt x="25" y="46"/>
                  </a:cubicBezTo>
                  <a:cubicBezTo>
                    <a:pt x="37" y="46"/>
                    <a:pt x="48" y="35"/>
                    <a:pt x="48" y="23"/>
                  </a:cubicBezTo>
                  <a:close/>
                </a:path>
              </a:pathLst>
            </a:custGeom>
            <a:solidFill>
              <a:srgbClr val="000000"/>
            </a:solidFill>
            <a:ln w="15840">
              <a:noFill/>
            </a:ln>
          </p:spPr>
        </p:sp>
        <p:sp>
          <p:nvSpPr>
            <p:cNvPr id="294" name="Freeform 56"/>
            <p:cNvSpPr/>
            <p:nvPr/>
          </p:nvSpPr>
          <p:spPr>
            <a:xfrm>
              <a:off x="6967440" y="2933640"/>
              <a:ext cx="17640" cy="16920"/>
            </a:xfrm>
            <a:custGeom>
              <a:avLst/>
              <a:gdLst/>
              <a:ahLst/>
              <a:cxnLst/>
              <a:rect l="0" t="0" r="r" b="b"/>
              <a:pathLst>
                <a:path w="49" h="47">
                  <a:moveTo>
                    <a:pt x="48" y="23"/>
                  </a:moveTo>
                  <a:cubicBezTo>
                    <a:pt x="48" y="11"/>
                    <a:pt x="37" y="0"/>
                    <a:pt x="25" y="0"/>
                  </a:cubicBezTo>
                  <a:cubicBezTo>
                    <a:pt x="11" y="0"/>
                    <a:pt x="0" y="11"/>
                    <a:pt x="0" y="23"/>
                  </a:cubicBezTo>
                  <a:cubicBezTo>
                    <a:pt x="0" y="35"/>
                    <a:pt x="11" y="46"/>
                    <a:pt x="25" y="46"/>
                  </a:cubicBezTo>
                  <a:cubicBezTo>
                    <a:pt x="37" y="46"/>
                    <a:pt x="48" y="35"/>
                    <a:pt x="48" y="23"/>
                  </a:cubicBezTo>
                  <a:close/>
                </a:path>
              </a:pathLst>
            </a:custGeom>
            <a:solidFill>
              <a:srgbClr val="000000"/>
            </a:solidFill>
            <a:ln w="15840">
              <a:noFill/>
            </a:ln>
          </p:spPr>
        </p:sp>
        <p:sp>
          <p:nvSpPr>
            <p:cNvPr id="295" name="Freeform 57"/>
            <p:cNvSpPr/>
            <p:nvPr/>
          </p:nvSpPr>
          <p:spPr>
            <a:xfrm>
              <a:off x="7038360" y="2933640"/>
              <a:ext cx="17640" cy="16920"/>
            </a:xfrm>
            <a:custGeom>
              <a:avLst/>
              <a:gdLst/>
              <a:ahLst/>
              <a:cxnLst/>
              <a:rect l="0" t="0" r="r" b="b"/>
              <a:pathLst>
                <a:path w="49" h="47">
                  <a:moveTo>
                    <a:pt x="48" y="23"/>
                  </a:moveTo>
                  <a:cubicBezTo>
                    <a:pt x="48" y="11"/>
                    <a:pt x="37" y="0"/>
                    <a:pt x="25" y="0"/>
                  </a:cubicBezTo>
                  <a:cubicBezTo>
                    <a:pt x="11" y="0"/>
                    <a:pt x="0" y="11"/>
                    <a:pt x="0" y="23"/>
                  </a:cubicBezTo>
                  <a:cubicBezTo>
                    <a:pt x="0" y="35"/>
                    <a:pt x="11" y="46"/>
                    <a:pt x="25" y="46"/>
                  </a:cubicBezTo>
                  <a:cubicBezTo>
                    <a:pt x="37" y="46"/>
                    <a:pt x="48" y="35"/>
                    <a:pt x="48" y="23"/>
                  </a:cubicBezTo>
                  <a:close/>
                </a:path>
              </a:pathLst>
            </a:custGeom>
            <a:solidFill>
              <a:srgbClr val="000000"/>
            </a:solidFill>
            <a:ln w="15840">
              <a:noFill/>
            </a:ln>
          </p:spPr>
        </p:sp>
        <p:sp>
          <p:nvSpPr>
            <p:cNvPr id="296" name="Freeform 58"/>
            <p:cNvSpPr/>
            <p:nvPr/>
          </p:nvSpPr>
          <p:spPr>
            <a:xfrm>
              <a:off x="7248960" y="2882880"/>
              <a:ext cx="83880" cy="96120"/>
            </a:xfrm>
            <a:custGeom>
              <a:avLst/>
              <a:gdLst/>
              <a:ahLst/>
              <a:cxnLst/>
              <a:rect l="0" t="0" r="r" b="b"/>
              <a:pathLst>
                <a:path w="233" h="267">
                  <a:moveTo>
                    <a:pt x="35" y="237"/>
                  </a:moveTo>
                  <a:cubicBezTo>
                    <a:pt x="31" y="251"/>
                    <a:pt x="31" y="253"/>
                    <a:pt x="10" y="253"/>
                  </a:cubicBezTo>
                  <a:cubicBezTo>
                    <a:pt x="5" y="253"/>
                    <a:pt x="0" y="253"/>
                    <a:pt x="0" y="262"/>
                  </a:cubicBezTo>
                  <a:cubicBezTo>
                    <a:pt x="0" y="265"/>
                    <a:pt x="1" y="266"/>
                    <a:pt x="6" y="266"/>
                  </a:cubicBezTo>
                  <a:cubicBezTo>
                    <a:pt x="17" y="266"/>
                    <a:pt x="31" y="265"/>
                    <a:pt x="43" y="265"/>
                  </a:cubicBezTo>
                  <a:cubicBezTo>
                    <a:pt x="57" y="265"/>
                    <a:pt x="73" y="266"/>
                    <a:pt x="87" y="266"/>
                  </a:cubicBezTo>
                  <a:cubicBezTo>
                    <a:pt x="89" y="266"/>
                    <a:pt x="94" y="266"/>
                    <a:pt x="94" y="259"/>
                  </a:cubicBezTo>
                  <a:cubicBezTo>
                    <a:pt x="94" y="253"/>
                    <a:pt x="91" y="253"/>
                    <a:pt x="84" y="253"/>
                  </a:cubicBezTo>
                  <a:cubicBezTo>
                    <a:pt x="62" y="253"/>
                    <a:pt x="62" y="251"/>
                    <a:pt x="62" y="248"/>
                  </a:cubicBezTo>
                  <a:cubicBezTo>
                    <a:pt x="62" y="242"/>
                    <a:pt x="81" y="174"/>
                    <a:pt x="83" y="164"/>
                  </a:cubicBezTo>
                  <a:cubicBezTo>
                    <a:pt x="89" y="175"/>
                    <a:pt x="102" y="190"/>
                    <a:pt x="125" y="190"/>
                  </a:cubicBezTo>
                  <a:cubicBezTo>
                    <a:pt x="176" y="190"/>
                    <a:pt x="232" y="128"/>
                    <a:pt x="232" y="68"/>
                  </a:cubicBezTo>
                  <a:cubicBezTo>
                    <a:pt x="232" y="27"/>
                    <a:pt x="207" y="0"/>
                    <a:pt x="174" y="0"/>
                  </a:cubicBezTo>
                  <a:cubicBezTo>
                    <a:pt x="151" y="0"/>
                    <a:pt x="129" y="15"/>
                    <a:pt x="115" y="32"/>
                  </a:cubicBezTo>
                  <a:cubicBezTo>
                    <a:pt x="109" y="8"/>
                    <a:pt x="91" y="0"/>
                    <a:pt x="74" y="0"/>
                  </a:cubicBezTo>
                  <a:cubicBezTo>
                    <a:pt x="53" y="0"/>
                    <a:pt x="45" y="16"/>
                    <a:pt x="41" y="23"/>
                  </a:cubicBezTo>
                  <a:cubicBezTo>
                    <a:pt x="35" y="39"/>
                    <a:pt x="27" y="63"/>
                    <a:pt x="27" y="65"/>
                  </a:cubicBezTo>
                  <a:cubicBezTo>
                    <a:pt x="27" y="69"/>
                    <a:pt x="32" y="69"/>
                    <a:pt x="33" y="69"/>
                  </a:cubicBezTo>
                  <a:cubicBezTo>
                    <a:pt x="38" y="69"/>
                    <a:pt x="38" y="69"/>
                    <a:pt x="41" y="59"/>
                  </a:cubicBezTo>
                  <a:cubicBezTo>
                    <a:pt x="48" y="29"/>
                    <a:pt x="57" y="9"/>
                    <a:pt x="73" y="9"/>
                  </a:cubicBezTo>
                  <a:cubicBezTo>
                    <a:pt x="81" y="9"/>
                    <a:pt x="87" y="13"/>
                    <a:pt x="87" y="29"/>
                  </a:cubicBezTo>
                  <a:cubicBezTo>
                    <a:pt x="87" y="39"/>
                    <a:pt x="86" y="42"/>
                    <a:pt x="83" y="49"/>
                  </a:cubicBezTo>
                  <a:lnTo>
                    <a:pt x="35" y="237"/>
                  </a:lnTo>
                  <a:moveTo>
                    <a:pt x="112" y="54"/>
                  </a:moveTo>
                  <a:cubicBezTo>
                    <a:pt x="115" y="42"/>
                    <a:pt x="128" y="32"/>
                    <a:pt x="135" y="25"/>
                  </a:cubicBezTo>
                  <a:cubicBezTo>
                    <a:pt x="151" y="13"/>
                    <a:pt x="164" y="9"/>
                    <a:pt x="171" y="9"/>
                  </a:cubicBezTo>
                  <a:cubicBezTo>
                    <a:pt x="190" y="9"/>
                    <a:pt x="200" y="23"/>
                    <a:pt x="200" y="48"/>
                  </a:cubicBezTo>
                  <a:cubicBezTo>
                    <a:pt x="200" y="73"/>
                    <a:pt x="185" y="122"/>
                    <a:pt x="177" y="137"/>
                  </a:cubicBezTo>
                  <a:cubicBezTo>
                    <a:pt x="161" y="167"/>
                    <a:pt x="141" y="181"/>
                    <a:pt x="125" y="181"/>
                  </a:cubicBezTo>
                  <a:cubicBezTo>
                    <a:pt x="94" y="181"/>
                    <a:pt x="89" y="146"/>
                    <a:pt x="89" y="143"/>
                  </a:cubicBezTo>
                  <a:cubicBezTo>
                    <a:pt x="89" y="143"/>
                    <a:pt x="89" y="142"/>
                    <a:pt x="91" y="137"/>
                  </a:cubicBezTo>
                  <a:lnTo>
                    <a:pt x="112" y="54"/>
                  </a:lnTo>
                  <a:close/>
                </a:path>
              </a:pathLst>
            </a:custGeom>
            <a:solidFill>
              <a:srgbClr val="000000"/>
            </a:solidFill>
            <a:ln w="15840">
              <a:noFill/>
            </a:ln>
          </p:spPr>
        </p:sp>
        <p:sp>
          <p:nvSpPr>
            <p:cNvPr id="297" name="Freeform 59"/>
            <p:cNvSpPr/>
            <p:nvPr/>
          </p:nvSpPr>
          <p:spPr>
            <a:xfrm>
              <a:off x="7350480" y="2836800"/>
              <a:ext cx="37440" cy="151200"/>
            </a:xfrm>
            <a:custGeom>
              <a:avLst/>
              <a:gdLst/>
              <a:ahLst/>
              <a:cxnLst/>
              <a:rect l="0" t="0" r="r" b="b"/>
              <a:pathLst>
                <a:path w="104" h="420">
                  <a:moveTo>
                    <a:pt x="103" y="414"/>
                  </a:moveTo>
                  <a:cubicBezTo>
                    <a:pt x="103" y="414"/>
                    <a:pt x="103" y="413"/>
                    <a:pt x="95" y="405"/>
                  </a:cubicBezTo>
                  <a:cubicBezTo>
                    <a:pt x="41" y="352"/>
                    <a:pt x="26" y="275"/>
                    <a:pt x="26" y="209"/>
                  </a:cubicBezTo>
                  <a:cubicBezTo>
                    <a:pt x="26" y="137"/>
                    <a:pt x="43" y="63"/>
                    <a:pt x="98" y="11"/>
                  </a:cubicBezTo>
                  <a:cubicBezTo>
                    <a:pt x="103" y="7"/>
                    <a:pt x="103" y="6"/>
                    <a:pt x="103" y="4"/>
                  </a:cubicBezTo>
                  <a:cubicBezTo>
                    <a:pt x="103" y="1"/>
                    <a:pt x="102" y="0"/>
                    <a:pt x="99" y="0"/>
                  </a:cubicBezTo>
                  <a:cubicBezTo>
                    <a:pt x="94" y="0"/>
                    <a:pt x="53" y="29"/>
                    <a:pt x="27" y="82"/>
                  </a:cubicBezTo>
                  <a:cubicBezTo>
                    <a:pt x="5" y="128"/>
                    <a:pt x="0" y="174"/>
                    <a:pt x="0" y="209"/>
                  </a:cubicBezTo>
                  <a:cubicBezTo>
                    <a:pt x="0" y="243"/>
                    <a:pt x="5" y="293"/>
                    <a:pt x="29" y="340"/>
                  </a:cubicBezTo>
                  <a:cubicBezTo>
                    <a:pt x="57" y="392"/>
                    <a:pt x="94" y="419"/>
                    <a:pt x="99" y="419"/>
                  </a:cubicBezTo>
                  <a:cubicBezTo>
                    <a:pt x="102" y="419"/>
                    <a:pt x="103" y="418"/>
                    <a:pt x="103" y="414"/>
                  </a:cubicBezTo>
                  <a:close/>
                </a:path>
              </a:pathLst>
            </a:custGeom>
            <a:solidFill>
              <a:srgbClr val="000000"/>
            </a:solidFill>
            <a:ln w="15840">
              <a:noFill/>
            </a:ln>
          </p:spPr>
        </p:sp>
        <p:sp>
          <p:nvSpPr>
            <p:cNvPr id="298" name="Freeform 60"/>
            <p:cNvSpPr/>
            <p:nvPr/>
          </p:nvSpPr>
          <p:spPr>
            <a:xfrm>
              <a:off x="7404480" y="2843640"/>
              <a:ext cx="95040" cy="109800"/>
            </a:xfrm>
            <a:custGeom>
              <a:avLst/>
              <a:gdLst/>
              <a:ahLst/>
              <a:cxnLst/>
              <a:rect l="0" t="0" r="r" b="b"/>
              <a:pathLst>
                <a:path w="264" h="305">
                  <a:moveTo>
                    <a:pt x="263" y="4"/>
                  </a:moveTo>
                  <a:cubicBezTo>
                    <a:pt x="263" y="2"/>
                    <a:pt x="262" y="0"/>
                    <a:pt x="259" y="0"/>
                  </a:cubicBezTo>
                  <a:cubicBezTo>
                    <a:pt x="255" y="0"/>
                    <a:pt x="255" y="0"/>
                    <a:pt x="250" y="7"/>
                  </a:cubicBezTo>
                  <a:lnTo>
                    <a:pt x="229" y="31"/>
                  </a:lnTo>
                  <a:cubicBezTo>
                    <a:pt x="217" y="11"/>
                    <a:pt x="193" y="0"/>
                    <a:pt x="165" y="0"/>
                  </a:cubicBezTo>
                  <a:cubicBezTo>
                    <a:pt x="109" y="0"/>
                    <a:pt x="57" y="48"/>
                    <a:pt x="57" y="99"/>
                  </a:cubicBezTo>
                  <a:cubicBezTo>
                    <a:pt x="57" y="134"/>
                    <a:pt x="79" y="153"/>
                    <a:pt x="102" y="158"/>
                  </a:cubicBezTo>
                  <a:lnTo>
                    <a:pt x="150" y="170"/>
                  </a:lnTo>
                  <a:cubicBezTo>
                    <a:pt x="166" y="174"/>
                    <a:pt x="190" y="181"/>
                    <a:pt x="190" y="215"/>
                  </a:cubicBezTo>
                  <a:cubicBezTo>
                    <a:pt x="190" y="252"/>
                    <a:pt x="154" y="292"/>
                    <a:pt x="110" y="292"/>
                  </a:cubicBezTo>
                  <a:cubicBezTo>
                    <a:pt x="83" y="292"/>
                    <a:pt x="33" y="283"/>
                    <a:pt x="33" y="230"/>
                  </a:cubicBezTo>
                  <a:cubicBezTo>
                    <a:pt x="33" y="221"/>
                    <a:pt x="35" y="210"/>
                    <a:pt x="35" y="208"/>
                  </a:cubicBezTo>
                  <a:cubicBezTo>
                    <a:pt x="36" y="207"/>
                    <a:pt x="36" y="205"/>
                    <a:pt x="36" y="205"/>
                  </a:cubicBezTo>
                  <a:cubicBezTo>
                    <a:pt x="36" y="201"/>
                    <a:pt x="33" y="201"/>
                    <a:pt x="31" y="201"/>
                  </a:cubicBezTo>
                  <a:cubicBezTo>
                    <a:pt x="29" y="201"/>
                    <a:pt x="27" y="201"/>
                    <a:pt x="26" y="202"/>
                  </a:cubicBezTo>
                  <a:cubicBezTo>
                    <a:pt x="25" y="204"/>
                    <a:pt x="0" y="300"/>
                    <a:pt x="0" y="300"/>
                  </a:cubicBezTo>
                  <a:cubicBezTo>
                    <a:pt x="0" y="303"/>
                    <a:pt x="1" y="304"/>
                    <a:pt x="5" y="304"/>
                  </a:cubicBezTo>
                  <a:cubicBezTo>
                    <a:pt x="7" y="304"/>
                    <a:pt x="7" y="304"/>
                    <a:pt x="14" y="299"/>
                  </a:cubicBezTo>
                  <a:lnTo>
                    <a:pt x="35" y="276"/>
                  </a:lnTo>
                  <a:cubicBezTo>
                    <a:pt x="53" y="299"/>
                    <a:pt x="83" y="304"/>
                    <a:pt x="109" y="304"/>
                  </a:cubicBezTo>
                  <a:cubicBezTo>
                    <a:pt x="170" y="304"/>
                    <a:pt x="223" y="249"/>
                    <a:pt x="223" y="197"/>
                  </a:cubicBezTo>
                  <a:cubicBezTo>
                    <a:pt x="223" y="168"/>
                    <a:pt x="207" y="154"/>
                    <a:pt x="200" y="149"/>
                  </a:cubicBezTo>
                  <a:cubicBezTo>
                    <a:pt x="190" y="137"/>
                    <a:pt x="183" y="137"/>
                    <a:pt x="144" y="128"/>
                  </a:cubicBezTo>
                  <a:cubicBezTo>
                    <a:pt x="135" y="124"/>
                    <a:pt x="119" y="120"/>
                    <a:pt x="115" y="120"/>
                  </a:cubicBezTo>
                  <a:cubicBezTo>
                    <a:pt x="103" y="116"/>
                    <a:pt x="87" y="103"/>
                    <a:pt x="87" y="81"/>
                  </a:cubicBezTo>
                  <a:cubicBezTo>
                    <a:pt x="87" y="48"/>
                    <a:pt x="123" y="11"/>
                    <a:pt x="165" y="11"/>
                  </a:cubicBezTo>
                  <a:cubicBezTo>
                    <a:pt x="202" y="11"/>
                    <a:pt x="229" y="29"/>
                    <a:pt x="229" y="77"/>
                  </a:cubicBezTo>
                  <a:cubicBezTo>
                    <a:pt x="229" y="90"/>
                    <a:pt x="227" y="97"/>
                    <a:pt x="227" y="100"/>
                  </a:cubicBezTo>
                  <a:cubicBezTo>
                    <a:pt x="227" y="101"/>
                    <a:pt x="227" y="104"/>
                    <a:pt x="233" y="104"/>
                  </a:cubicBezTo>
                  <a:cubicBezTo>
                    <a:pt x="236" y="104"/>
                    <a:pt x="237" y="103"/>
                    <a:pt x="239" y="96"/>
                  </a:cubicBezTo>
                  <a:lnTo>
                    <a:pt x="263" y="4"/>
                  </a:lnTo>
                  <a:close/>
                </a:path>
              </a:pathLst>
            </a:custGeom>
            <a:solidFill>
              <a:srgbClr val="000000"/>
            </a:solidFill>
            <a:ln w="15840">
              <a:noFill/>
            </a:ln>
          </p:spPr>
        </p:sp>
        <p:sp>
          <p:nvSpPr>
            <p:cNvPr id="299" name="Freeform 61"/>
            <p:cNvSpPr/>
            <p:nvPr/>
          </p:nvSpPr>
          <p:spPr>
            <a:xfrm>
              <a:off x="7514640" y="2824920"/>
              <a:ext cx="41400" cy="70920"/>
            </a:xfrm>
            <a:custGeom>
              <a:avLst/>
              <a:gdLst/>
              <a:ahLst/>
              <a:cxnLst/>
              <a:rect l="0" t="0" r="r" b="b"/>
              <a:pathLst>
                <a:path w="115" h="197">
                  <a:moveTo>
                    <a:pt x="69" y="8"/>
                  </a:moveTo>
                  <a:cubicBezTo>
                    <a:pt x="69" y="0"/>
                    <a:pt x="69" y="0"/>
                    <a:pt x="61" y="0"/>
                  </a:cubicBezTo>
                  <a:cubicBezTo>
                    <a:pt x="41" y="18"/>
                    <a:pt x="14" y="19"/>
                    <a:pt x="0" y="19"/>
                  </a:cubicBezTo>
                  <a:lnTo>
                    <a:pt x="0" y="29"/>
                  </a:lnTo>
                  <a:cubicBezTo>
                    <a:pt x="7" y="29"/>
                    <a:pt x="27" y="29"/>
                    <a:pt x="45" y="21"/>
                  </a:cubicBezTo>
                  <a:lnTo>
                    <a:pt x="45" y="171"/>
                  </a:lnTo>
                  <a:cubicBezTo>
                    <a:pt x="45" y="181"/>
                    <a:pt x="45" y="184"/>
                    <a:pt x="15" y="184"/>
                  </a:cubicBezTo>
                  <a:lnTo>
                    <a:pt x="1" y="184"/>
                  </a:lnTo>
                  <a:lnTo>
                    <a:pt x="1" y="196"/>
                  </a:lnTo>
                  <a:cubicBezTo>
                    <a:pt x="9" y="196"/>
                    <a:pt x="47" y="194"/>
                    <a:pt x="57" y="194"/>
                  </a:cubicBezTo>
                  <a:cubicBezTo>
                    <a:pt x="67" y="194"/>
                    <a:pt x="107" y="196"/>
                    <a:pt x="114" y="196"/>
                  </a:cubicBezTo>
                  <a:lnTo>
                    <a:pt x="114" y="184"/>
                  </a:lnTo>
                  <a:lnTo>
                    <a:pt x="102" y="184"/>
                  </a:lnTo>
                  <a:cubicBezTo>
                    <a:pt x="69" y="184"/>
                    <a:pt x="69" y="181"/>
                    <a:pt x="69" y="171"/>
                  </a:cubicBezTo>
                  <a:lnTo>
                    <a:pt x="69" y="8"/>
                  </a:lnTo>
                  <a:close/>
                </a:path>
              </a:pathLst>
            </a:custGeom>
            <a:solidFill>
              <a:srgbClr val="000000"/>
            </a:solidFill>
            <a:ln w="15840">
              <a:noFill/>
            </a:ln>
          </p:spPr>
        </p:sp>
        <p:sp>
          <p:nvSpPr>
            <p:cNvPr id="300" name="Freeform 62"/>
            <p:cNvSpPr/>
            <p:nvPr/>
          </p:nvSpPr>
          <p:spPr>
            <a:xfrm>
              <a:off x="7499160" y="2919240"/>
              <a:ext cx="34200" cy="71640"/>
            </a:xfrm>
            <a:custGeom>
              <a:avLst/>
              <a:gdLst/>
              <a:ahLst/>
              <a:cxnLst/>
              <a:rect l="0" t="0" r="r" b="b"/>
              <a:pathLst>
                <a:path w="95" h="199">
                  <a:moveTo>
                    <a:pt x="87" y="11"/>
                  </a:moveTo>
                  <a:cubicBezTo>
                    <a:pt x="87" y="7"/>
                    <a:pt x="83" y="0"/>
                    <a:pt x="74" y="0"/>
                  </a:cubicBezTo>
                  <a:cubicBezTo>
                    <a:pt x="66" y="0"/>
                    <a:pt x="57" y="8"/>
                    <a:pt x="57" y="16"/>
                  </a:cubicBezTo>
                  <a:cubicBezTo>
                    <a:pt x="57" y="21"/>
                    <a:pt x="61" y="27"/>
                    <a:pt x="69" y="27"/>
                  </a:cubicBezTo>
                  <a:cubicBezTo>
                    <a:pt x="78" y="27"/>
                    <a:pt x="87" y="19"/>
                    <a:pt x="87" y="11"/>
                  </a:cubicBezTo>
                  <a:moveTo>
                    <a:pt x="24" y="161"/>
                  </a:moveTo>
                  <a:cubicBezTo>
                    <a:pt x="21" y="164"/>
                    <a:pt x="20" y="168"/>
                    <a:pt x="20" y="174"/>
                  </a:cubicBezTo>
                  <a:cubicBezTo>
                    <a:pt x="20" y="187"/>
                    <a:pt x="32" y="198"/>
                    <a:pt x="50" y="198"/>
                  </a:cubicBezTo>
                  <a:cubicBezTo>
                    <a:pt x="82" y="198"/>
                    <a:pt x="94" y="157"/>
                    <a:pt x="94" y="153"/>
                  </a:cubicBezTo>
                  <a:cubicBezTo>
                    <a:pt x="94" y="149"/>
                    <a:pt x="91" y="149"/>
                    <a:pt x="89" y="149"/>
                  </a:cubicBezTo>
                  <a:cubicBezTo>
                    <a:pt x="86" y="149"/>
                    <a:pt x="86" y="151"/>
                    <a:pt x="83" y="154"/>
                  </a:cubicBezTo>
                  <a:cubicBezTo>
                    <a:pt x="77" y="177"/>
                    <a:pt x="62" y="189"/>
                    <a:pt x="51" y="189"/>
                  </a:cubicBezTo>
                  <a:cubicBezTo>
                    <a:pt x="43" y="189"/>
                    <a:pt x="43" y="185"/>
                    <a:pt x="43" y="180"/>
                  </a:cubicBezTo>
                  <a:cubicBezTo>
                    <a:pt x="43" y="173"/>
                    <a:pt x="45" y="168"/>
                    <a:pt x="48" y="161"/>
                  </a:cubicBezTo>
                  <a:cubicBezTo>
                    <a:pt x="51" y="153"/>
                    <a:pt x="53" y="144"/>
                    <a:pt x="58" y="137"/>
                  </a:cubicBezTo>
                  <a:cubicBezTo>
                    <a:pt x="61" y="130"/>
                    <a:pt x="72" y="103"/>
                    <a:pt x="73" y="100"/>
                  </a:cubicBezTo>
                  <a:cubicBezTo>
                    <a:pt x="74" y="97"/>
                    <a:pt x="76" y="94"/>
                    <a:pt x="76" y="90"/>
                  </a:cubicBezTo>
                  <a:cubicBezTo>
                    <a:pt x="76" y="76"/>
                    <a:pt x="62" y="66"/>
                    <a:pt x="45" y="66"/>
                  </a:cubicBezTo>
                  <a:cubicBezTo>
                    <a:pt x="15" y="66"/>
                    <a:pt x="0" y="106"/>
                    <a:pt x="0" y="110"/>
                  </a:cubicBezTo>
                  <a:cubicBezTo>
                    <a:pt x="0" y="114"/>
                    <a:pt x="4" y="114"/>
                    <a:pt x="5" y="114"/>
                  </a:cubicBezTo>
                  <a:cubicBezTo>
                    <a:pt x="10" y="114"/>
                    <a:pt x="10" y="113"/>
                    <a:pt x="11" y="109"/>
                  </a:cubicBezTo>
                  <a:cubicBezTo>
                    <a:pt x="19" y="84"/>
                    <a:pt x="33" y="73"/>
                    <a:pt x="43" y="73"/>
                  </a:cubicBezTo>
                  <a:cubicBezTo>
                    <a:pt x="50" y="73"/>
                    <a:pt x="52" y="76"/>
                    <a:pt x="52" y="84"/>
                  </a:cubicBezTo>
                  <a:cubicBezTo>
                    <a:pt x="52" y="90"/>
                    <a:pt x="51" y="95"/>
                    <a:pt x="42" y="113"/>
                  </a:cubicBezTo>
                  <a:lnTo>
                    <a:pt x="24" y="161"/>
                  </a:lnTo>
                  <a:close/>
                </a:path>
              </a:pathLst>
            </a:custGeom>
            <a:solidFill>
              <a:srgbClr val="000000"/>
            </a:solidFill>
            <a:ln w="15840">
              <a:noFill/>
            </a:ln>
          </p:spPr>
        </p:sp>
        <p:sp>
          <p:nvSpPr>
            <p:cNvPr id="301" name="Freeform 63"/>
            <p:cNvSpPr/>
            <p:nvPr/>
          </p:nvSpPr>
          <p:spPr>
            <a:xfrm>
              <a:off x="7582320" y="2843640"/>
              <a:ext cx="95040" cy="109800"/>
            </a:xfrm>
            <a:custGeom>
              <a:avLst/>
              <a:gdLst/>
              <a:ahLst/>
              <a:cxnLst/>
              <a:rect l="0" t="0" r="r" b="b"/>
              <a:pathLst>
                <a:path w="264" h="305">
                  <a:moveTo>
                    <a:pt x="263" y="4"/>
                  </a:moveTo>
                  <a:cubicBezTo>
                    <a:pt x="263" y="2"/>
                    <a:pt x="262" y="0"/>
                    <a:pt x="259" y="0"/>
                  </a:cubicBezTo>
                  <a:cubicBezTo>
                    <a:pt x="255" y="0"/>
                    <a:pt x="255" y="0"/>
                    <a:pt x="250" y="7"/>
                  </a:cubicBezTo>
                  <a:lnTo>
                    <a:pt x="229" y="31"/>
                  </a:lnTo>
                  <a:cubicBezTo>
                    <a:pt x="217" y="11"/>
                    <a:pt x="193" y="0"/>
                    <a:pt x="165" y="0"/>
                  </a:cubicBezTo>
                  <a:cubicBezTo>
                    <a:pt x="109" y="0"/>
                    <a:pt x="57" y="48"/>
                    <a:pt x="57" y="99"/>
                  </a:cubicBezTo>
                  <a:cubicBezTo>
                    <a:pt x="57" y="134"/>
                    <a:pt x="79" y="153"/>
                    <a:pt x="102" y="158"/>
                  </a:cubicBezTo>
                  <a:lnTo>
                    <a:pt x="150" y="170"/>
                  </a:lnTo>
                  <a:cubicBezTo>
                    <a:pt x="166" y="174"/>
                    <a:pt x="190" y="181"/>
                    <a:pt x="190" y="215"/>
                  </a:cubicBezTo>
                  <a:cubicBezTo>
                    <a:pt x="190" y="252"/>
                    <a:pt x="154" y="292"/>
                    <a:pt x="110" y="292"/>
                  </a:cubicBezTo>
                  <a:cubicBezTo>
                    <a:pt x="83" y="292"/>
                    <a:pt x="33" y="283"/>
                    <a:pt x="33" y="230"/>
                  </a:cubicBezTo>
                  <a:cubicBezTo>
                    <a:pt x="33" y="221"/>
                    <a:pt x="35" y="210"/>
                    <a:pt x="35" y="208"/>
                  </a:cubicBezTo>
                  <a:cubicBezTo>
                    <a:pt x="36" y="207"/>
                    <a:pt x="36" y="205"/>
                    <a:pt x="36" y="205"/>
                  </a:cubicBezTo>
                  <a:cubicBezTo>
                    <a:pt x="36" y="201"/>
                    <a:pt x="33" y="201"/>
                    <a:pt x="31" y="201"/>
                  </a:cubicBezTo>
                  <a:cubicBezTo>
                    <a:pt x="29" y="201"/>
                    <a:pt x="27" y="201"/>
                    <a:pt x="26" y="202"/>
                  </a:cubicBezTo>
                  <a:cubicBezTo>
                    <a:pt x="25" y="204"/>
                    <a:pt x="0" y="300"/>
                    <a:pt x="0" y="300"/>
                  </a:cubicBezTo>
                  <a:cubicBezTo>
                    <a:pt x="0" y="303"/>
                    <a:pt x="1" y="304"/>
                    <a:pt x="5" y="304"/>
                  </a:cubicBezTo>
                  <a:cubicBezTo>
                    <a:pt x="7" y="304"/>
                    <a:pt x="9" y="304"/>
                    <a:pt x="14" y="299"/>
                  </a:cubicBezTo>
                  <a:lnTo>
                    <a:pt x="35" y="276"/>
                  </a:lnTo>
                  <a:cubicBezTo>
                    <a:pt x="53" y="299"/>
                    <a:pt x="83" y="304"/>
                    <a:pt x="109" y="304"/>
                  </a:cubicBezTo>
                  <a:cubicBezTo>
                    <a:pt x="170" y="304"/>
                    <a:pt x="223" y="249"/>
                    <a:pt x="223" y="197"/>
                  </a:cubicBezTo>
                  <a:cubicBezTo>
                    <a:pt x="223" y="168"/>
                    <a:pt x="207" y="154"/>
                    <a:pt x="200" y="149"/>
                  </a:cubicBezTo>
                  <a:cubicBezTo>
                    <a:pt x="190" y="137"/>
                    <a:pt x="183" y="137"/>
                    <a:pt x="144" y="128"/>
                  </a:cubicBezTo>
                  <a:cubicBezTo>
                    <a:pt x="135" y="124"/>
                    <a:pt x="119" y="120"/>
                    <a:pt x="115" y="120"/>
                  </a:cubicBezTo>
                  <a:cubicBezTo>
                    <a:pt x="103" y="116"/>
                    <a:pt x="87" y="103"/>
                    <a:pt x="87" y="81"/>
                  </a:cubicBezTo>
                  <a:cubicBezTo>
                    <a:pt x="87" y="48"/>
                    <a:pt x="123" y="11"/>
                    <a:pt x="165" y="11"/>
                  </a:cubicBezTo>
                  <a:cubicBezTo>
                    <a:pt x="202" y="11"/>
                    <a:pt x="229" y="29"/>
                    <a:pt x="229" y="77"/>
                  </a:cubicBezTo>
                  <a:cubicBezTo>
                    <a:pt x="229" y="90"/>
                    <a:pt x="227" y="97"/>
                    <a:pt x="227" y="100"/>
                  </a:cubicBezTo>
                  <a:cubicBezTo>
                    <a:pt x="227" y="101"/>
                    <a:pt x="227" y="104"/>
                    <a:pt x="233" y="104"/>
                  </a:cubicBezTo>
                  <a:cubicBezTo>
                    <a:pt x="236" y="104"/>
                    <a:pt x="237" y="103"/>
                    <a:pt x="239" y="96"/>
                  </a:cubicBezTo>
                  <a:lnTo>
                    <a:pt x="263" y="4"/>
                  </a:lnTo>
                  <a:close/>
                </a:path>
              </a:pathLst>
            </a:custGeom>
            <a:solidFill>
              <a:srgbClr val="000000"/>
            </a:solidFill>
            <a:ln w="15840">
              <a:noFill/>
            </a:ln>
          </p:spPr>
        </p:sp>
        <p:sp>
          <p:nvSpPr>
            <p:cNvPr id="302" name="Freeform 64"/>
            <p:cNvSpPr/>
            <p:nvPr/>
          </p:nvSpPr>
          <p:spPr>
            <a:xfrm>
              <a:off x="7687800" y="2824920"/>
              <a:ext cx="50040" cy="70920"/>
            </a:xfrm>
            <a:custGeom>
              <a:avLst/>
              <a:gdLst/>
              <a:ahLst/>
              <a:cxnLst/>
              <a:rect l="0" t="0" r="r" b="b"/>
              <a:pathLst>
                <a:path w="139" h="197">
                  <a:moveTo>
                    <a:pt x="138" y="142"/>
                  </a:moveTo>
                  <a:lnTo>
                    <a:pt x="126" y="142"/>
                  </a:lnTo>
                  <a:cubicBezTo>
                    <a:pt x="125" y="149"/>
                    <a:pt x="123" y="165"/>
                    <a:pt x="119" y="168"/>
                  </a:cubicBezTo>
                  <a:cubicBezTo>
                    <a:pt x="117" y="170"/>
                    <a:pt x="93" y="170"/>
                    <a:pt x="89" y="170"/>
                  </a:cubicBezTo>
                  <a:lnTo>
                    <a:pt x="31" y="170"/>
                  </a:lnTo>
                  <a:cubicBezTo>
                    <a:pt x="63" y="143"/>
                    <a:pt x="74" y="135"/>
                    <a:pt x="93" y="121"/>
                  </a:cubicBezTo>
                  <a:cubicBezTo>
                    <a:pt x="117" y="103"/>
                    <a:pt x="138" y="86"/>
                    <a:pt x="138" y="58"/>
                  </a:cubicBezTo>
                  <a:cubicBezTo>
                    <a:pt x="138" y="22"/>
                    <a:pt x="104" y="0"/>
                    <a:pt x="64" y="0"/>
                  </a:cubicBezTo>
                  <a:cubicBezTo>
                    <a:pt x="26" y="0"/>
                    <a:pt x="0" y="26"/>
                    <a:pt x="0" y="53"/>
                  </a:cubicBezTo>
                  <a:cubicBezTo>
                    <a:pt x="0" y="68"/>
                    <a:pt x="14" y="69"/>
                    <a:pt x="16" y="69"/>
                  </a:cubicBezTo>
                  <a:cubicBezTo>
                    <a:pt x="25" y="69"/>
                    <a:pt x="33" y="63"/>
                    <a:pt x="33" y="54"/>
                  </a:cubicBezTo>
                  <a:cubicBezTo>
                    <a:pt x="33" y="48"/>
                    <a:pt x="31" y="39"/>
                    <a:pt x="15" y="39"/>
                  </a:cubicBezTo>
                  <a:cubicBezTo>
                    <a:pt x="25" y="16"/>
                    <a:pt x="45" y="11"/>
                    <a:pt x="61" y="11"/>
                  </a:cubicBezTo>
                  <a:cubicBezTo>
                    <a:pt x="92" y="11"/>
                    <a:pt x="108" y="33"/>
                    <a:pt x="108" y="58"/>
                  </a:cubicBezTo>
                  <a:cubicBezTo>
                    <a:pt x="108" y="82"/>
                    <a:pt x="89" y="103"/>
                    <a:pt x="78" y="114"/>
                  </a:cubicBezTo>
                  <a:lnTo>
                    <a:pt x="2" y="183"/>
                  </a:lnTo>
                  <a:cubicBezTo>
                    <a:pt x="0" y="187"/>
                    <a:pt x="0" y="188"/>
                    <a:pt x="0" y="196"/>
                  </a:cubicBezTo>
                  <a:lnTo>
                    <a:pt x="129" y="196"/>
                  </a:lnTo>
                  <a:lnTo>
                    <a:pt x="138" y="142"/>
                  </a:lnTo>
                  <a:close/>
                </a:path>
              </a:pathLst>
            </a:custGeom>
            <a:solidFill>
              <a:srgbClr val="000000"/>
            </a:solidFill>
            <a:ln w="15840">
              <a:noFill/>
            </a:ln>
          </p:spPr>
        </p:sp>
        <p:sp>
          <p:nvSpPr>
            <p:cNvPr id="303" name="Freeform 65"/>
            <p:cNvSpPr/>
            <p:nvPr/>
          </p:nvSpPr>
          <p:spPr>
            <a:xfrm>
              <a:off x="7671240" y="2919240"/>
              <a:ext cx="49320" cy="92160"/>
            </a:xfrm>
            <a:custGeom>
              <a:avLst/>
              <a:gdLst/>
              <a:ahLst/>
              <a:cxnLst/>
              <a:rect l="0" t="0" r="r" b="b"/>
              <a:pathLst>
                <a:path w="137" h="256">
                  <a:moveTo>
                    <a:pt x="136" y="11"/>
                  </a:moveTo>
                  <a:cubicBezTo>
                    <a:pt x="136" y="6"/>
                    <a:pt x="133" y="0"/>
                    <a:pt x="125" y="0"/>
                  </a:cubicBezTo>
                  <a:cubicBezTo>
                    <a:pt x="115" y="0"/>
                    <a:pt x="107" y="8"/>
                    <a:pt x="107" y="16"/>
                  </a:cubicBezTo>
                  <a:cubicBezTo>
                    <a:pt x="107" y="21"/>
                    <a:pt x="110" y="27"/>
                    <a:pt x="119" y="27"/>
                  </a:cubicBezTo>
                  <a:cubicBezTo>
                    <a:pt x="128" y="27"/>
                    <a:pt x="136" y="20"/>
                    <a:pt x="136" y="11"/>
                  </a:cubicBezTo>
                  <a:moveTo>
                    <a:pt x="69" y="209"/>
                  </a:moveTo>
                  <a:cubicBezTo>
                    <a:pt x="66" y="229"/>
                    <a:pt x="50" y="246"/>
                    <a:pt x="31" y="246"/>
                  </a:cubicBezTo>
                  <a:cubicBezTo>
                    <a:pt x="26" y="246"/>
                    <a:pt x="24" y="245"/>
                    <a:pt x="19" y="245"/>
                  </a:cubicBezTo>
                  <a:cubicBezTo>
                    <a:pt x="27" y="241"/>
                    <a:pt x="31" y="234"/>
                    <a:pt x="31" y="229"/>
                  </a:cubicBezTo>
                  <a:cubicBezTo>
                    <a:pt x="31" y="223"/>
                    <a:pt x="25" y="219"/>
                    <a:pt x="17" y="219"/>
                  </a:cubicBezTo>
                  <a:cubicBezTo>
                    <a:pt x="9" y="219"/>
                    <a:pt x="0" y="226"/>
                    <a:pt x="0" y="236"/>
                  </a:cubicBezTo>
                  <a:cubicBezTo>
                    <a:pt x="0" y="248"/>
                    <a:pt x="11" y="255"/>
                    <a:pt x="31" y="255"/>
                  </a:cubicBezTo>
                  <a:cubicBezTo>
                    <a:pt x="50" y="255"/>
                    <a:pt x="87" y="245"/>
                    <a:pt x="95" y="208"/>
                  </a:cubicBezTo>
                  <a:lnTo>
                    <a:pt x="124" y="103"/>
                  </a:lnTo>
                  <a:cubicBezTo>
                    <a:pt x="125" y="100"/>
                    <a:pt x="125" y="97"/>
                    <a:pt x="125" y="94"/>
                  </a:cubicBezTo>
                  <a:cubicBezTo>
                    <a:pt x="125" y="77"/>
                    <a:pt x="110" y="66"/>
                    <a:pt x="92" y="66"/>
                  </a:cubicBezTo>
                  <a:cubicBezTo>
                    <a:pt x="57" y="66"/>
                    <a:pt x="37" y="106"/>
                    <a:pt x="37" y="110"/>
                  </a:cubicBezTo>
                  <a:cubicBezTo>
                    <a:pt x="37" y="114"/>
                    <a:pt x="42" y="114"/>
                    <a:pt x="42" y="114"/>
                  </a:cubicBezTo>
                  <a:cubicBezTo>
                    <a:pt x="47" y="114"/>
                    <a:pt x="47" y="113"/>
                    <a:pt x="50" y="109"/>
                  </a:cubicBezTo>
                  <a:cubicBezTo>
                    <a:pt x="57" y="92"/>
                    <a:pt x="73" y="73"/>
                    <a:pt x="91" y="73"/>
                  </a:cubicBezTo>
                  <a:cubicBezTo>
                    <a:pt x="99" y="73"/>
                    <a:pt x="102" y="79"/>
                    <a:pt x="102" y="88"/>
                  </a:cubicBezTo>
                  <a:cubicBezTo>
                    <a:pt x="102" y="92"/>
                    <a:pt x="100" y="95"/>
                    <a:pt x="100" y="97"/>
                  </a:cubicBezTo>
                  <a:lnTo>
                    <a:pt x="69" y="209"/>
                  </a:lnTo>
                  <a:close/>
                </a:path>
              </a:pathLst>
            </a:custGeom>
            <a:solidFill>
              <a:srgbClr val="000000"/>
            </a:solidFill>
            <a:ln w="15840">
              <a:noFill/>
            </a:ln>
          </p:spPr>
        </p:sp>
        <p:sp>
          <p:nvSpPr>
            <p:cNvPr id="304" name="Freeform 66"/>
            <p:cNvSpPr/>
            <p:nvPr/>
          </p:nvSpPr>
          <p:spPr>
            <a:xfrm>
              <a:off x="7805160" y="2872800"/>
              <a:ext cx="141840" cy="79200"/>
            </a:xfrm>
            <a:custGeom>
              <a:avLst/>
              <a:gdLst/>
              <a:ahLst/>
              <a:cxnLst/>
              <a:rect l="0" t="0" r="r" b="b"/>
              <a:pathLst>
                <a:path w="394" h="220">
                  <a:moveTo>
                    <a:pt x="345" y="119"/>
                  </a:moveTo>
                  <a:cubicBezTo>
                    <a:pt x="320" y="136"/>
                    <a:pt x="309" y="153"/>
                    <a:pt x="304" y="158"/>
                  </a:cubicBezTo>
                  <a:cubicBezTo>
                    <a:pt x="285" y="188"/>
                    <a:pt x="281" y="214"/>
                    <a:pt x="281" y="214"/>
                  </a:cubicBezTo>
                  <a:cubicBezTo>
                    <a:pt x="281" y="219"/>
                    <a:pt x="286" y="219"/>
                    <a:pt x="291" y="219"/>
                  </a:cubicBezTo>
                  <a:cubicBezTo>
                    <a:pt x="298" y="219"/>
                    <a:pt x="299" y="217"/>
                    <a:pt x="301" y="211"/>
                  </a:cubicBezTo>
                  <a:cubicBezTo>
                    <a:pt x="310" y="169"/>
                    <a:pt x="336" y="134"/>
                    <a:pt x="387" y="115"/>
                  </a:cubicBezTo>
                  <a:cubicBezTo>
                    <a:pt x="392" y="113"/>
                    <a:pt x="393" y="113"/>
                    <a:pt x="393" y="109"/>
                  </a:cubicBezTo>
                  <a:cubicBezTo>
                    <a:pt x="393" y="106"/>
                    <a:pt x="391" y="106"/>
                    <a:pt x="391" y="104"/>
                  </a:cubicBezTo>
                  <a:cubicBezTo>
                    <a:pt x="369" y="97"/>
                    <a:pt x="317" y="77"/>
                    <a:pt x="300" y="7"/>
                  </a:cubicBezTo>
                  <a:cubicBezTo>
                    <a:pt x="299" y="1"/>
                    <a:pt x="298" y="0"/>
                    <a:pt x="291" y="0"/>
                  </a:cubicBezTo>
                  <a:cubicBezTo>
                    <a:pt x="286" y="0"/>
                    <a:pt x="281" y="0"/>
                    <a:pt x="281" y="5"/>
                  </a:cubicBezTo>
                  <a:cubicBezTo>
                    <a:pt x="281" y="6"/>
                    <a:pt x="285" y="33"/>
                    <a:pt x="304" y="61"/>
                  </a:cubicBezTo>
                  <a:cubicBezTo>
                    <a:pt x="312" y="73"/>
                    <a:pt x="326" y="88"/>
                    <a:pt x="345" y="101"/>
                  </a:cubicBezTo>
                  <a:lnTo>
                    <a:pt x="16" y="101"/>
                  </a:lnTo>
                  <a:cubicBezTo>
                    <a:pt x="9" y="101"/>
                    <a:pt x="0" y="101"/>
                    <a:pt x="0" y="109"/>
                  </a:cubicBezTo>
                  <a:cubicBezTo>
                    <a:pt x="0" y="119"/>
                    <a:pt x="9" y="119"/>
                    <a:pt x="16" y="119"/>
                  </a:cubicBezTo>
                  <a:lnTo>
                    <a:pt x="345" y="119"/>
                  </a:lnTo>
                  <a:close/>
                </a:path>
              </a:pathLst>
            </a:custGeom>
            <a:solidFill>
              <a:srgbClr val="000000"/>
            </a:solidFill>
            <a:ln w="15840">
              <a:noFill/>
            </a:ln>
          </p:spPr>
        </p:sp>
        <p:sp>
          <p:nvSpPr>
            <p:cNvPr id="305" name="Freeform 67"/>
            <p:cNvSpPr/>
            <p:nvPr/>
          </p:nvSpPr>
          <p:spPr>
            <a:xfrm>
              <a:off x="8007840" y="2843640"/>
              <a:ext cx="95040" cy="109800"/>
            </a:xfrm>
            <a:custGeom>
              <a:avLst/>
              <a:gdLst/>
              <a:ahLst/>
              <a:cxnLst/>
              <a:rect l="0" t="0" r="r" b="b"/>
              <a:pathLst>
                <a:path w="264" h="305">
                  <a:moveTo>
                    <a:pt x="263" y="4"/>
                  </a:moveTo>
                  <a:cubicBezTo>
                    <a:pt x="263" y="2"/>
                    <a:pt x="262" y="0"/>
                    <a:pt x="259" y="0"/>
                  </a:cubicBezTo>
                  <a:cubicBezTo>
                    <a:pt x="255" y="0"/>
                    <a:pt x="255" y="0"/>
                    <a:pt x="250" y="7"/>
                  </a:cubicBezTo>
                  <a:lnTo>
                    <a:pt x="229" y="31"/>
                  </a:lnTo>
                  <a:cubicBezTo>
                    <a:pt x="217" y="11"/>
                    <a:pt x="193" y="0"/>
                    <a:pt x="165" y="0"/>
                  </a:cubicBezTo>
                  <a:cubicBezTo>
                    <a:pt x="109" y="0"/>
                    <a:pt x="57" y="48"/>
                    <a:pt x="57" y="99"/>
                  </a:cubicBezTo>
                  <a:cubicBezTo>
                    <a:pt x="57" y="134"/>
                    <a:pt x="79" y="153"/>
                    <a:pt x="102" y="158"/>
                  </a:cubicBezTo>
                  <a:lnTo>
                    <a:pt x="150" y="170"/>
                  </a:lnTo>
                  <a:cubicBezTo>
                    <a:pt x="166" y="174"/>
                    <a:pt x="190" y="181"/>
                    <a:pt x="190" y="215"/>
                  </a:cubicBezTo>
                  <a:cubicBezTo>
                    <a:pt x="190" y="252"/>
                    <a:pt x="154" y="292"/>
                    <a:pt x="110" y="292"/>
                  </a:cubicBezTo>
                  <a:cubicBezTo>
                    <a:pt x="83" y="292"/>
                    <a:pt x="33" y="283"/>
                    <a:pt x="33" y="230"/>
                  </a:cubicBezTo>
                  <a:cubicBezTo>
                    <a:pt x="33" y="221"/>
                    <a:pt x="35" y="210"/>
                    <a:pt x="35" y="208"/>
                  </a:cubicBezTo>
                  <a:cubicBezTo>
                    <a:pt x="36" y="207"/>
                    <a:pt x="36" y="205"/>
                    <a:pt x="36" y="205"/>
                  </a:cubicBezTo>
                  <a:cubicBezTo>
                    <a:pt x="36" y="201"/>
                    <a:pt x="33" y="201"/>
                    <a:pt x="31" y="201"/>
                  </a:cubicBezTo>
                  <a:cubicBezTo>
                    <a:pt x="29" y="201"/>
                    <a:pt x="27" y="201"/>
                    <a:pt x="26" y="202"/>
                  </a:cubicBezTo>
                  <a:cubicBezTo>
                    <a:pt x="25" y="204"/>
                    <a:pt x="0" y="300"/>
                    <a:pt x="0" y="300"/>
                  </a:cubicBezTo>
                  <a:cubicBezTo>
                    <a:pt x="0" y="303"/>
                    <a:pt x="1" y="304"/>
                    <a:pt x="5" y="304"/>
                  </a:cubicBezTo>
                  <a:cubicBezTo>
                    <a:pt x="7" y="304"/>
                    <a:pt x="9" y="304"/>
                    <a:pt x="14" y="299"/>
                  </a:cubicBezTo>
                  <a:lnTo>
                    <a:pt x="35" y="276"/>
                  </a:lnTo>
                  <a:cubicBezTo>
                    <a:pt x="53" y="299"/>
                    <a:pt x="83" y="304"/>
                    <a:pt x="109" y="304"/>
                  </a:cubicBezTo>
                  <a:cubicBezTo>
                    <a:pt x="170" y="304"/>
                    <a:pt x="223" y="249"/>
                    <a:pt x="223" y="197"/>
                  </a:cubicBezTo>
                  <a:cubicBezTo>
                    <a:pt x="223" y="168"/>
                    <a:pt x="207" y="154"/>
                    <a:pt x="200" y="149"/>
                  </a:cubicBezTo>
                  <a:cubicBezTo>
                    <a:pt x="190" y="137"/>
                    <a:pt x="183" y="137"/>
                    <a:pt x="144" y="128"/>
                  </a:cubicBezTo>
                  <a:cubicBezTo>
                    <a:pt x="135" y="124"/>
                    <a:pt x="119" y="120"/>
                    <a:pt x="115" y="120"/>
                  </a:cubicBezTo>
                  <a:cubicBezTo>
                    <a:pt x="103" y="116"/>
                    <a:pt x="87" y="103"/>
                    <a:pt x="87" y="81"/>
                  </a:cubicBezTo>
                  <a:cubicBezTo>
                    <a:pt x="87" y="48"/>
                    <a:pt x="123" y="11"/>
                    <a:pt x="165" y="11"/>
                  </a:cubicBezTo>
                  <a:cubicBezTo>
                    <a:pt x="202" y="11"/>
                    <a:pt x="229" y="29"/>
                    <a:pt x="229" y="77"/>
                  </a:cubicBezTo>
                  <a:cubicBezTo>
                    <a:pt x="229" y="90"/>
                    <a:pt x="227" y="97"/>
                    <a:pt x="227" y="100"/>
                  </a:cubicBezTo>
                  <a:cubicBezTo>
                    <a:pt x="227" y="101"/>
                    <a:pt x="227" y="104"/>
                    <a:pt x="233" y="104"/>
                  </a:cubicBezTo>
                  <a:cubicBezTo>
                    <a:pt x="236" y="104"/>
                    <a:pt x="237" y="103"/>
                    <a:pt x="239" y="96"/>
                  </a:cubicBezTo>
                  <a:lnTo>
                    <a:pt x="263" y="4"/>
                  </a:lnTo>
                  <a:close/>
                </a:path>
              </a:pathLst>
            </a:custGeom>
            <a:solidFill>
              <a:srgbClr val="000000"/>
            </a:solidFill>
            <a:ln w="15840">
              <a:noFill/>
            </a:ln>
          </p:spPr>
        </p:sp>
        <p:sp>
          <p:nvSpPr>
            <p:cNvPr id="306" name="Freeform 68"/>
            <p:cNvSpPr/>
            <p:nvPr/>
          </p:nvSpPr>
          <p:spPr>
            <a:xfrm>
              <a:off x="8118000" y="2824920"/>
              <a:ext cx="41400" cy="70920"/>
            </a:xfrm>
            <a:custGeom>
              <a:avLst/>
              <a:gdLst/>
              <a:ahLst/>
              <a:cxnLst/>
              <a:rect l="0" t="0" r="r" b="b"/>
              <a:pathLst>
                <a:path w="115" h="197">
                  <a:moveTo>
                    <a:pt x="69" y="8"/>
                  </a:moveTo>
                  <a:cubicBezTo>
                    <a:pt x="69" y="0"/>
                    <a:pt x="69" y="0"/>
                    <a:pt x="61" y="0"/>
                  </a:cubicBezTo>
                  <a:cubicBezTo>
                    <a:pt x="41" y="18"/>
                    <a:pt x="14" y="19"/>
                    <a:pt x="0" y="19"/>
                  </a:cubicBezTo>
                  <a:lnTo>
                    <a:pt x="0" y="29"/>
                  </a:lnTo>
                  <a:cubicBezTo>
                    <a:pt x="7" y="29"/>
                    <a:pt x="27" y="29"/>
                    <a:pt x="45" y="21"/>
                  </a:cubicBezTo>
                  <a:lnTo>
                    <a:pt x="45" y="171"/>
                  </a:lnTo>
                  <a:cubicBezTo>
                    <a:pt x="45" y="181"/>
                    <a:pt x="45" y="184"/>
                    <a:pt x="15" y="184"/>
                  </a:cubicBezTo>
                  <a:lnTo>
                    <a:pt x="1" y="184"/>
                  </a:lnTo>
                  <a:lnTo>
                    <a:pt x="1" y="196"/>
                  </a:lnTo>
                  <a:cubicBezTo>
                    <a:pt x="9" y="196"/>
                    <a:pt x="47" y="194"/>
                    <a:pt x="57" y="194"/>
                  </a:cubicBezTo>
                  <a:cubicBezTo>
                    <a:pt x="67" y="194"/>
                    <a:pt x="107" y="196"/>
                    <a:pt x="114" y="196"/>
                  </a:cubicBezTo>
                  <a:lnTo>
                    <a:pt x="114" y="184"/>
                  </a:lnTo>
                  <a:lnTo>
                    <a:pt x="102" y="184"/>
                  </a:lnTo>
                  <a:cubicBezTo>
                    <a:pt x="69" y="184"/>
                    <a:pt x="69" y="181"/>
                    <a:pt x="69" y="171"/>
                  </a:cubicBezTo>
                  <a:lnTo>
                    <a:pt x="69" y="8"/>
                  </a:lnTo>
                  <a:close/>
                </a:path>
              </a:pathLst>
            </a:custGeom>
            <a:solidFill>
              <a:srgbClr val="000000"/>
            </a:solidFill>
            <a:ln w="15840">
              <a:noFill/>
            </a:ln>
          </p:spPr>
        </p:sp>
        <p:sp>
          <p:nvSpPr>
            <p:cNvPr id="307" name="Freeform 69"/>
            <p:cNvSpPr/>
            <p:nvPr/>
          </p:nvSpPr>
          <p:spPr>
            <a:xfrm>
              <a:off x="8105040" y="2919240"/>
              <a:ext cx="55080" cy="75240"/>
            </a:xfrm>
            <a:custGeom>
              <a:avLst/>
              <a:gdLst/>
              <a:ahLst/>
              <a:cxnLst/>
              <a:rect l="0" t="0" r="r" b="b"/>
              <a:pathLst>
                <a:path w="153" h="209">
                  <a:moveTo>
                    <a:pt x="74" y="8"/>
                  </a:moveTo>
                  <a:cubicBezTo>
                    <a:pt x="74" y="8"/>
                    <a:pt x="76" y="5"/>
                    <a:pt x="76" y="4"/>
                  </a:cubicBezTo>
                  <a:cubicBezTo>
                    <a:pt x="76" y="2"/>
                    <a:pt x="74" y="0"/>
                    <a:pt x="69" y="0"/>
                  </a:cubicBezTo>
                  <a:cubicBezTo>
                    <a:pt x="64" y="0"/>
                    <a:pt x="38" y="1"/>
                    <a:pt x="31" y="2"/>
                  </a:cubicBezTo>
                  <a:cubicBezTo>
                    <a:pt x="27" y="2"/>
                    <a:pt x="25" y="4"/>
                    <a:pt x="25" y="9"/>
                  </a:cubicBezTo>
                  <a:cubicBezTo>
                    <a:pt x="25" y="14"/>
                    <a:pt x="27" y="14"/>
                    <a:pt x="32" y="14"/>
                  </a:cubicBezTo>
                  <a:cubicBezTo>
                    <a:pt x="47" y="14"/>
                    <a:pt x="47" y="16"/>
                    <a:pt x="47" y="18"/>
                  </a:cubicBezTo>
                  <a:cubicBezTo>
                    <a:pt x="47" y="20"/>
                    <a:pt x="47" y="22"/>
                    <a:pt x="45" y="25"/>
                  </a:cubicBezTo>
                  <a:lnTo>
                    <a:pt x="1" y="191"/>
                  </a:lnTo>
                  <a:cubicBezTo>
                    <a:pt x="0" y="196"/>
                    <a:pt x="0" y="197"/>
                    <a:pt x="0" y="198"/>
                  </a:cubicBezTo>
                  <a:cubicBezTo>
                    <a:pt x="0" y="202"/>
                    <a:pt x="4" y="208"/>
                    <a:pt x="11" y="208"/>
                  </a:cubicBezTo>
                  <a:cubicBezTo>
                    <a:pt x="19" y="208"/>
                    <a:pt x="24" y="201"/>
                    <a:pt x="25" y="196"/>
                  </a:cubicBezTo>
                  <a:cubicBezTo>
                    <a:pt x="25" y="192"/>
                    <a:pt x="40" y="142"/>
                    <a:pt x="41" y="137"/>
                  </a:cubicBezTo>
                  <a:cubicBezTo>
                    <a:pt x="62" y="140"/>
                    <a:pt x="81" y="147"/>
                    <a:pt x="81" y="162"/>
                  </a:cubicBezTo>
                  <a:cubicBezTo>
                    <a:pt x="81" y="163"/>
                    <a:pt x="81" y="164"/>
                    <a:pt x="79" y="168"/>
                  </a:cubicBezTo>
                  <a:cubicBezTo>
                    <a:pt x="78" y="173"/>
                    <a:pt x="78" y="174"/>
                    <a:pt x="78" y="177"/>
                  </a:cubicBezTo>
                  <a:cubicBezTo>
                    <a:pt x="78" y="198"/>
                    <a:pt x="97" y="208"/>
                    <a:pt x="112" y="208"/>
                  </a:cubicBezTo>
                  <a:cubicBezTo>
                    <a:pt x="141" y="208"/>
                    <a:pt x="151" y="163"/>
                    <a:pt x="151" y="162"/>
                  </a:cubicBezTo>
                  <a:cubicBezTo>
                    <a:pt x="151" y="158"/>
                    <a:pt x="148" y="158"/>
                    <a:pt x="145" y="158"/>
                  </a:cubicBezTo>
                  <a:cubicBezTo>
                    <a:pt x="141" y="158"/>
                    <a:pt x="141" y="160"/>
                    <a:pt x="140" y="165"/>
                  </a:cubicBezTo>
                  <a:cubicBezTo>
                    <a:pt x="135" y="177"/>
                    <a:pt x="128" y="198"/>
                    <a:pt x="112" y="198"/>
                  </a:cubicBezTo>
                  <a:cubicBezTo>
                    <a:pt x="103" y="198"/>
                    <a:pt x="102" y="191"/>
                    <a:pt x="102" y="183"/>
                  </a:cubicBezTo>
                  <a:cubicBezTo>
                    <a:pt x="102" y="180"/>
                    <a:pt x="102" y="177"/>
                    <a:pt x="103" y="170"/>
                  </a:cubicBezTo>
                  <a:cubicBezTo>
                    <a:pt x="103" y="169"/>
                    <a:pt x="104" y="164"/>
                    <a:pt x="104" y="161"/>
                  </a:cubicBezTo>
                  <a:cubicBezTo>
                    <a:pt x="104" y="135"/>
                    <a:pt x="67" y="130"/>
                    <a:pt x="53" y="130"/>
                  </a:cubicBezTo>
                  <a:cubicBezTo>
                    <a:pt x="63" y="124"/>
                    <a:pt x="74" y="115"/>
                    <a:pt x="81" y="110"/>
                  </a:cubicBezTo>
                  <a:cubicBezTo>
                    <a:pt x="95" y="96"/>
                    <a:pt x="112" y="82"/>
                    <a:pt x="129" y="82"/>
                  </a:cubicBezTo>
                  <a:cubicBezTo>
                    <a:pt x="133" y="82"/>
                    <a:pt x="136" y="84"/>
                    <a:pt x="139" y="87"/>
                  </a:cubicBezTo>
                  <a:cubicBezTo>
                    <a:pt x="125" y="88"/>
                    <a:pt x="123" y="97"/>
                    <a:pt x="123" y="103"/>
                  </a:cubicBezTo>
                  <a:cubicBezTo>
                    <a:pt x="123" y="109"/>
                    <a:pt x="129" y="114"/>
                    <a:pt x="135" y="114"/>
                  </a:cubicBezTo>
                  <a:cubicBezTo>
                    <a:pt x="144" y="114"/>
                    <a:pt x="152" y="108"/>
                    <a:pt x="152" y="95"/>
                  </a:cubicBezTo>
                  <a:cubicBezTo>
                    <a:pt x="152" y="86"/>
                    <a:pt x="145" y="74"/>
                    <a:pt x="129" y="74"/>
                  </a:cubicBezTo>
                  <a:cubicBezTo>
                    <a:pt x="112" y="74"/>
                    <a:pt x="95" y="87"/>
                    <a:pt x="79" y="100"/>
                  </a:cubicBezTo>
                  <a:cubicBezTo>
                    <a:pt x="67" y="113"/>
                    <a:pt x="57" y="121"/>
                    <a:pt x="43" y="127"/>
                  </a:cubicBezTo>
                  <a:lnTo>
                    <a:pt x="74" y="8"/>
                  </a:lnTo>
                  <a:close/>
                </a:path>
              </a:pathLst>
            </a:custGeom>
            <a:solidFill>
              <a:srgbClr val="000000"/>
            </a:solidFill>
            <a:ln w="15840">
              <a:noFill/>
            </a:ln>
          </p:spPr>
        </p:sp>
        <p:sp>
          <p:nvSpPr>
            <p:cNvPr id="308" name="Freeform 70"/>
            <p:cNvSpPr/>
            <p:nvPr/>
          </p:nvSpPr>
          <p:spPr>
            <a:xfrm>
              <a:off x="8186040" y="2843640"/>
              <a:ext cx="95040" cy="109800"/>
            </a:xfrm>
            <a:custGeom>
              <a:avLst/>
              <a:gdLst/>
              <a:ahLst/>
              <a:cxnLst/>
              <a:rect l="0" t="0" r="r" b="b"/>
              <a:pathLst>
                <a:path w="264" h="305">
                  <a:moveTo>
                    <a:pt x="263" y="4"/>
                  </a:moveTo>
                  <a:cubicBezTo>
                    <a:pt x="263" y="2"/>
                    <a:pt x="262" y="0"/>
                    <a:pt x="259" y="0"/>
                  </a:cubicBezTo>
                  <a:cubicBezTo>
                    <a:pt x="255" y="0"/>
                    <a:pt x="255" y="0"/>
                    <a:pt x="250" y="7"/>
                  </a:cubicBezTo>
                  <a:lnTo>
                    <a:pt x="229" y="31"/>
                  </a:lnTo>
                  <a:cubicBezTo>
                    <a:pt x="217" y="11"/>
                    <a:pt x="193" y="0"/>
                    <a:pt x="165" y="0"/>
                  </a:cubicBezTo>
                  <a:cubicBezTo>
                    <a:pt x="109" y="0"/>
                    <a:pt x="57" y="48"/>
                    <a:pt x="57" y="99"/>
                  </a:cubicBezTo>
                  <a:cubicBezTo>
                    <a:pt x="57" y="134"/>
                    <a:pt x="79" y="153"/>
                    <a:pt x="102" y="158"/>
                  </a:cubicBezTo>
                  <a:lnTo>
                    <a:pt x="150" y="170"/>
                  </a:lnTo>
                  <a:cubicBezTo>
                    <a:pt x="166" y="174"/>
                    <a:pt x="190" y="181"/>
                    <a:pt x="190" y="215"/>
                  </a:cubicBezTo>
                  <a:cubicBezTo>
                    <a:pt x="190" y="252"/>
                    <a:pt x="154" y="292"/>
                    <a:pt x="110" y="292"/>
                  </a:cubicBezTo>
                  <a:cubicBezTo>
                    <a:pt x="83" y="292"/>
                    <a:pt x="33" y="283"/>
                    <a:pt x="33" y="230"/>
                  </a:cubicBezTo>
                  <a:cubicBezTo>
                    <a:pt x="33" y="221"/>
                    <a:pt x="35" y="210"/>
                    <a:pt x="35" y="208"/>
                  </a:cubicBezTo>
                  <a:cubicBezTo>
                    <a:pt x="36" y="207"/>
                    <a:pt x="36" y="205"/>
                    <a:pt x="36" y="205"/>
                  </a:cubicBezTo>
                  <a:cubicBezTo>
                    <a:pt x="36" y="201"/>
                    <a:pt x="33" y="201"/>
                    <a:pt x="31" y="201"/>
                  </a:cubicBezTo>
                  <a:cubicBezTo>
                    <a:pt x="29" y="201"/>
                    <a:pt x="27" y="201"/>
                    <a:pt x="26" y="202"/>
                  </a:cubicBezTo>
                  <a:cubicBezTo>
                    <a:pt x="25" y="204"/>
                    <a:pt x="0" y="300"/>
                    <a:pt x="0" y="300"/>
                  </a:cubicBezTo>
                  <a:cubicBezTo>
                    <a:pt x="0" y="303"/>
                    <a:pt x="1" y="304"/>
                    <a:pt x="5" y="304"/>
                  </a:cubicBezTo>
                  <a:cubicBezTo>
                    <a:pt x="7" y="304"/>
                    <a:pt x="7" y="304"/>
                    <a:pt x="14" y="299"/>
                  </a:cubicBezTo>
                  <a:lnTo>
                    <a:pt x="35" y="276"/>
                  </a:lnTo>
                  <a:cubicBezTo>
                    <a:pt x="53" y="299"/>
                    <a:pt x="83" y="304"/>
                    <a:pt x="109" y="304"/>
                  </a:cubicBezTo>
                  <a:cubicBezTo>
                    <a:pt x="170" y="304"/>
                    <a:pt x="223" y="249"/>
                    <a:pt x="223" y="197"/>
                  </a:cubicBezTo>
                  <a:cubicBezTo>
                    <a:pt x="223" y="168"/>
                    <a:pt x="207" y="154"/>
                    <a:pt x="200" y="149"/>
                  </a:cubicBezTo>
                  <a:cubicBezTo>
                    <a:pt x="190" y="137"/>
                    <a:pt x="183" y="137"/>
                    <a:pt x="144" y="128"/>
                  </a:cubicBezTo>
                  <a:cubicBezTo>
                    <a:pt x="135" y="124"/>
                    <a:pt x="119" y="120"/>
                    <a:pt x="115" y="120"/>
                  </a:cubicBezTo>
                  <a:cubicBezTo>
                    <a:pt x="103" y="116"/>
                    <a:pt x="87" y="103"/>
                    <a:pt x="87" y="81"/>
                  </a:cubicBezTo>
                  <a:cubicBezTo>
                    <a:pt x="87" y="48"/>
                    <a:pt x="123" y="11"/>
                    <a:pt x="165" y="11"/>
                  </a:cubicBezTo>
                  <a:cubicBezTo>
                    <a:pt x="202" y="11"/>
                    <a:pt x="229" y="29"/>
                    <a:pt x="229" y="77"/>
                  </a:cubicBezTo>
                  <a:cubicBezTo>
                    <a:pt x="229" y="90"/>
                    <a:pt x="227" y="97"/>
                    <a:pt x="227" y="100"/>
                  </a:cubicBezTo>
                  <a:cubicBezTo>
                    <a:pt x="227" y="101"/>
                    <a:pt x="227" y="104"/>
                    <a:pt x="233" y="104"/>
                  </a:cubicBezTo>
                  <a:cubicBezTo>
                    <a:pt x="236" y="104"/>
                    <a:pt x="237" y="103"/>
                    <a:pt x="239" y="96"/>
                  </a:cubicBezTo>
                  <a:lnTo>
                    <a:pt x="263" y="4"/>
                  </a:lnTo>
                  <a:close/>
                </a:path>
              </a:pathLst>
            </a:custGeom>
            <a:solidFill>
              <a:srgbClr val="000000"/>
            </a:solidFill>
            <a:ln w="15840">
              <a:noFill/>
            </a:ln>
          </p:spPr>
        </p:sp>
        <p:sp>
          <p:nvSpPr>
            <p:cNvPr id="309" name="Freeform 71"/>
            <p:cNvSpPr/>
            <p:nvPr/>
          </p:nvSpPr>
          <p:spPr>
            <a:xfrm>
              <a:off x="8291160" y="2824920"/>
              <a:ext cx="50040" cy="70920"/>
            </a:xfrm>
            <a:custGeom>
              <a:avLst/>
              <a:gdLst/>
              <a:ahLst/>
              <a:cxnLst/>
              <a:rect l="0" t="0" r="r" b="b"/>
              <a:pathLst>
                <a:path w="139" h="197">
                  <a:moveTo>
                    <a:pt x="138" y="142"/>
                  </a:moveTo>
                  <a:lnTo>
                    <a:pt x="126" y="142"/>
                  </a:lnTo>
                  <a:cubicBezTo>
                    <a:pt x="125" y="149"/>
                    <a:pt x="123" y="165"/>
                    <a:pt x="119" y="168"/>
                  </a:cubicBezTo>
                  <a:cubicBezTo>
                    <a:pt x="117" y="170"/>
                    <a:pt x="93" y="170"/>
                    <a:pt x="89" y="170"/>
                  </a:cubicBezTo>
                  <a:lnTo>
                    <a:pt x="31" y="170"/>
                  </a:lnTo>
                  <a:cubicBezTo>
                    <a:pt x="63" y="143"/>
                    <a:pt x="74" y="135"/>
                    <a:pt x="93" y="121"/>
                  </a:cubicBezTo>
                  <a:cubicBezTo>
                    <a:pt x="117" y="103"/>
                    <a:pt x="138" y="86"/>
                    <a:pt x="138" y="58"/>
                  </a:cubicBezTo>
                  <a:cubicBezTo>
                    <a:pt x="138" y="22"/>
                    <a:pt x="104" y="0"/>
                    <a:pt x="64" y="0"/>
                  </a:cubicBezTo>
                  <a:cubicBezTo>
                    <a:pt x="26" y="0"/>
                    <a:pt x="0" y="26"/>
                    <a:pt x="0" y="53"/>
                  </a:cubicBezTo>
                  <a:cubicBezTo>
                    <a:pt x="0" y="68"/>
                    <a:pt x="14" y="69"/>
                    <a:pt x="16" y="69"/>
                  </a:cubicBezTo>
                  <a:cubicBezTo>
                    <a:pt x="25" y="69"/>
                    <a:pt x="33" y="63"/>
                    <a:pt x="33" y="54"/>
                  </a:cubicBezTo>
                  <a:cubicBezTo>
                    <a:pt x="33" y="48"/>
                    <a:pt x="31" y="39"/>
                    <a:pt x="15" y="39"/>
                  </a:cubicBezTo>
                  <a:cubicBezTo>
                    <a:pt x="25" y="16"/>
                    <a:pt x="45" y="11"/>
                    <a:pt x="61" y="11"/>
                  </a:cubicBezTo>
                  <a:cubicBezTo>
                    <a:pt x="92" y="11"/>
                    <a:pt x="108" y="33"/>
                    <a:pt x="108" y="58"/>
                  </a:cubicBezTo>
                  <a:cubicBezTo>
                    <a:pt x="108" y="82"/>
                    <a:pt x="89" y="103"/>
                    <a:pt x="78" y="114"/>
                  </a:cubicBezTo>
                  <a:lnTo>
                    <a:pt x="2" y="183"/>
                  </a:lnTo>
                  <a:cubicBezTo>
                    <a:pt x="0" y="187"/>
                    <a:pt x="0" y="188"/>
                    <a:pt x="0" y="196"/>
                  </a:cubicBezTo>
                  <a:lnTo>
                    <a:pt x="129" y="196"/>
                  </a:lnTo>
                  <a:lnTo>
                    <a:pt x="138" y="142"/>
                  </a:lnTo>
                  <a:close/>
                </a:path>
              </a:pathLst>
            </a:custGeom>
            <a:solidFill>
              <a:srgbClr val="000000"/>
            </a:solidFill>
            <a:ln w="15840">
              <a:noFill/>
            </a:ln>
          </p:spPr>
        </p:sp>
        <p:sp>
          <p:nvSpPr>
            <p:cNvPr id="310" name="Freeform 72"/>
            <p:cNvSpPr/>
            <p:nvPr/>
          </p:nvSpPr>
          <p:spPr>
            <a:xfrm>
              <a:off x="8281800" y="2919240"/>
              <a:ext cx="25200" cy="75240"/>
            </a:xfrm>
            <a:custGeom>
              <a:avLst/>
              <a:gdLst/>
              <a:ahLst/>
              <a:cxnLst/>
              <a:rect l="0" t="0" r="r" b="b"/>
              <a:pathLst>
                <a:path w="70" h="209">
                  <a:moveTo>
                    <a:pt x="69" y="8"/>
                  </a:moveTo>
                  <a:cubicBezTo>
                    <a:pt x="69" y="8"/>
                    <a:pt x="69" y="5"/>
                    <a:pt x="69" y="4"/>
                  </a:cubicBezTo>
                  <a:cubicBezTo>
                    <a:pt x="69" y="2"/>
                    <a:pt x="69" y="0"/>
                    <a:pt x="66" y="0"/>
                  </a:cubicBezTo>
                  <a:cubicBezTo>
                    <a:pt x="60" y="0"/>
                    <a:pt x="33" y="1"/>
                    <a:pt x="25" y="2"/>
                  </a:cubicBezTo>
                  <a:cubicBezTo>
                    <a:pt x="24" y="2"/>
                    <a:pt x="17" y="4"/>
                    <a:pt x="17" y="9"/>
                  </a:cubicBezTo>
                  <a:cubicBezTo>
                    <a:pt x="17" y="14"/>
                    <a:pt x="24" y="14"/>
                    <a:pt x="26" y="14"/>
                  </a:cubicBezTo>
                  <a:cubicBezTo>
                    <a:pt x="41" y="14"/>
                    <a:pt x="41" y="16"/>
                    <a:pt x="41" y="18"/>
                  </a:cubicBezTo>
                  <a:cubicBezTo>
                    <a:pt x="41" y="20"/>
                    <a:pt x="41" y="22"/>
                    <a:pt x="41" y="25"/>
                  </a:cubicBezTo>
                  <a:lnTo>
                    <a:pt x="1" y="170"/>
                  </a:lnTo>
                  <a:cubicBezTo>
                    <a:pt x="0" y="174"/>
                    <a:pt x="0" y="176"/>
                    <a:pt x="0" y="180"/>
                  </a:cubicBezTo>
                  <a:cubicBezTo>
                    <a:pt x="0" y="198"/>
                    <a:pt x="17" y="208"/>
                    <a:pt x="33" y="208"/>
                  </a:cubicBezTo>
                  <a:cubicBezTo>
                    <a:pt x="41" y="208"/>
                    <a:pt x="51" y="204"/>
                    <a:pt x="58" y="191"/>
                  </a:cubicBezTo>
                  <a:cubicBezTo>
                    <a:pt x="64" y="181"/>
                    <a:pt x="69" y="163"/>
                    <a:pt x="69" y="162"/>
                  </a:cubicBezTo>
                  <a:cubicBezTo>
                    <a:pt x="69" y="158"/>
                    <a:pt x="66" y="158"/>
                    <a:pt x="64" y="158"/>
                  </a:cubicBezTo>
                  <a:cubicBezTo>
                    <a:pt x="60" y="158"/>
                    <a:pt x="60" y="160"/>
                    <a:pt x="57" y="165"/>
                  </a:cubicBezTo>
                  <a:cubicBezTo>
                    <a:pt x="53" y="180"/>
                    <a:pt x="47" y="198"/>
                    <a:pt x="35" y="198"/>
                  </a:cubicBezTo>
                  <a:cubicBezTo>
                    <a:pt x="26" y="198"/>
                    <a:pt x="24" y="191"/>
                    <a:pt x="24" y="184"/>
                  </a:cubicBezTo>
                  <a:cubicBezTo>
                    <a:pt x="24" y="181"/>
                    <a:pt x="25" y="175"/>
                    <a:pt x="25" y="173"/>
                  </a:cubicBezTo>
                  <a:lnTo>
                    <a:pt x="69" y="8"/>
                  </a:lnTo>
                  <a:close/>
                </a:path>
              </a:pathLst>
            </a:custGeom>
            <a:solidFill>
              <a:srgbClr val="000000"/>
            </a:solidFill>
            <a:ln w="15840">
              <a:noFill/>
            </a:ln>
          </p:spPr>
        </p:sp>
        <p:sp>
          <p:nvSpPr>
            <p:cNvPr id="311" name="Freeform 73"/>
            <p:cNvSpPr/>
            <p:nvPr/>
          </p:nvSpPr>
          <p:spPr>
            <a:xfrm>
              <a:off x="8364240" y="2836800"/>
              <a:ext cx="37440" cy="151200"/>
            </a:xfrm>
            <a:custGeom>
              <a:avLst/>
              <a:gdLst/>
              <a:ahLst/>
              <a:cxnLst/>
              <a:rect l="0" t="0" r="r" b="b"/>
              <a:pathLst>
                <a:path w="104" h="420">
                  <a:moveTo>
                    <a:pt x="103" y="209"/>
                  </a:moveTo>
                  <a:cubicBezTo>
                    <a:pt x="103" y="177"/>
                    <a:pt x="99" y="127"/>
                    <a:pt x="74" y="79"/>
                  </a:cubicBezTo>
                  <a:cubicBezTo>
                    <a:pt x="47" y="27"/>
                    <a:pt x="9" y="0"/>
                    <a:pt x="4" y="0"/>
                  </a:cubicBezTo>
                  <a:cubicBezTo>
                    <a:pt x="1" y="0"/>
                    <a:pt x="0" y="1"/>
                    <a:pt x="0" y="4"/>
                  </a:cubicBezTo>
                  <a:cubicBezTo>
                    <a:pt x="0" y="6"/>
                    <a:pt x="0" y="7"/>
                    <a:pt x="9" y="14"/>
                  </a:cubicBezTo>
                  <a:cubicBezTo>
                    <a:pt x="52" y="55"/>
                    <a:pt x="77" y="122"/>
                    <a:pt x="77" y="209"/>
                  </a:cubicBezTo>
                  <a:cubicBezTo>
                    <a:pt x="77" y="280"/>
                    <a:pt x="61" y="356"/>
                    <a:pt x="6" y="407"/>
                  </a:cubicBezTo>
                  <a:cubicBezTo>
                    <a:pt x="0" y="413"/>
                    <a:pt x="0" y="414"/>
                    <a:pt x="0" y="414"/>
                  </a:cubicBezTo>
                  <a:cubicBezTo>
                    <a:pt x="0" y="418"/>
                    <a:pt x="1" y="419"/>
                    <a:pt x="4" y="419"/>
                  </a:cubicBezTo>
                  <a:cubicBezTo>
                    <a:pt x="9" y="419"/>
                    <a:pt x="50" y="390"/>
                    <a:pt x="76" y="337"/>
                  </a:cubicBezTo>
                  <a:cubicBezTo>
                    <a:pt x="99" y="291"/>
                    <a:pt x="103" y="245"/>
                    <a:pt x="103" y="209"/>
                  </a:cubicBezTo>
                  <a:close/>
                </a:path>
              </a:pathLst>
            </a:custGeom>
            <a:solidFill>
              <a:srgbClr val="000000"/>
            </a:solidFill>
            <a:ln w="15840">
              <a:noFill/>
            </a:ln>
          </p:spPr>
        </p:sp>
        <p:sp>
          <p:nvSpPr>
            <p:cNvPr id="312" name="Freeform 74"/>
            <p:cNvSpPr/>
            <p:nvPr/>
          </p:nvSpPr>
          <p:spPr>
            <a:xfrm>
              <a:off x="8589960" y="2933640"/>
              <a:ext cx="17640" cy="16920"/>
            </a:xfrm>
            <a:custGeom>
              <a:avLst/>
              <a:gdLst/>
              <a:ahLst/>
              <a:cxnLst/>
              <a:rect l="0" t="0" r="r" b="b"/>
              <a:pathLst>
                <a:path w="49" h="47">
                  <a:moveTo>
                    <a:pt x="48" y="23"/>
                  </a:moveTo>
                  <a:cubicBezTo>
                    <a:pt x="48" y="11"/>
                    <a:pt x="37" y="0"/>
                    <a:pt x="25" y="0"/>
                  </a:cubicBezTo>
                  <a:cubicBezTo>
                    <a:pt x="11" y="0"/>
                    <a:pt x="0" y="11"/>
                    <a:pt x="0" y="23"/>
                  </a:cubicBezTo>
                  <a:cubicBezTo>
                    <a:pt x="0" y="35"/>
                    <a:pt x="11" y="46"/>
                    <a:pt x="25" y="46"/>
                  </a:cubicBezTo>
                  <a:cubicBezTo>
                    <a:pt x="37" y="46"/>
                    <a:pt x="48" y="35"/>
                    <a:pt x="48" y="23"/>
                  </a:cubicBezTo>
                  <a:close/>
                </a:path>
              </a:pathLst>
            </a:custGeom>
            <a:solidFill>
              <a:srgbClr val="000000"/>
            </a:solidFill>
            <a:ln w="15840">
              <a:noFill/>
            </a:ln>
          </p:spPr>
        </p:sp>
        <p:sp>
          <p:nvSpPr>
            <p:cNvPr id="313" name="Freeform 75"/>
            <p:cNvSpPr/>
            <p:nvPr/>
          </p:nvSpPr>
          <p:spPr>
            <a:xfrm>
              <a:off x="8660160" y="2933640"/>
              <a:ext cx="17640" cy="16920"/>
            </a:xfrm>
            <a:custGeom>
              <a:avLst/>
              <a:gdLst/>
              <a:ahLst/>
              <a:cxnLst/>
              <a:rect l="0" t="0" r="r" b="b"/>
              <a:pathLst>
                <a:path w="49" h="47">
                  <a:moveTo>
                    <a:pt x="48" y="23"/>
                  </a:moveTo>
                  <a:cubicBezTo>
                    <a:pt x="48" y="11"/>
                    <a:pt x="37" y="0"/>
                    <a:pt x="25" y="0"/>
                  </a:cubicBezTo>
                  <a:cubicBezTo>
                    <a:pt x="11" y="0"/>
                    <a:pt x="0" y="11"/>
                    <a:pt x="0" y="23"/>
                  </a:cubicBezTo>
                  <a:cubicBezTo>
                    <a:pt x="0" y="35"/>
                    <a:pt x="11" y="46"/>
                    <a:pt x="25" y="46"/>
                  </a:cubicBezTo>
                  <a:cubicBezTo>
                    <a:pt x="37" y="46"/>
                    <a:pt x="48" y="35"/>
                    <a:pt x="48" y="23"/>
                  </a:cubicBezTo>
                  <a:close/>
                </a:path>
              </a:pathLst>
            </a:custGeom>
            <a:solidFill>
              <a:srgbClr val="000000"/>
            </a:solidFill>
            <a:ln w="15840">
              <a:noFill/>
            </a:ln>
          </p:spPr>
        </p:sp>
        <p:sp>
          <p:nvSpPr>
            <p:cNvPr id="314" name="Freeform 76"/>
            <p:cNvSpPr/>
            <p:nvPr/>
          </p:nvSpPr>
          <p:spPr>
            <a:xfrm>
              <a:off x="8731440" y="2933640"/>
              <a:ext cx="17640" cy="16920"/>
            </a:xfrm>
            <a:custGeom>
              <a:avLst/>
              <a:gdLst/>
              <a:ahLst/>
              <a:cxnLst/>
              <a:rect l="0" t="0" r="r" b="b"/>
              <a:pathLst>
                <a:path w="49" h="47">
                  <a:moveTo>
                    <a:pt x="48" y="23"/>
                  </a:moveTo>
                  <a:cubicBezTo>
                    <a:pt x="48" y="11"/>
                    <a:pt x="37" y="0"/>
                    <a:pt x="25" y="0"/>
                  </a:cubicBezTo>
                  <a:cubicBezTo>
                    <a:pt x="11" y="0"/>
                    <a:pt x="0" y="11"/>
                    <a:pt x="0" y="23"/>
                  </a:cubicBezTo>
                  <a:cubicBezTo>
                    <a:pt x="0" y="35"/>
                    <a:pt x="11" y="46"/>
                    <a:pt x="25" y="46"/>
                  </a:cubicBezTo>
                  <a:cubicBezTo>
                    <a:pt x="37" y="46"/>
                    <a:pt x="48" y="35"/>
                    <a:pt x="48" y="23"/>
                  </a:cubicBezTo>
                  <a:close/>
                </a:path>
              </a:pathLst>
            </a:custGeom>
            <a:solidFill>
              <a:srgbClr val="000000"/>
            </a:solidFill>
            <a:ln w="15840">
              <a:noFill/>
            </a:ln>
          </p:spPr>
        </p:sp>
        <p:sp>
          <p:nvSpPr>
            <p:cNvPr id="315" name="Freeform 77"/>
            <p:cNvSpPr/>
            <p:nvPr/>
          </p:nvSpPr>
          <p:spPr>
            <a:xfrm>
              <a:off x="6897240" y="3400200"/>
              <a:ext cx="17640" cy="16920"/>
            </a:xfrm>
            <a:custGeom>
              <a:avLst/>
              <a:gdLst/>
              <a:ahLst/>
              <a:cxnLst/>
              <a:rect l="0" t="0" r="r" b="b"/>
              <a:pathLst>
                <a:path w="49" h="47">
                  <a:moveTo>
                    <a:pt x="48" y="23"/>
                  </a:moveTo>
                  <a:cubicBezTo>
                    <a:pt x="48" y="11"/>
                    <a:pt x="37" y="0"/>
                    <a:pt x="25" y="0"/>
                  </a:cubicBezTo>
                  <a:cubicBezTo>
                    <a:pt x="11" y="0"/>
                    <a:pt x="0" y="11"/>
                    <a:pt x="0" y="23"/>
                  </a:cubicBezTo>
                  <a:cubicBezTo>
                    <a:pt x="0" y="35"/>
                    <a:pt x="11" y="46"/>
                    <a:pt x="25" y="46"/>
                  </a:cubicBezTo>
                  <a:cubicBezTo>
                    <a:pt x="37" y="46"/>
                    <a:pt x="48" y="35"/>
                    <a:pt x="48" y="23"/>
                  </a:cubicBezTo>
                  <a:close/>
                </a:path>
              </a:pathLst>
            </a:custGeom>
            <a:solidFill>
              <a:srgbClr val="000000"/>
            </a:solidFill>
            <a:ln w="15840">
              <a:noFill/>
            </a:ln>
          </p:spPr>
        </p:sp>
        <p:sp>
          <p:nvSpPr>
            <p:cNvPr id="316" name="Freeform 78"/>
            <p:cNvSpPr/>
            <p:nvPr/>
          </p:nvSpPr>
          <p:spPr>
            <a:xfrm>
              <a:off x="6967440" y="3400200"/>
              <a:ext cx="17640" cy="16920"/>
            </a:xfrm>
            <a:custGeom>
              <a:avLst/>
              <a:gdLst/>
              <a:ahLst/>
              <a:cxnLst/>
              <a:rect l="0" t="0" r="r" b="b"/>
              <a:pathLst>
                <a:path w="49" h="47">
                  <a:moveTo>
                    <a:pt x="48" y="23"/>
                  </a:moveTo>
                  <a:cubicBezTo>
                    <a:pt x="48" y="11"/>
                    <a:pt x="37" y="0"/>
                    <a:pt x="25" y="0"/>
                  </a:cubicBezTo>
                  <a:cubicBezTo>
                    <a:pt x="11" y="0"/>
                    <a:pt x="0" y="11"/>
                    <a:pt x="0" y="23"/>
                  </a:cubicBezTo>
                  <a:cubicBezTo>
                    <a:pt x="0" y="35"/>
                    <a:pt x="11" y="46"/>
                    <a:pt x="25" y="46"/>
                  </a:cubicBezTo>
                  <a:cubicBezTo>
                    <a:pt x="37" y="46"/>
                    <a:pt x="48" y="35"/>
                    <a:pt x="48" y="23"/>
                  </a:cubicBezTo>
                  <a:close/>
                </a:path>
              </a:pathLst>
            </a:custGeom>
            <a:solidFill>
              <a:srgbClr val="000000"/>
            </a:solidFill>
            <a:ln w="15840">
              <a:noFill/>
            </a:ln>
          </p:spPr>
        </p:sp>
        <p:sp>
          <p:nvSpPr>
            <p:cNvPr id="317" name="Freeform 79"/>
            <p:cNvSpPr/>
            <p:nvPr/>
          </p:nvSpPr>
          <p:spPr>
            <a:xfrm>
              <a:off x="7038360" y="3400200"/>
              <a:ext cx="17640" cy="16920"/>
            </a:xfrm>
            <a:custGeom>
              <a:avLst/>
              <a:gdLst/>
              <a:ahLst/>
              <a:cxnLst/>
              <a:rect l="0" t="0" r="r" b="b"/>
              <a:pathLst>
                <a:path w="49" h="47">
                  <a:moveTo>
                    <a:pt x="48" y="23"/>
                  </a:moveTo>
                  <a:cubicBezTo>
                    <a:pt x="48" y="11"/>
                    <a:pt x="37" y="0"/>
                    <a:pt x="25" y="0"/>
                  </a:cubicBezTo>
                  <a:cubicBezTo>
                    <a:pt x="11" y="0"/>
                    <a:pt x="0" y="11"/>
                    <a:pt x="0" y="23"/>
                  </a:cubicBezTo>
                  <a:cubicBezTo>
                    <a:pt x="0" y="35"/>
                    <a:pt x="11" y="46"/>
                    <a:pt x="25" y="46"/>
                  </a:cubicBezTo>
                  <a:cubicBezTo>
                    <a:pt x="37" y="46"/>
                    <a:pt x="48" y="35"/>
                    <a:pt x="48" y="23"/>
                  </a:cubicBezTo>
                  <a:close/>
                </a:path>
              </a:pathLst>
            </a:custGeom>
            <a:solidFill>
              <a:srgbClr val="000000"/>
            </a:solidFill>
            <a:ln w="15840">
              <a:noFill/>
            </a:ln>
          </p:spPr>
        </p:sp>
        <p:sp>
          <p:nvSpPr>
            <p:cNvPr id="318" name="Freeform 80"/>
            <p:cNvSpPr/>
            <p:nvPr/>
          </p:nvSpPr>
          <p:spPr>
            <a:xfrm>
              <a:off x="7827120" y="3279960"/>
              <a:ext cx="17640" cy="16920"/>
            </a:xfrm>
            <a:custGeom>
              <a:avLst/>
              <a:gdLst/>
              <a:ahLst/>
              <a:cxnLst/>
              <a:rect l="0" t="0" r="r" b="b"/>
              <a:pathLst>
                <a:path w="49" h="47">
                  <a:moveTo>
                    <a:pt x="48" y="23"/>
                  </a:moveTo>
                  <a:cubicBezTo>
                    <a:pt x="48" y="11"/>
                    <a:pt x="37" y="0"/>
                    <a:pt x="25" y="0"/>
                  </a:cubicBezTo>
                  <a:cubicBezTo>
                    <a:pt x="11" y="0"/>
                    <a:pt x="0" y="11"/>
                    <a:pt x="0" y="23"/>
                  </a:cubicBezTo>
                  <a:cubicBezTo>
                    <a:pt x="0" y="35"/>
                    <a:pt x="11" y="46"/>
                    <a:pt x="25" y="46"/>
                  </a:cubicBezTo>
                  <a:cubicBezTo>
                    <a:pt x="37" y="46"/>
                    <a:pt x="48" y="35"/>
                    <a:pt x="48" y="23"/>
                  </a:cubicBezTo>
                  <a:close/>
                </a:path>
              </a:pathLst>
            </a:custGeom>
            <a:solidFill>
              <a:srgbClr val="000000"/>
            </a:solidFill>
            <a:ln w="15840">
              <a:noFill/>
            </a:ln>
          </p:spPr>
        </p:sp>
        <p:sp>
          <p:nvSpPr>
            <p:cNvPr id="319" name="Freeform 81"/>
            <p:cNvSpPr/>
            <p:nvPr/>
          </p:nvSpPr>
          <p:spPr>
            <a:xfrm>
              <a:off x="7827120" y="3340440"/>
              <a:ext cx="17640" cy="16920"/>
            </a:xfrm>
            <a:custGeom>
              <a:avLst/>
              <a:gdLst/>
              <a:ahLst/>
              <a:cxnLst/>
              <a:rect l="0" t="0" r="r" b="b"/>
              <a:pathLst>
                <a:path w="49" h="47">
                  <a:moveTo>
                    <a:pt x="48" y="23"/>
                  </a:moveTo>
                  <a:cubicBezTo>
                    <a:pt x="48" y="11"/>
                    <a:pt x="37" y="0"/>
                    <a:pt x="25" y="0"/>
                  </a:cubicBezTo>
                  <a:cubicBezTo>
                    <a:pt x="11" y="0"/>
                    <a:pt x="0" y="11"/>
                    <a:pt x="0" y="23"/>
                  </a:cubicBezTo>
                  <a:cubicBezTo>
                    <a:pt x="0" y="35"/>
                    <a:pt x="11" y="46"/>
                    <a:pt x="25" y="46"/>
                  </a:cubicBezTo>
                  <a:cubicBezTo>
                    <a:pt x="37" y="46"/>
                    <a:pt x="48" y="35"/>
                    <a:pt x="48" y="23"/>
                  </a:cubicBezTo>
                  <a:close/>
                </a:path>
              </a:pathLst>
            </a:custGeom>
            <a:solidFill>
              <a:srgbClr val="000000"/>
            </a:solidFill>
            <a:ln w="15840">
              <a:noFill/>
            </a:ln>
          </p:spPr>
        </p:sp>
        <p:sp>
          <p:nvSpPr>
            <p:cNvPr id="320" name="Freeform 82"/>
            <p:cNvSpPr/>
            <p:nvPr/>
          </p:nvSpPr>
          <p:spPr>
            <a:xfrm>
              <a:off x="7827120" y="3400200"/>
              <a:ext cx="17640" cy="16920"/>
            </a:xfrm>
            <a:custGeom>
              <a:avLst/>
              <a:gdLst/>
              <a:ahLst/>
              <a:cxnLst/>
              <a:rect l="0" t="0" r="r" b="b"/>
              <a:pathLst>
                <a:path w="49" h="47">
                  <a:moveTo>
                    <a:pt x="48" y="23"/>
                  </a:moveTo>
                  <a:cubicBezTo>
                    <a:pt x="48" y="11"/>
                    <a:pt x="37" y="0"/>
                    <a:pt x="25" y="0"/>
                  </a:cubicBezTo>
                  <a:cubicBezTo>
                    <a:pt x="11" y="0"/>
                    <a:pt x="0" y="11"/>
                    <a:pt x="0" y="23"/>
                  </a:cubicBezTo>
                  <a:cubicBezTo>
                    <a:pt x="0" y="35"/>
                    <a:pt x="11" y="46"/>
                    <a:pt x="25" y="46"/>
                  </a:cubicBezTo>
                  <a:cubicBezTo>
                    <a:pt x="37" y="46"/>
                    <a:pt x="48" y="35"/>
                    <a:pt x="48" y="23"/>
                  </a:cubicBezTo>
                  <a:close/>
                </a:path>
              </a:pathLst>
            </a:custGeom>
            <a:solidFill>
              <a:srgbClr val="000000"/>
            </a:solidFill>
            <a:ln w="15840">
              <a:noFill/>
            </a:ln>
          </p:spPr>
        </p:sp>
        <p:sp>
          <p:nvSpPr>
            <p:cNvPr id="321" name="Freeform 83"/>
            <p:cNvSpPr/>
            <p:nvPr/>
          </p:nvSpPr>
          <p:spPr>
            <a:xfrm>
              <a:off x="8589960" y="3400200"/>
              <a:ext cx="17640" cy="16920"/>
            </a:xfrm>
            <a:custGeom>
              <a:avLst/>
              <a:gdLst/>
              <a:ahLst/>
              <a:cxnLst/>
              <a:rect l="0" t="0" r="r" b="b"/>
              <a:pathLst>
                <a:path w="49" h="47">
                  <a:moveTo>
                    <a:pt x="48" y="23"/>
                  </a:moveTo>
                  <a:cubicBezTo>
                    <a:pt x="48" y="11"/>
                    <a:pt x="37" y="0"/>
                    <a:pt x="25" y="0"/>
                  </a:cubicBezTo>
                  <a:cubicBezTo>
                    <a:pt x="11" y="0"/>
                    <a:pt x="0" y="11"/>
                    <a:pt x="0" y="23"/>
                  </a:cubicBezTo>
                  <a:cubicBezTo>
                    <a:pt x="0" y="35"/>
                    <a:pt x="11" y="46"/>
                    <a:pt x="25" y="46"/>
                  </a:cubicBezTo>
                  <a:cubicBezTo>
                    <a:pt x="37" y="46"/>
                    <a:pt x="48" y="35"/>
                    <a:pt x="48" y="23"/>
                  </a:cubicBezTo>
                  <a:close/>
                </a:path>
              </a:pathLst>
            </a:custGeom>
            <a:solidFill>
              <a:srgbClr val="000000"/>
            </a:solidFill>
            <a:ln w="15840">
              <a:noFill/>
            </a:ln>
          </p:spPr>
        </p:sp>
        <p:sp>
          <p:nvSpPr>
            <p:cNvPr id="322" name="Freeform 84"/>
            <p:cNvSpPr/>
            <p:nvPr/>
          </p:nvSpPr>
          <p:spPr>
            <a:xfrm>
              <a:off x="8660160" y="3400200"/>
              <a:ext cx="17640" cy="16920"/>
            </a:xfrm>
            <a:custGeom>
              <a:avLst/>
              <a:gdLst/>
              <a:ahLst/>
              <a:cxnLst/>
              <a:rect l="0" t="0" r="r" b="b"/>
              <a:pathLst>
                <a:path w="49" h="47">
                  <a:moveTo>
                    <a:pt x="48" y="23"/>
                  </a:moveTo>
                  <a:cubicBezTo>
                    <a:pt x="48" y="11"/>
                    <a:pt x="37" y="0"/>
                    <a:pt x="25" y="0"/>
                  </a:cubicBezTo>
                  <a:cubicBezTo>
                    <a:pt x="11" y="0"/>
                    <a:pt x="0" y="11"/>
                    <a:pt x="0" y="23"/>
                  </a:cubicBezTo>
                  <a:cubicBezTo>
                    <a:pt x="0" y="35"/>
                    <a:pt x="11" y="46"/>
                    <a:pt x="25" y="46"/>
                  </a:cubicBezTo>
                  <a:cubicBezTo>
                    <a:pt x="37" y="46"/>
                    <a:pt x="48" y="35"/>
                    <a:pt x="48" y="23"/>
                  </a:cubicBezTo>
                  <a:close/>
                </a:path>
              </a:pathLst>
            </a:custGeom>
            <a:solidFill>
              <a:srgbClr val="000000"/>
            </a:solidFill>
            <a:ln w="15840">
              <a:noFill/>
            </a:ln>
          </p:spPr>
        </p:sp>
        <p:sp>
          <p:nvSpPr>
            <p:cNvPr id="323" name="Freeform 85"/>
            <p:cNvSpPr/>
            <p:nvPr/>
          </p:nvSpPr>
          <p:spPr>
            <a:xfrm>
              <a:off x="8731440" y="3400200"/>
              <a:ext cx="17640" cy="16920"/>
            </a:xfrm>
            <a:custGeom>
              <a:avLst/>
              <a:gdLst/>
              <a:ahLst/>
              <a:cxnLst/>
              <a:rect l="0" t="0" r="r" b="b"/>
              <a:pathLst>
                <a:path w="49" h="47">
                  <a:moveTo>
                    <a:pt x="48" y="23"/>
                  </a:moveTo>
                  <a:cubicBezTo>
                    <a:pt x="48" y="11"/>
                    <a:pt x="37" y="0"/>
                    <a:pt x="25" y="0"/>
                  </a:cubicBezTo>
                  <a:cubicBezTo>
                    <a:pt x="11" y="0"/>
                    <a:pt x="0" y="11"/>
                    <a:pt x="0" y="23"/>
                  </a:cubicBezTo>
                  <a:cubicBezTo>
                    <a:pt x="0" y="35"/>
                    <a:pt x="11" y="46"/>
                    <a:pt x="25" y="46"/>
                  </a:cubicBezTo>
                  <a:cubicBezTo>
                    <a:pt x="37" y="46"/>
                    <a:pt x="48" y="35"/>
                    <a:pt x="48" y="23"/>
                  </a:cubicBezTo>
                  <a:close/>
                </a:path>
              </a:pathLst>
            </a:custGeom>
            <a:solidFill>
              <a:srgbClr val="000000"/>
            </a:solidFill>
            <a:ln w="15840">
              <a:noFill/>
            </a:ln>
          </p:spPr>
        </p:sp>
        <p:sp>
          <p:nvSpPr>
            <p:cNvPr id="324" name="Freeform 86"/>
            <p:cNvSpPr/>
            <p:nvPr/>
          </p:nvSpPr>
          <p:spPr>
            <a:xfrm>
              <a:off x="8766720" y="2374560"/>
              <a:ext cx="88200" cy="272880"/>
            </a:xfrm>
            <a:custGeom>
              <a:avLst/>
              <a:gdLst/>
              <a:ahLst/>
              <a:cxnLst/>
              <a:rect l="0" t="0" r="r" b="b"/>
              <a:pathLst>
                <a:path w="245" h="758">
                  <a:moveTo>
                    <a:pt x="244" y="737"/>
                  </a:moveTo>
                  <a:cubicBezTo>
                    <a:pt x="244" y="481"/>
                    <a:pt x="196" y="331"/>
                    <a:pt x="182" y="288"/>
                  </a:cubicBezTo>
                  <a:cubicBezTo>
                    <a:pt x="151" y="196"/>
                    <a:pt x="103" y="97"/>
                    <a:pt x="29" y="11"/>
                  </a:cubicBezTo>
                  <a:cubicBezTo>
                    <a:pt x="22" y="4"/>
                    <a:pt x="20" y="1"/>
                    <a:pt x="19" y="1"/>
                  </a:cubicBezTo>
                  <a:cubicBezTo>
                    <a:pt x="17" y="0"/>
                    <a:pt x="17" y="0"/>
                    <a:pt x="10" y="0"/>
                  </a:cubicBezTo>
                  <a:cubicBezTo>
                    <a:pt x="4" y="0"/>
                    <a:pt x="0" y="0"/>
                    <a:pt x="0" y="4"/>
                  </a:cubicBezTo>
                  <a:cubicBezTo>
                    <a:pt x="0" y="5"/>
                    <a:pt x="0" y="6"/>
                    <a:pt x="6" y="14"/>
                  </a:cubicBezTo>
                  <a:cubicBezTo>
                    <a:pt x="160" y="217"/>
                    <a:pt x="195" y="468"/>
                    <a:pt x="195" y="752"/>
                  </a:cubicBezTo>
                  <a:cubicBezTo>
                    <a:pt x="195" y="757"/>
                    <a:pt x="198" y="757"/>
                    <a:pt x="207" y="757"/>
                  </a:cubicBezTo>
                  <a:lnTo>
                    <a:pt x="233" y="757"/>
                  </a:lnTo>
                  <a:cubicBezTo>
                    <a:pt x="242" y="757"/>
                    <a:pt x="244" y="757"/>
                    <a:pt x="244" y="752"/>
                  </a:cubicBezTo>
                  <a:lnTo>
                    <a:pt x="244" y="737"/>
                  </a:lnTo>
                  <a:close/>
                </a:path>
              </a:pathLst>
            </a:custGeom>
            <a:solidFill>
              <a:srgbClr val="000000"/>
            </a:solidFill>
            <a:ln w="15840">
              <a:noFill/>
            </a:ln>
          </p:spPr>
        </p:sp>
        <p:sp>
          <p:nvSpPr>
            <p:cNvPr id="325" name="Freeform 87"/>
            <p:cNvSpPr/>
            <p:nvPr/>
          </p:nvSpPr>
          <p:spPr>
            <a:xfrm>
              <a:off x="8836560" y="2643840"/>
              <a:ext cx="18720" cy="94320"/>
            </a:xfrm>
            <a:custGeom>
              <a:avLst/>
              <a:gdLst/>
              <a:ahLst/>
              <a:cxnLst/>
              <a:rect l="0" t="0" r="r" b="b"/>
              <a:pathLst>
                <a:path w="52" h="262">
                  <a:moveTo>
                    <a:pt x="51" y="11"/>
                  </a:moveTo>
                  <a:cubicBezTo>
                    <a:pt x="51" y="0"/>
                    <a:pt x="50" y="0"/>
                    <a:pt x="37" y="0"/>
                  </a:cubicBezTo>
                  <a:lnTo>
                    <a:pt x="14" y="0"/>
                  </a:lnTo>
                  <a:cubicBezTo>
                    <a:pt x="0" y="0"/>
                    <a:pt x="0" y="0"/>
                    <a:pt x="0" y="11"/>
                  </a:cubicBezTo>
                  <a:lnTo>
                    <a:pt x="0" y="248"/>
                  </a:lnTo>
                  <a:cubicBezTo>
                    <a:pt x="0" y="261"/>
                    <a:pt x="0" y="261"/>
                    <a:pt x="14" y="261"/>
                  </a:cubicBezTo>
                  <a:lnTo>
                    <a:pt x="37" y="261"/>
                  </a:lnTo>
                  <a:cubicBezTo>
                    <a:pt x="50" y="261"/>
                    <a:pt x="51" y="261"/>
                    <a:pt x="51" y="248"/>
                  </a:cubicBezTo>
                  <a:lnTo>
                    <a:pt x="51" y="11"/>
                  </a:lnTo>
                  <a:close/>
                </a:path>
              </a:pathLst>
            </a:custGeom>
            <a:solidFill>
              <a:srgbClr val="000000"/>
            </a:solidFill>
            <a:ln w="15840">
              <a:noFill/>
            </a:ln>
          </p:spPr>
        </p:sp>
        <p:sp>
          <p:nvSpPr>
            <p:cNvPr id="326" name="Freeform 88"/>
            <p:cNvSpPr/>
            <p:nvPr/>
          </p:nvSpPr>
          <p:spPr>
            <a:xfrm>
              <a:off x="8836560" y="2734200"/>
              <a:ext cx="18720" cy="94320"/>
            </a:xfrm>
            <a:custGeom>
              <a:avLst/>
              <a:gdLst/>
              <a:ahLst/>
              <a:cxnLst/>
              <a:rect l="0" t="0" r="r" b="b"/>
              <a:pathLst>
                <a:path w="52" h="262">
                  <a:moveTo>
                    <a:pt x="51" y="11"/>
                  </a:moveTo>
                  <a:cubicBezTo>
                    <a:pt x="51" y="0"/>
                    <a:pt x="50" y="0"/>
                    <a:pt x="37" y="0"/>
                  </a:cubicBezTo>
                  <a:lnTo>
                    <a:pt x="14" y="0"/>
                  </a:lnTo>
                  <a:cubicBezTo>
                    <a:pt x="0" y="0"/>
                    <a:pt x="0" y="0"/>
                    <a:pt x="0" y="11"/>
                  </a:cubicBezTo>
                  <a:lnTo>
                    <a:pt x="0" y="248"/>
                  </a:lnTo>
                  <a:cubicBezTo>
                    <a:pt x="0" y="261"/>
                    <a:pt x="0" y="261"/>
                    <a:pt x="14" y="261"/>
                  </a:cubicBezTo>
                  <a:lnTo>
                    <a:pt x="37" y="261"/>
                  </a:lnTo>
                  <a:cubicBezTo>
                    <a:pt x="50" y="261"/>
                    <a:pt x="51" y="261"/>
                    <a:pt x="51" y="248"/>
                  </a:cubicBezTo>
                  <a:lnTo>
                    <a:pt x="51" y="11"/>
                  </a:lnTo>
                  <a:close/>
                </a:path>
              </a:pathLst>
            </a:custGeom>
            <a:solidFill>
              <a:srgbClr val="000000"/>
            </a:solidFill>
            <a:ln w="15840">
              <a:noFill/>
            </a:ln>
          </p:spPr>
        </p:sp>
        <p:sp>
          <p:nvSpPr>
            <p:cNvPr id="327" name="Freeform 89"/>
            <p:cNvSpPr/>
            <p:nvPr/>
          </p:nvSpPr>
          <p:spPr>
            <a:xfrm>
              <a:off x="8836560" y="2824200"/>
              <a:ext cx="18720" cy="94320"/>
            </a:xfrm>
            <a:custGeom>
              <a:avLst/>
              <a:gdLst/>
              <a:ahLst/>
              <a:cxnLst/>
              <a:rect l="0" t="0" r="r" b="b"/>
              <a:pathLst>
                <a:path w="52" h="262">
                  <a:moveTo>
                    <a:pt x="51" y="11"/>
                  </a:moveTo>
                  <a:cubicBezTo>
                    <a:pt x="51" y="0"/>
                    <a:pt x="50" y="0"/>
                    <a:pt x="37" y="0"/>
                  </a:cubicBezTo>
                  <a:lnTo>
                    <a:pt x="14" y="0"/>
                  </a:lnTo>
                  <a:cubicBezTo>
                    <a:pt x="0" y="0"/>
                    <a:pt x="0" y="0"/>
                    <a:pt x="0" y="11"/>
                  </a:cubicBezTo>
                  <a:lnTo>
                    <a:pt x="0" y="248"/>
                  </a:lnTo>
                  <a:cubicBezTo>
                    <a:pt x="0" y="261"/>
                    <a:pt x="0" y="261"/>
                    <a:pt x="14" y="261"/>
                  </a:cubicBezTo>
                  <a:lnTo>
                    <a:pt x="37" y="261"/>
                  </a:lnTo>
                  <a:cubicBezTo>
                    <a:pt x="50" y="261"/>
                    <a:pt x="51" y="261"/>
                    <a:pt x="51" y="248"/>
                  </a:cubicBezTo>
                  <a:lnTo>
                    <a:pt x="51" y="11"/>
                  </a:lnTo>
                  <a:close/>
                </a:path>
              </a:pathLst>
            </a:custGeom>
            <a:solidFill>
              <a:srgbClr val="000000"/>
            </a:solidFill>
            <a:ln w="15840">
              <a:noFill/>
            </a:ln>
          </p:spPr>
        </p:sp>
        <p:sp>
          <p:nvSpPr>
            <p:cNvPr id="328" name="Freeform 90"/>
            <p:cNvSpPr/>
            <p:nvPr/>
          </p:nvSpPr>
          <p:spPr>
            <a:xfrm>
              <a:off x="8836560" y="2914920"/>
              <a:ext cx="18720" cy="94320"/>
            </a:xfrm>
            <a:custGeom>
              <a:avLst/>
              <a:gdLst/>
              <a:ahLst/>
              <a:cxnLst/>
              <a:rect l="0" t="0" r="r" b="b"/>
              <a:pathLst>
                <a:path w="52" h="262">
                  <a:moveTo>
                    <a:pt x="51" y="11"/>
                  </a:moveTo>
                  <a:cubicBezTo>
                    <a:pt x="51" y="0"/>
                    <a:pt x="50" y="0"/>
                    <a:pt x="37" y="0"/>
                  </a:cubicBezTo>
                  <a:lnTo>
                    <a:pt x="14" y="0"/>
                  </a:lnTo>
                  <a:cubicBezTo>
                    <a:pt x="0" y="0"/>
                    <a:pt x="0" y="0"/>
                    <a:pt x="0" y="11"/>
                  </a:cubicBezTo>
                  <a:lnTo>
                    <a:pt x="0" y="248"/>
                  </a:lnTo>
                  <a:cubicBezTo>
                    <a:pt x="0" y="261"/>
                    <a:pt x="0" y="261"/>
                    <a:pt x="14" y="261"/>
                  </a:cubicBezTo>
                  <a:lnTo>
                    <a:pt x="37" y="261"/>
                  </a:lnTo>
                  <a:cubicBezTo>
                    <a:pt x="50" y="261"/>
                    <a:pt x="51" y="261"/>
                    <a:pt x="51" y="248"/>
                  </a:cubicBezTo>
                  <a:lnTo>
                    <a:pt x="51" y="11"/>
                  </a:lnTo>
                  <a:close/>
                </a:path>
              </a:pathLst>
            </a:custGeom>
            <a:solidFill>
              <a:srgbClr val="000000"/>
            </a:solidFill>
            <a:ln w="15840">
              <a:noFill/>
            </a:ln>
          </p:spPr>
        </p:sp>
        <p:sp>
          <p:nvSpPr>
            <p:cNvPr id="329" name="Freeform 91"/>
            <p:cNvSpPr/>
            <p:nvPr/>
          </p:nvSpPr>
          <p:spPr>
            <a:xfrm>
              <a:off x="8836560" y="3004920"/>
              <a:ext cx="18720" cy="94320"/>
            </a:xfrm>
            <a:custGeom>
              <a:avLst/>
              <a:gdLst/>
              <a:ahLst/>
              <a:cxnLst/>
              <a:rect l="0" t="0" r="r" b="b"/>
              <a:pathLst>
                <a:path w="52" h="262">
                  <a:moveTo>
                    <a:pt x="51" y="11"/>
                  </a:moveTo>
                  <a:cubicBezTo>
                    <a:pt x="51" y="0"/>
                    <a:pt x="50" y="0"/>
                    <a:pt x="37" y="0"/>
                  </a:cubicBezTo>
                  <a:lnTo>
                    <a:pt x="14" y="0"/>
                  </a:lnTo>
                  <a:cubicBezTo>
                    <a:pt x="0" y="0"/>
                    <a:pt x="0" y="0"/>
                    <a:pt x="0" y="11"/>
                  </a:cubicBezTo>
                  <a:lnTo>
                    <a:pt x="0" y="248"/>
                  </a:lnTo>
                  <a:cubicBezTo>
                    <a:pt x="0" y="261"/>
                    <a:pt x="0" y="261"/>
                    <a:pt x="14" y="261"/>
                  </a:cubicBezTo>
                  <a:lnTo>
                    <a:pt x="37" y="261"/>
                  </a:lnTo>
                  <a:cubicBezTo>
                    <a:pt x="50" y="261"/>
                    <a:pt x="51" y="261"/>
                    <a:pt x="51" y="248"/>
                  </a:cubicBezTo>
                  <a:lnTo>
                    <a:pt x="51" y="11"/>
                  </a:lnTo>
                  <a:close/>
                </a:path>
              </a:pathLst>
            </a:custGeom>
            <a:solidFill>
              <a:srgbClr val="000000"/>
            </a:solidFill>
            <a:ln w="15840">
              <a:noFill/>
            </a:ln>
          </p:spPr>
        </p:sp>
        <p:sp>
          <p:nvSpPr>
            <p:cNvPr id="330" name="Freeform 92"/>
            <p:cNvSpPr/>
            <p:nvPr/>
          </p:nvSpPr>
          <p:spPr>
            <a:xfrm>
              <a:off x="8836560" y="3095280"/>
              <a:ext cx="18720" cy="94320"/>
            </a:xfrm>
            <a:custGeom>
              <a:avLst/>
              <a:gdLst/>
              <a:ahLst/>
              <a:cxnLst/>
              <a:rect l="0" t="0" r="r" b="b"/>
              <a:pathLst>
                <a:path w="52" h="262">
                  <a:moveTo>
                    <a:pt x="51" y="11"/>
                  </a:moveTo>
                  <a:cubicBezTo>
                    <a:pt x="51" y="0"/>
                    <a:pt x="50" y="0"/>
                    <a:pt x="37" y="0"/>
                  </a:cubicBezTo>
                  <a:lnTo>
                    <a:pt x="14" y="0"/>
                  </a:lnTo>
                  <a:cubicBezTo>
                    <a:pt x="0" y="0"/>
                    <a:pt x="0" y="0"/>
                    <a:pt x="0" y="11"/>
                  </a:cubicBezTo>
                  <a:lnTo>
                    <a:pt x="0" y="248"/>
                  </a:lnTo>
                  <a:cubicBezTo>
                    <a:pt x="0" y="261"/>
                    <a:pt x="0" y="261"/>
                    <a:pt x="14" y="261"/>
                  </a:cubicBezTo>
                  <a:lnTo>
                    <a:pt x="37" y="261"/>
                  </a:lnTo>
                  <a:cubicBezTo>
                    <a:pt x="50" y="261"/>
                    <a:pt x="51" y="261"/>
                    <a:pt x="51" y="248"/>
                  </a:cubicBezTo>
                  <a:lnTo>
                    <a:pt x="51" y="11"/>
                  </a:lnTo>
                  <a:close/>
                </a:path>
              </a:pathLst>
            </a:custGeom>
            <a:solidFill>
              <a:srgbClr val="000000"/>
            </a:solidFill>
            <a:ln w="15840">
              <a:noFill/>
            </a:ln>
          </p:spPr>
        </p:sp>
        <p:sp>
          <p:nvSpPr>
            <p:cNvPr id="331" name="Freeform 93"/>
            <p:cNvSpPr/>
            <p:nvPr/>
          </p:nvSpPr>
          <p:spPr>
            <a:xfrm>
              <a:off x="8766720" y="3185640"/>
              <a:ext cx="88200" cy="272880"/>
            </a:xfrm>
            <a:custGeom>
              <a:avLst/>
              <a:gdLst/>
              <a:ahLst/>
              <a:cxnLst/>
              <a:rect l="0" t="0" r="r" b="b"/>
              <a:pathLst>
                <a:path w="245" h="758">
                  <a:moveTo>
                    <a:pt x="244" y="5"/>
                  </a:moveTo>
                  <a:cubicBezTo>
                    <a:pt x="244" y="0"/>
                    <a:pt x="242" y="0"/>
                    <a:pt x="233" y="0"/>
                  </a:cubicBezTo>
                  <a:lnTo>
                    <a:pt x="207" y="0"/>
                  </a:lnTo>
                  <a:cubicBezTo>
                    <a:pt x="198" y="0"/>
                    <a:pt x="195" y="0"/>
                    <a:pt x="195" y="6"/>
                  </a:cubicBezTo>
                  <a:cubicBezTo>
                    <a:pt x="195" y="48"/>
                    <a:pt x="195" y="149"/>
                    <a:pt x="183" y="253"/>
                  </a:cubicBezTo>
                  <a:cubicBezTo>
                    <a:pt x="159" y="469"/>
                    <a:pt x="100" y="620"/>
                    <a:pt x="2" y="748"/>
                  </a:cubicBezTo>
                  <a:cubicBezTo>
                    <a:pt x="0" y="752"/>
                    <a:pt x="0" y="752"/>
                    <a:pt x="0" y="752"/>
                  </a:cubicBezTo>
                  <a:cubicBezTo>
                    <a:pt x="0" y="757"/>
                    <a:pt x="4" y="757"/>
                    <a:pt x="10" y="757"/>
                  </a:cubicBezTo>
                  <a:cubicBezTo>
                    <a:pt x="17" y="757"/>
                    <a:pt x="17" y="757"/>
                    <a:pt x="19" y="756"/>
                  </a:cubicBezTo>
                  <a:cubicBezTo>
                    <a:pt x="21" y="756"/>
                    <a:pt x="77" y="694"/>
                    <a:pt x="121" y="610"/>
                  </a:cubicBezTo>
                  <a:cubicBezTo>
                    <a:pt x="181" y="500"/>
                    <a:pt x="217" y="373"/>
                    <a:pt x="234" y="221"/>
                  </a:cubicBezTo>
                  <a:cubicBezTo>
                    <a:pt x="236" y="208"/>
                    <a:pt x="244" y="120"/>
                    <a:pt x="244" y="21"/>
                  </a:cubicBezTo>
                  <a:lnTo>
                    <a:pt x="244" y="5"/>
                  </a:lnTo>
                  <a:close/>
                </a:path>
              </a:pathLst>
            </a:custGeom>
            <a:solidFill>
              <a:srgbClr val="000000"/>
            </a:solidFill>
            <a:ln w="15840">
              <a:noFill/>
            </a:ln>
          </p:spPr>
        </p:sp>
        <p:grpSp>
          <p:nvGrpSpPr>
            <p:cNvPr id="332" name="Group 94"/>
            <p:cNvGrpSpPr/>
            <p:nvPr/>
          </p:nvGrpSpPr>
          <p:grpSpPr>
            <a:xfrm>
              <a:off x="6375600" y="2824200"/>
              <a:ext cx="458280" cy="392400"/>
              <a:chOff x="6375600" y="2824200"/>
              <a:chExt cx="458280" cy="392400"/>
            </a:xfrm>
          </p:grpSpPr>
          <p:grpSp>
            <p:nvGrpSpPr>
              <p:cNvPr id="333" name="Group 95"/>
              <p:cNvGrpSpPr/>
              <p:nvPr/>
            </p:nvGrpSpPr>
            <p:grpSpPr>
              <a:xfrm>
                <a:off x="6375600" y="2824200"/>
                <a:ext cx="182880" cy="141480"/>
                <a:chOff x="6375600" y="2824200"/>
                <a:chExt cx="182880" cy="141480"/>
              </a:xfrm>
            </p:grpSpPr>
            <p:sp>
              <p:nvSpPr>
                <p:cNvPr id="334" name="Freeform 96"/>
                <p:cNvSpPr/>
                <p:nvPr/>
              </p:nvSpPr>
              <p:spPr>
                <a:xfrm>
                  <a:off x="6375600" y="2824200"/>
                  <a:ext cx="183240" cy="14184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09" h="394">
                      <a:moveTo>
                        <a:pt x="223" y="54"/>
                      </a:moveTo>
                      <a:lnTo>
                        <a:pt x="331" y="54"/>
                      </a:lnTo>
                      <a:cubicBezTo>
                        <a:pt x="295" y="183"/>
                        <a:pt x="289" y="219"/>
                        <a:pt x="289" y="279"/>
                      </a:cubicBezTo>
                      <a:cubicBezTo>
                        <a:pt x="289" y="293"/>
                        <a:pt x="289" y="319"/>
                        <a:pt x="295" y="347"/>
                      </a:cubicBezTo>
                      <a:cubicBezTo>
                        <a:pt x="307" y="391"/>
                        <a:pt x="316" y="393"/>
                        <a:pt x="335" y="393"/>
                      </a:cubicBezTo>
                      <a:cubicBezTo>
                        <a:pt x="350" y="393"/>
                        <a:pt x="371" y="377"/>
                        <a:pt x="371" y="356"/>
                      </a:cubicBezTo>
                      <a:cubicBezTo>
                        <a:pt x="371" y="353"/>
                        <a:pt x="371" y="353"/>
                        <a:pt x="364" y="343"/>
                      </a:cubicBezTo>
                      <a:cubicBezTo>
                        <a:pt x="337" y="277"/>
                        <a:pt x="337" y="217"/>
                        <a:pt x="337" y="194"/>
                      </a:cubicBezTo>
                      <a:cubicBezTo>
                        <a:pt x="337" y="146"/>
                        <a:pt x="340" y="97"/>
                        <a:pt x="353" y="54"/>
                      </a:cubicBezTo>
                      <a:lnTo>
                        <a:pt x="460" y="54"/>
                      </a:lnTo>
                      <a:cubicBezTo>
                        <a:pt x="474" y="54"/>
                        <a:pt x="508" y="54"/>
                        <a:pt x="508" y="20"/>
                      </a:cubicBezTo>
                      <a:cubicBezTo>
                        <a:pt x="508" y="0"/>
                        <a:pt x="488" y="0"/>
                        <a:pt x="470" y="0"/>
                      </a:cubicBezTo>
                      <a:lnTo>
                        <a:pt x="157" y="0"/>
                      </a:lnTo>
                      <a:cubicBezTo>
                        <a:pt x="135" y="0"/>
                        <a:pt x="99" y="0"/>
                        <a:pt x="61" y="42"/>
                      </a:cubicBezTo>
                      <a:cubicBezTo>
                        <a:pt x="21" y="77"/>
                        <a:pt x="0" y="120"/>
                        <a:pt x="0" y="120"/>
                      </a:cubicBezTo>
                      <a:cubicBezTo>
                        <a:pt x="0" y="122"/>
                        <a:pt x="0" y="130"/>
                        <a:pt x="11" y="130"/>
                      </a:cubicBezTo>
                      <a:cubicBezTo>
                        <a:pt x="21" y="130"/>
                        <a:pt x="21" y="128"/>
                        <a:pt x="25" y="120"/>
                      </a:cubicBezTo>
                      <a:cubicBezTo>
                        <a:pt x="76" y="54"/>
                        <a:pt x="126" y="54"/>
                        <a:pt x="141" y="54"/>
                      </a:cubicBezTo>
                      <a:lnTo>
                        <a:pt x="198" y="54"/>
                      </a:lnTo>
                      <a:cubicBezTo>
                        <a:pt x="169" y="157"/>
                        <a:pt x="120" y="265"/>
                        <a:pt x="76" y="347"/>
                      </a:cubicBezTo>
                      <a:cubicBezTo>
                        <a:pt x="76" y="356"/>
                        <a:pt x="76" y="361"/>
                        <a:pt x="76" y="371"/>
                      </a:cubicBezTo>
                      <a:cubicBezTo>
                        <a:pt x="76" y="387"/>
                        <a:pt x="87" y="393"/>
                        <a:pt x="99" y="393"/>
                      </a:cubicBezTo>
                      <a:cubicBezTo>
                        <a:pt x="126" y="393"/>
                        <a:pt x="135" y="371"/>
                        <a:pt x="141" y="334"/>
                      </a:cubicBezTo>
                      <a:cubicBezTo>
                        <a:pt x="160" y="293"/>
                        <a:pt x="160" y="293"/>
                        <a:pt x="171" y="245"/>
                      </a:cubicBezTo>
                      <a:lnTo>
                        <a:pt x="22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840">
                  <a:noFill/>
                </a:ln>
              </p:spPr>
            </p:sp>
          </p:grpSp>
          <p:sp>
            <p:nvSpPr>
              <p:cNvPr id="335" name="TextShape 97"/>
              <p:cNvSpPr txBox="1"/>
              <p:nvPr/>
            </p:nvSpPr>
            <p:spPr>
              <a:xfrm>
                <a:off x="6451200" y="2876040"/>
                <a:ext cx="382680" cy="340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0000" tIns="45000" rIns="90000" bIns="45000">
                <a:noAutofit/>
              </a:bodyPr>
              <a:lstStyle/>
              <a:p>
                <a:r>
                  <a:rPr lang="en-US" sz="1400" b="0" strike="noStrike" spc="-1">
                    <a:latin typeface="Arial"/>
                  </a:rPr>
                  <a:t>D</a:t>
                </a:r>
              </a:p>
            </p:txBody>
          </p:sp>
        </p:grpSp>
      </p:grpSp>
      <p:sp>
        <p:nvSpPr>
          <p:cNvPr id="336" name="TextShape 98"/>
          <p:cNvSpPr txBox="1"/>
          <p:nvPr/>
        </p:nvSpPr>
        <p:spPr>
          <a:xfrm>
            <a:off x="6951600" y="3591720"/>
            <a:ext cx="2100960" cy="4316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200" b="1" strike="noStrike" spc="-1">
                <a:latin typeface="Arial"/>
              </a:rPr>
              <a:t>Transition Matrix </a:t>
            </a:r>
          </a:p>
          <a:p>
            <a:r>
              <a:rPr lang="en-US" sz="1200" b="1" strike="noStrike" spc="-1">
                <a:latin typeface="Arial"/>
              </a:rPr>
              <a:t>for D Layer is learned</a:t>
            </a:r>
          </a:p>
        </p:txBody>
      </p:sp>
      <p:sp>
        <p:nvSpPr>
          <p:cNvPr id="337" name="CustomShape 99"/>
          <p:cNvSpPr/>
          <p:nvPr/>
        </p:nvSpPr>
        <p:spPr>
          <a:xfrm>
            <a:off x="5669280" y="3475080"/>
            <a:ext cx="1097280" cy="731160"/>
          </a:xfrm>
          <a:custGeom>
            <a:avLst/>
            <a:gdLst/>
            <a:ahLst/>
            <a:cxnLst/>
            <a:rect l="0" t="0" r="r" b="b"/>
            <a:pathLst>
              <a:path w="3050" h="2033">
                <a:moveTo>
                  <a:pt x="0" y="296"/>
                </a:moveTo>
                <a:lnTo>
                  <a:pt x="2196" y="296"/>
                </a:lnTo>
                <a:lnTo>
                  <a:pt x="2196" y="0"/>
                </a:lnTo>
                <a:lnTo>
                  <a:pt x="3049" y="1016"/>
                </a:lnTo>
                <a:lnTo>
                  <a:pt x="2196" y="2032"/>
                </a:lnTo>
                <a:lnTo>
                  <a:pt x="2196" y="1735"/>
                </a:lnTo>
                <a:lnTo>
                  <a:pt x="0" y="1735"/>
                </a:lnTo>
                <a:lnTo>
                  <a:pt x="0" y="296"/>
                </a:lnTo>
              </a:path>
            </a:pathLst>
          </a:custGeom>
          <a:solidFill>
            <a:srgbClr val="8D1D75"/>
          </a:solidFill>
          <a:ln>
            <a:solidFill>
              <a:srgbClr val="6509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-1">
                <a:solidFill>
                  <a:srgbClr val="FFFFFF"/>
                </a:solidFill>
                <a:latin typeface="Arial"/>
              </a:rPr>
              <a:t>Cluster</a:t>
            </a:r>
            <a:endParaRPr lang="en-US" sz="12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1" strike="noStrike" spc="-1">
                <a:solidFill>
                  <a:srgbClr val="FFFFFF"/>
                </a:solidFill>
                <a:latin typeface="Arial"/>
              </a:rPr>
              <a:t>sensor data</a:t>
            </a:r>
            <a:endParaRPr lang="en-US" sz="12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1" strike="noStrike" spc="-1">
                <a:solidFill>
                  <a:srgbClr val="FFFFFF"/>
                </a:solidFill>
                <a:latin typeface="Arial"/>
              </a:rPr>
              <a:t>counting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38" name="CustomShape 100"/>
          <p:cNvSpPr/>
          <p:nvPr/>
        </p:nvSpPr>
        <p:spPr>
          <a:xfrm>
            <a:off x="2743200" y="3431880"/>
            <a:ext cx="1097280" cy="731160"/>
          </a:xfrm>
          <a:custGeom>
            <a:avLst/>
            <a:gdLst/>
            <a:ahLst/>
            <a:cxnLst/>
            <a:rect l="0" t="0" r="r" b="b"/>
            <a:pathLst>
              <a:path w="3050" h="2033">
                <a:moveTo>
                  <a:pt x="0" y="296"/>
                </a:moveTo>
                <a:lnTo>
                  <a:pt x="2196" y="296"/>
                </a:lnTo>
                <a:lnTo>
                  <a:pt x="2196" y="0"/>
                </a:lnTo>
                <a:lnTo>
                  <a:pt x="3049" y="1016"/>
                </a:lnTo>
                <a:lnTo>
                  <a:pt x="2196" y="2032"/>
                </a:lnTo>
                <a:lnTo>
                  <a:pt x="2196" y="1735"/>
                </a:lnTo>
                <a:lnTo>
                  <a:pt x="0" y="1735"/>
                </a:lnTo>
                <a:lnTo>
                  <a:pt x="0" y="296"/>
                </a:lnTo>
              </a:path>
            </a:pathLst>
          </a:custGeom>
          <a:solidFill>
            <a:srgbClr val="8D1D75"/>
          </a:solidFill>
          <a:ln>
            <a:solidFill>
              <a:srgbClr val="6509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-1">
                <a:solidFill>
                  <a:srgbClr val="FFFFFF"/>
                </a:solidFill>
                <a:latin typeface="Arial"/>
              </a:rPr>
              <a:t>Cluster</a:t>
            </a:r>
            <a:endParaRPr lang="en-US" sz="12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1" strike="noStrike" spc="-1">
                <a:solidFill>
                  <a:srgbClr val="FFFFFF"/>
                </a:solidFill>
                <a:latin typeface="Arial"/>
              </a:rPr>
              <a:t>sensor data</a:t>
            </a:r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9" name="Group 1"/>
          <p:cNvGrpSpPr/>
          <p:nvPr/>
        </p:nvGrpSpPr>
        <p:grpSpPr>
          <a:xfrm>
            <a:off x="5020560" y="807480"/>
            <a:ext cx="3840480" cy="3673080"/>
            <a:chOff x="5020560" y="807480"/>
            <a:chExt cx="3840480" cy="3673080"/>
          </a:xfrm>
        </p:grpSpPr>
        <p:sp>
          <p:nvSpPr>
            <p:cNvPr id="340" name="CustomShape 2"/>
            <p:cNvSpPr/>
            <p:nvPr/>
          </p:nvSpPr>
          <p:spPr>
            <a:xfrm>
              <a:off x="5020560" y="807480"/>
              <a:ext cx="3840480" cy="3673080"/>
            </a:xfrm>
            <a:prstGeom prst="frame">
              <a:avLst>
                <a:gd name="adj1" fmla="val 34083"/>
              </a:avLst>
            </a:prstGeom>
            <a:solidFill>
              <a:srgbClr val="FFFCDF"/>
            </a:solidFill>
            <a:ln w="18360">
              <a:solidFill>
                <a:srgbClr val="ED1C2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41" name="CustomShape 3"/>
            <p:cNvSpPr/>
            <p:nvPr/>
          </p:nvSpPr>
          <p:spPr>
            <a:xfrm rot="16200000">
              <a:off x="6216120" y="1070640"/>
              <a:ext cx="82440" cy="82080"/>
            </a:xfrm>
            <a:custGeom>
              <a:avLst/>
              <a:gdLst/>
              <a:ahLst/>
              <a:cxnLst/>
              <a:rect l="0" t="0" r="r" b="b"/>
              <a:pathLst>
                <a:path w="231" h="230">
                  <a:moveTo>
                    <a:pt x="115" y="0"/>
                  </a:moveTo>
                  <a:lnTo>
                    <a:pt x="230" y="229"/>
                  </a:lnTo>
                  <a:lnTo>
                    <a:pt x="0" y="229"/>
                  </a:lnTo>
                  <a:lnTo>
                    <a:pt x="115" y="0"/>
                  </a:lnTo>
                </a:path>
              </a:pathLst>
            </a:custGeom>
            <a:solidFill>
              <a:srgbClr val="0066B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42" name="CustomShape 4"/>
            <p:cNvSpPr/>
            <p:nvPr/>
          </p:nvSpPr>
          <p:spPr>
            <a:xfrm>
              <a:off x="5868720" y="2271600"/>
              <a:ext cx="405360" cy="744480"/>
            </a:xfrm>
            <a:prstGeom prst="rect">
              <a:avLst/>
            </a:prstGeom>
            <a:pattFill prst="wdUpDiag">
              <a:fgClr>
                <a:srgbClr val="ED1C24"/>
              </a:fgClr>
              <a:bgClr>
                <a:srgbClr val="FFFFFF"/>
              </a:bgClr>
            </a:pattFill>
            <a:ln w="18360">
              <a:solidFill>
                <a:srgbClr val="FF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43" name="Freeform 5"/>
            <p:cNvSpPr/>
            <p:nvPr/>
          </p:nvSpPr>
          <p:spPr>
            <a:xfrm>
              <a:off x="5459400" y="1116720"/>
              <a:ext cx="3074400" cy="3036600"/>
            </a:xfrm>
            <a:custGeom>
              <a:avLst/>
              <a:gdLst/>
              <a:ahLst/>
              <a:cxnLst/>
              <a:rect l="0" t="0" r="r" b="b"/>
              <a:pathLst>
                <a:path w="8540" h="8435">
                  <a:moveTo>
                    <a:pt x="49" y="8432"/>
                  </a:moveTo>
                  <a:lnTo>
                    <a:pt x="0" y="5379"/>
                  </a:lnTo>
                  <a:lnTo>
                    <a:pt x="525" y="5367"/>
                  </a:lnTo>
                  <a:lnTo>
                    <a:pt x="574" y="3012"/>
                  </a:lnTo>
                  <a:lnTo>
                    <a:pt x="60" y="3000"/>
                  </a:lnTo>
                  <a:lnTo>
                    <a:pt x="49" y="0"/>
                  </a:lnTo>
                  <a:lnTo>
                    <a:pt x="8539" y="2"/>
                  </a:lnTo>
                  <a:lnTo>
                    <a:pt x="8539" y="8434"/>
                  </a:lnTo>
                  <a:lnTo>
                    <a:pt x="49" y="8432"/>
                  </a:lnTo>
                  <a:close/>
                </a:path>
              </a:pathLst>
            </a:custGeom>
            <a:noFill/>
            <a:ln w="18360">
              <a:solidFill>
                <a:srgbClr val="3465A4"/>
              </a:solidFill>
              <a:custDash>
                <a:ds d="197000" sp="197000"/>
              </a:custDash>
              <a:round/>
            </a:ln>
          </p:spPr>
        </p:sp>
        <p:sp>
          <p:nvSpPr>
            <p:cNvPr id="344" name="CustomShape 6"/>
            <p:cNvSpPr/>
            <p:nvPr/>
          </p:nvSpPr>
          <p:spPr>
            <a:xfrm>
              <a:off x="8492760" y="1999800"/>
              <a:ext cx="82440" cy="82080"/>
            </a:xfrm>
            <a:custGeom>
              <a:avLst/>
              <a:gdLst/>
              <a:ahLst/>
              <a:cxnLst/>
              <a:rect l="0" t="0" r="r" b="b"/>
              <a:pathLst>
                <a:path w="231" h="230">
                  <a:moveTo>
                    <a:pt x="115" y="0"/>
                  </a:moveTo>
                  <a:lnTo>
                    <a:pt x="230" y="229"/>
                  </a:lnTo>
                  <a:lnTo>
                    <a:pt x="0" y="229"/>
                  </a:lnTo>
                  <a:lnTo>
                    <a:pt x="115" y="0"/>
                  </a:lnTo>
                </a:path>
              </a:pathLst>
            </a:custGeom>
            <a:solidFill>
              <a:srgbClr val="0066B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45" name="CustomShape 7"/>
            <p:cNvSpPr/>
            <p:nvPr/>
          </p:nvSpPr>
          <p:spPr>
            <a:xfrm rot="10800000">
              <a:off x="5420880" y="3179160"/>
              <a:ext cx="82080" cy="82440"/>
            </a:xfrm>
            <a:custGeom>
              <a:avLst/>
              <a:gdLst/>
              <a:ahLst/>
              <a:cxnLst/>
              <a:rect l="0" t="0" r="r" b="b"/>
              <a:pathLst>
                <a:path w="230" h="231">
                  <a:moveTo>
                    <a:pt x="114" y="0"/>
                  </a:moveTo>
                  <a:lnTo>
                    <a:pt x="229" y="230"/>
                  </a:lnTo>
                  <a:lnTo>
                    <a:pt x="0" y="230"/>
                  </a:lnTo>
                  <a:lnTo>
                    <a:pt x="114" y="0"/>
                  </a:lnTo>
                </a:path>
              </a:pathLst>
            </a:custGeom>
            <a:solidFill>
              <a:srgbClr val="0066B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46" name="CustomShape 8"/>
            <p:cNvSpPr/>
            <p:nvPr/>
          </p:nvSpPr>
          <p:spPr>
            <a:xfrm rot="5427600">
              <a:off x="7401960" y="4114080"/>
              <a:ext cx="82080" cy="82080"/>
            </a:xfrm>
            <a:custGeom>
              <a:avLst/>
              <a:gdLst/>
              <a:ahLst/>
              <a:cxnLst/>
              <a:rect l="0" t="0" r="r" b="b"/>
              <a:pathLst>
                <a:path w="230" h="230">
                  <a:moveTo>
                    <a:pt x="114" y="0"/>
                  </a:moveTo>
                  <a:lnTo>
                    <a:pt x="229" y="229"/>
                  </a:lnTo>
                  <a:lnTo>
                    <a:pt x="0" y="229"/>
                  </a:lnTo>
                  <a:lnTo>
                    <a:pt x="114" y="0"/>
                  </a:lnTo>
                </a:path>
              </a:pathLst>
            </a:custGeom>
            <a:solidFill>
              <a:srgbClr val="0066B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47" name="CustomShape 9"/>
            <p:cNvSpPr/>
            <p:nvPr/>
          </p:nvSpPr>
          <p:spPr>
            <a:xfrm>
              <a:off x="5022000" y="2271600"/>
              <a:ext cx="405360" cy="744480"/>
            </a:xfrm>
            <a:prstGeom prst="rect">
              <a:avLst/>
            </a:prstGeom>
            <a:pattFill prst="wdUpDiag">
              <a:fgClr>
                <a:srgbClr val="ED1C24"/>
              </a:fgClr>
              <a:bgClr>
                <a:srgbClr val="FFFFFF"/>
              </a:bgClr>
            </a:pattFill>
            <a:ln w="18360">
              <a:solidFill>
                <a:srgbClr val="FF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48" name="CustomShape 10"/>
            <p:cNvSpPr/>
            <p:nvPr/>
          </p:nvSpPr>
          <p:spPr>
            <a:xfrm rot="16200000">
              <a:off x="6211440" y="1667520"/>
              <a:ext cx="82440" cy="82440"/>
            </a:xfrm>
            <a:custGeom>
              <a:avLst/>
              <a:gdLst/>
              <a:ahLst/>
              <a:cxnLst/>
              <a:rect l="0" t="0" r="r" b="b"/>
              <a:pathLst>
                <a:path w="231" h="231">
                  <a:moveTo>
                    <a:pt x="115" y="0"/>
                  </a:moveTo>
                  <a:lnTo>
                    <a:pt x="230" y="230"/>
                  </a:lnTo>
                  <a:lnTo>
                    <a:pt x="0" y="230"/>
                  </a:lnTo>
                  <a:lnTo>
                    <a:pt x="115" y="0"/>
                  </a:lnTo>
                </a:path>
              </a:pathLst>
            </a:custGeom>
            <a:solidFill>
              <a:srgbClr val="00A65D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49" name="Freeform 11"/>
            <p:cNvSpPr/>
            <p:nvPr/>
          </p:nvSpPr>
          <p:spPr>
            <a:xfrm>
              <a:off x="5652360" y="1712880"/>
              <a:ext cx="2256480" cy="1804320"/>
            </a:xfrm>
            <a:custGeom>
              <a:avLst/>
              <a:gdLst/>
              <a:ahLst/>
              <a:cxnLst/>
              <a:rect l="0" t="0" r="r" b="b"/>
              <a:pathLst>
                <a:path w="6268" h="5012">
                  <a:moveTo>
                    <a:pt x="800" y="5011"/>
                  </a:moveTo>
                  <a:lnTo>
                    <a:pt x="763" y="3727"/>
                  </a:lnTo>
                  <a:lnTo>
                    <a:pt x="0" y="3725"/>
                  </a:lnTo>
                  <a:lnTo>
                    <a:pt x="34" y="1341"/>
                  </a:lnTo>
                  <a:lnTo>
                    <a:pt x="790" y="1354"/>
                  </a:lnTo>
                  <a:lnTo>
                    <a:pt x="800" y="0"/>
                  </a:lnTo>
                  <a:lnTo>
                    <a:pt x="6267" y="0"/>
                  </a:lnTo>
                  <a:lnTo>
                    <a:pt x="6267" y="5011"/>
                  </a:lnTo>
                  <a:lnTo>
                    <a:pt x="800" y="5011"/>
                  </a:lnTo>
                  <a:close/>
                </a:path>
              </a:pathLst>
            </a:custGeom>
            <a:noFill/>
            <a:ln w="18360">
              <a:solidFill>
                <a:srgbClr val="00A65D"/>
              </a:solidFill>
              <a:custDash>
                <a:ds d="197000" sp="197000"/>
              </a:custDash>
              <a:round/>
            </a:ln>
          </p:spPr>
        </p:sp>
        <p:grpSp>
          <p:nvGrpSpPr>
            <p:cNvPr id="350" name="Group 12"/>
            <p:cNvGrpSpPr/>
            <p:nvPr/>
          </p:nvGrpSpPr>
          <p:grpSpPr>
            <a:xfrm>
              <a:off x="5558040" y="2353680"/>
              <a:ext cx="194400" cy="198000"/>
              <a:chOff x="5558040" y="2353680"/>
              <a:chExt cx="194400" cy="198000"/>
            </a:xfrm>
          </p:grpSpPr>
          <p:grpSp>
            <p:nvGrpSpPr>
              <p:cNvPr id="351" name="Group 13"/>
              <p:cNvGrpSpPr/>
              <p:nvPr/>
            </p:nvGrpSpPr>
            <p:grpSpPr>
              <a:xfrm>
                <a:off x="5558040" y="2353680"/>
                <a:ext cx="194400" cy="198000"/>
                <a:chOff x="5558040" y="2353680"/>
                <a:chExt cx="194400" cy="198000"/>
              </a:xfrm>
            </p:grpSpPr>
            <p:sp>
              <p:nvSpPr>
                <p:cNvPr id="352" name="Freeform 14"/>
                <p:cNvSpPr/>
                <p:nvPr/>
              </p:nvSpPr>
              <p:spPr>
                <a:xfrm>
                  <a:off x="5600160" y="2392200"/>
                  <a:ext cx="114840" cy="11196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19" h="311">
                      <a:moveTo>
                        <a:pt x="0" y="52"/>
                      </a:moveTo>
                      <a:lnTo>
                        <a:pt x="47" y="5"/>
                      </a:lnTo>
                      <a:lnTo>
                        <a:pt x="156" y="115"/>
                      </a:lnTo>
                      <a:lnTo>
                        <a:pt x="271" y="0"/>
                      </a:lnTo>
                      <a:lnTo>
                        <a:pt x="318" y="46"/>
                      </a:lnTo>
                      <a:lnTo>
                        <a:pt x="203" y="161"/>
                      </a:lnTo>
                      <a:lnTo>
                        <a:pt x="304" y="263"/>
                      </a:lnTo>
                      <a:lnTo>
                        <a:pt x="258" y="310"/>
                      </a:lnTo>
                      <a:lnTo>
                        <a:pt x="156" y="208"/>
                      </a:lnTo>
                      <a:lnTo>
                        <a:pt x="60" y="304"/>
                      </a:lnTo>
                      <a:lnTo>
                        <a:pt x="13" y="258"/>
                      </a:lnTo>
                      <a:lnTo>
                        <a:pt x="109" y="161"/>
                      </a:lnTo>
                      <a:lnTo>
                        <a:pt x="0" y="52"/>
                      </a:lnTo>
                      <a:close/>
                    </a:path>
                  </a:pathLst>
                </a:custGeom>
                <a:solidFill>
                  <a:srgbClr val="28A127"/>
                </a:solidFill>
                <a:ln w="9000">
                  <a:solidFill>
                    <a:srgbClr val="2B511A"/>
                  </a:solidFill>
                  <a:round/>
                </a:ln>
              </p:spPr>
            </p:sp>
            <p:sp>
              <p:nvSpPr>
                <p:cNvPr id="353" name="CustomShape 15"/>
                <p:cNvSpPr/>
                <p:nvPr/>
              </p:nvSpPr>
              <p:spPr>
                <a:xfrm>
                  <a:off x="5558040" y="2353680"/>
                  <a:ext cx="86760" cy="87120"/>
                </a:xfrm>
                <a:prstGeom prst="ellipse">
                  <a:avLst/>
                </a:prstGeom>
                <a:solidFill>
                  <a:srgbClr val="28A127"/>
                </a:solidFill>
                <a:ln w="9000">
                  <a:solidFill>
                    <a:srgbClr val="395511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54" name="CustomShape 16"/>
                <p:cNvSpPr/>
                <p:nvPr/>
              </p:nvSpPr>
              <p:spPr>
                <a:xfrm>
                  <a:off x="5665320" y="2353680"/>
                  <a:ext cx="87120" cy="87120"/>
                </a:xfrm>
                <a:prstGeom prst="ellipse">
                  <a:avLst/>
                </a:prstGeom>
                <a:solidFill>
                  <a:srgbClr val="28A127"/>
                </a:solidFill>
                <a:ln w="9000">
                  <a:solidFill>
                    <a:srgbClr val="395511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55" name="CustomShape 17"/>
                <p:cNvSpPr/>
                <p:nvPr/>
              </p:nvSpPr>
              <p:spPr>
                <a:xfrm>
                  <a:off x="5665320" y="2464560"/>
                  <a:ext cx="87120" cy="87120"/>
                </a:xfrm>
                <a:prstGeom prst="ellipse">
                  <a:avLst/>
                </a:prstGeom>
                <a:solidFill>
                  <a:srgbClr val="28A127"/>
                </a:solidFill>
                <a:ln w="9000">
                  <a:solidFill>
                    <a:srgbClr val="395511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56" name="CustomShape 18"/>
                <p:cNvSpPr/>
                <p:nvPr/>
              </p:nvSpPr>
              <p:spPr>
                <a:xfrm>
                  <a:off x="5558040" y="2464560"/>
                  <a:ext cx="86760" cy="87120"/>
                </a:xfrm>
                <a:prstGeom prst="ellipse">
                  <a:avLst/>
                </a:prstGeom>
                <a:solidFill>
                  <a:srgbClr val="28A127"/>
                </a:solidFill>
                <a:ln w="9000">
                  <a:solidFill>
                    <a:srgbClr val="395511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</p:grpSp>
        </p:grpSp>
        <p:sp>
          <p:nvSpPr>
            <p:cNvPr id="357" name="CustomShape 19"/>
            <p:cNvSpPr/>
            <p:nvPr/>
          </p:nvSpPr>
          <p:spPr>
            <a:xfrm>
              <a:off x="7865640" y="1984320"/>
              <a:ext cx="82080" cy="82440"/>
            </a:xfrm>
            <a:custGeom>
              <a:avLst/>
              <a:gdLst/>
              <a:ahLst/>
              <a:cxnLst/>
              <a:rect l="0" t="0" r="r" b="b"/>
              <a:pathLst>
                <a:path w="230" h="231">
                  <a:moveTo>
                    <a:pt x="114" y="0"/>
                  </a:moveTo>
                  <a:lnTo>
                    <a:pt x="229" y="230"/>
                  </a:lnTo>
                  <a:lnTo>
                    <a:pt x="0" y="230"/>
                  </a:lnTo>
                  <a:lnTo>
                    <a:pt x="114" y="0"/>
                  </a:lnTo>
                </a:path>
              </a:pathLst>
            </a:custGeom>
            <a:solidFill>
              <a:srgbClr val="00A65D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58" name="CustomShape 20"/>
            <p:cNvSpPr/>
            <p:nvPr/>
          </p:nvSpPr>
          <p:spPr>
            <a:xfrm rot="10800000">
              <a:off x="5890320" y="3165120"/>
              <a:ext cx="82440" cy="82440"/>
            </a:xfrm>
            <a:custGeom>
              <a:avLst/>
              <a:gdLst/>
              <a:ahLst/>
              <a:cxnLst/>
              <a:rect l="0" t="0" r="r" b="b"/>
              <a:pathLst>
                <a:path w="231" h="231">
                  <a:moveTo>
                    <a:pt x="115" y="0"/>
                  </a:moveTo>
                  <a:lnTo>
                    <a:pt x="230" y="230"/>
                  </a:lnTo>
                  <a:lnTo>
                    <a:pt x="0" y="230"/>
                  </a:lnTo>
                  <a:lnTo>
                    <a:pt x="115" y="0"/>
                  </a:lnTo>
                </a:path>
              </a:pathLst>
            </a:custGeom>
            <a:solidFill>
              <a:srgbClr val="00A65D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59" name="CustomShape 21"/>
            <p:cNvSpPr/>
            <p:nvPr/>
          </p:nvSpPr>
          <p:spPr>
            <a:xfrm rot="5427600">
              <a:off x="7402320" y="3471480"/>
              <a:ext cx="82080" cy="82080"/>
            </a:xfrm>
            <a:custGeom>
              <a:avLst/>
              <a:gdLst/>
              <a:ahLst/>
              <a:cxnLst/>
              <a:rect l="0" t="0" r="r" b="b"/>
              <a:pathLst>
                <a:path w="230" h="230">
                  <a:moveTo>
                    <a:pt x="114" y="0"/>
                  </a:moveTo>
                  <a:lnTo>
                    <a:pt x="229" y="229"/>
                  </a:lnTo>
                  <a:lnTo>
                    <a:pt x="0" y="229"/>
                  </a:lnTo>
                  <a:lnTo>
                    <a:pt x="114" y="0"/>
                  </a:lnTo>
                </a:path>
              </a:pathLst>
            </a:custGeom>
            <a:solidFill>
              <a:srgbClr val="00A65D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grpSp>
          <p:nvGrpSpPr>
            <p:cNvPr id="360" name="Group 22"/>
            <p:cNvGrpSpPr/>
            <p:nvPr/>
          </p:nvGrpSpPr>
          <p:grpSpPr>
            <a:xfrm>
              <a:off x="5558040" y="2708640"/>
              <a:ext cx="194760" cy="198000"/>
              <a:chOff x="5558040" y="2708640"/>
              <a:chExt cx="194760" cy="198000"/>
            </a:xfrm>
          </p:grpSpPr>
          <p:grpSp>
            <p:nvGrpSpPr>
              <p:cNvPr id="361" name="Group 23"/>
              <p:cNvGrpSpPr/>
              <p:nvPr/>
            </p:nvGrpSpPr>
            <p:grpSpPr>
              <a:xfrm>
                <a:off x="5558040" y="2708640"/>
                <a:ext cx="194760" cy="198000"/>
                <a:chOff x="5558040" y="2708640"/>
                <a:chExt cx="194760" cy="198000"/>
              </a:xfrm>
            </p:grpSpPr>
            <p:sp>
              <p:nvSpPr>
                <p:cNvPr id="362" name="Freeform 24"/>
                <p:cNvSpPr/>
                <p:nvPr/>
              </p:nvSpPr>
              <p:spPr>
                <a:xfrm>
                  <a:off x="5600160" y="2747160"/>
                  <a:ext cx="114840" cy="11196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19" h="311">
                      <a:moveTo>
                        <a:pt x="0" y="52"/>
                      </a:moveTo>
                      <a:lnTo>
                        <a:pt x="47" y="5"/>
                      </a:lnTo>
                      <a:lnTo>
                        <a:pt x="156" y="115"/>
                      </a:lnTo>
                      <a:lnTo>
                        <a:pt x="271" y="0"/>
                      </a:lnTo>
                      <a:lnTo>
                        <a:pt x="318" y="46"/>
                      </a:lnTo>
                      <a:lnTo>
                        <a:pt x="203" y="161"/>
                      </a:lnTo>
                      <a:lnTo>
                        <a:pt x="304" y="263"/>
                      </a:lnTo>
                      <a:lnTo>
                        <a:pt x="258" y="310"/>
                      </a:lnTo>
                      <a:lnTo>
                        <a:pt x="156" y="208"/>
                      </a:lnTo>
                      <a:lnTo>
                        <a:pt x="60" y="304"/>
                      </a:lnTo>
                      <a:lnTo>
                        <a:pt x="13" y="258"/>
                      </a:lnTo>
                      <a:lnTo>
                        <a:pt x="109" y="161"/>
                      </a:lnTo>
                      <a:lnTo>
                        <a:pt x="0" y="52"/>
                      </a:lnTo>
                      <a:close/>
                    </a:path>
                  </a:pathLst>
                </a:custGeom>
                <a:solidFill>
                  <a:srgbClr val="729FCF"/>
                </a:solidFill>
                <a:ln w="9000">
                  <a:solidFill>
                    <a:srgbClr val="3465A4"/>
                  </a:solidFill>
                  <a:round/>
                </a:ln>
              </p:spPr>
            </p:sp>
            <p:sp>
              <p:nvSpPr>
                <p:cNvPr id="363" name="CustomShape 25"/>
                <p:cNvSpPr/>
                <p:nvPr/>
              </p:nvSpPr>
              <p:spPr>
                <a:xfrm>
                  <a:off x="5558040" y="2708640"/>
                  <a:ext cx="86760" cy="87120"/>
                </a:xfrm>
                <a:prstGeom prst="ellipse">
                  <a:avLst/>
                </a:prstGeom>
                <a:solidFill>
                  <a:srgbClr val="729FCF"/>
                </a:solidFill>
                <a:ln w="9000">
                  <a:solidFill>
                    <a:srgbClr val="3465A4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64" name="CustomShape 26"/>
                <p:cNvSpPr/>
                <p:nvPr/>
              </p:nvSpPr>
              <p:spPr>
                <a:xfrm>
                  <a:off x="5665320" y="2708640"/>
                  <a:ext cx="87480" cy="87120"/>
                </a:xfrm>
                <a:prstGeom prst="ellipse">
                  <a:avLst/>
                </a:prstGeom>
                <a:solidFill>
                  <a:srgbClr val="729FCF"/>
                </a:solidFill>
                <a:ln w="9000">
                  <a:solidFill>
                    <a:srgbClr val="3465A4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65" name="CustomShape 27"/>
                <p:cNvSpPr/>
                <p:nvPr/>
              </p:nvSpPr>
              <p:spPr>
                <a:xfrm>
                  <a:off x="5665320" y="2819520"/>
                  <a:ext cx="87480" cy="87120"/>
                </a:xfrm>
                <a:prstGeom prst="ellipse">
                  <a:avLst/>
                </a:prstGeom>
                <a:solidFill>
                  <a:srgbClr val="729FCF"/>
                </a:solidFill>
                <a:ln w="9000">
                  <a:solidFill>
                    <a:srgbClr val="3465A4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66" name="CustomShape 28"/>
                <p:cNvSpPr/>
                <p:nvPr/>
              </p:nvSpPr>
              <p:spPr>
                <a:xfrm>
                  <a:off x="5558040" y="2819520"/>
                  <a:ext cx="86760" cy="87120"/>
                </a:xfrm>
                <a:prstGeom prst="ellipse">
                  <a:avLst/>
                </a:prstGeom>
                <a:solidFill>
                  <a:srgbClr val="729FCF"/>
                </a:solidFill>
                <a:ln w="9000">
                  <a:solidFill>
                    <a:srgbClr val="3465A4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</p:grpSp>
        </p:grpSp>
      </p:grpSp>
      <p:sp>
        <p:nvSpPr>
          <p:cNvPr id="367" name="TextShape 29"/>
          <p:cNvSpPr txBox="1"/>
          <p:nvPr/>
        </p:nvSpPr>
        <p:spPr>
          <a:xfrm>
            <a:off x="311760" y="14364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0" strike="noStrike" spc="-1">
                <a:solidFill>
                  <a:srgbClr val="336B81"/>
                </a:solidFill>
                <a:latin typeface="Arial"/>
                <a:ea typeface="Arial"/>
              </a:rPr>
              <a:t>Methodology | Online inference 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TextShape 30"/>
          <p:cNvSpPr txBox="1"/>
          <p:nvPr/>
        </p:nvSpPr>
        <p:spPr>
          <a:xfrm>
            <a:off x="5010840" y="4539240"/>
            <a:ext cx="2201400" cy="4899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200" b="0" strike="noStrike" spc="-1">
                <a:latin typeface="Arial"/>
              </a:rPr>
              <a:t>New  scenario</a:t>
            </a:r>
          </a:p>
        </p:txBody>
      </p:sp>
      <p:sp>
        <p:nvSpPr>
          <p:cNvPr id="369" name="CustomShape 31"/>
          <p:cNvSpPr/>
          <p:nvPr/>
        </p:nvSpPr>
        <p:spPr>
          <a:xfrm>
            <a:off x="4929120" y="2194560"/>
            <a:ext cx="1463040" cy="914400"/>
          </a:xfrm>
          <a:prstGeom prst="rect">
            <a:avLst/>
          </a:prstGeom>
          <a:solidFill>
            <a:srgbClr val="729FCF">
              <a:alpha val="22000"/>
            </a:srgbClr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370" name="Group 32"/>
          <p:cNvGrpSpPr/>
          <p:nvPr/>
        </p:nvGrpSpPr>
        <p:grpSpPr>
          <a:xfrm>
            <a:off x="1554480" y="1153800"/>
            <a:ext cx="2850480" cy="2945520"/>
            <a:chOff x="1554480" y="1153800"/>
            <a:chExt cx="2850480" cy="2945520"/>
          </a:xfrm>
        </p:grpSpPr>
        <p:sp>
          <p:nvSpPr>
            <p:cNvPr id="371" name="CustomShape 33"/>
            <p:cNvSpPr/>
            <p:nvPr/>
          </p:nvSpPr>
          <p:spPr>
            <a:xfrm>
              <a:off x="1554480" y="1153800"/>
              <a:ext cx="2230920" cy="1306800"/>
            </a:xfrm>
            <a:custGeom>
              <a:avLst/>
              <a:gdLst/>
              <a:ahLst/>
              <a:cxnLst/>
              <a:rect l="0" t="0" r="r" b="b"/>
              <a:pathLst>
                <a:path w="6199" h="3632">
                  <a:moveTo>
                    <a:pt x="135" y="0"/>
                  </a:moveTo>
                  <a:lnTo>
                    <a:pt x="136" y="0"/>
                  </a:lnTo>
                  <a:cubicBezTo>
                    <a:pt x="112" y="0"/>
                    <a:pt x="89" y="6"/>
                    <a:pt x="68" y="18"/>
                  </a:cubicBezTo>
                  <a:cubicBezTo>
                    <a:pt x="47" y="30"/>
                    <a:pt x="30" y="47"/>
                    <a:pt x="18" y="68"/>
                  </a:cubicBezTo>
                  <a:cubicBezTo>
                    <a:pt x="6" y="89"/>
                    <a:pt x="0" y="112"/>
                    <a:pt x="0" y="136"/>
                  </a:cubicBezTo>
                  <a:lnTo>
                    <a:pt x="0" y="3495"/>
                  </a:lnTo>
                  <a:lnTo>
                    <a:pt x="0" y="3495"/>
                  </a:lnTo>
                  <a:cubicBezTo>
                    <a:pt x="0" y="3519"/>
                    <a:pt x="6" y="3542"/>
                    <a:pt x="18" y="3563"/>
                  </a:cubicBezTo>
                  <a:cubicBezTo>
                    <a:pt x="30" y="3584"/>
                    <a:pt x="47" y="3601"/>
                    <a:pt x="68" y="3613"/>
                  </a:cubicBezTo>
                  <a:cubicBezTo>
                    <a:pt x="89" y="3625"/>
                    <a:pt x="112" y="3631"/>
                    <a:pt x="136" y="3631"/>
                  </a:cubicBezTo>
                  <a:lnTo>
                    <a:pt x="6062" y="3631"/>
                  </a:lnTo>
                  <a:lnTo>
                    <a:pt x="6062" y="3631"/>
                  </a:lnTo>
                  <a:cubicBezTo>
                    <a:pt x="6086" y="3631"/>
                    <a:pt x="6109" y="3625"/>
                    <a:pt x="6130" y="3613"/>
                  </a:cubicBezTo>
                  <a:cubicBezTo>
                    <a:pt x="6151" y="3601"/>
                    <a:pt x="6168" y="3584"/>
                    <a:pt x="6180" y="3563"/>
                  </a:cubicBezTo>
                  <a:cubicBezTo>
                    <a:pt x="6192" y="3542"/>
                    <a:pt x="6198" y="3519"/>
                    <a:pt x="6198" y="3495"/>
                  </a:cubicBezTo>
                  <a:lnTo>
                    <a:pt x="6198" y="135"/>
                  </a:lnTo>
                  <a:lnTo>
                    <a:pt x="6198" y="136"/>
                  </a:lnTo>
                  <a:lnTo>
                    <a:pt x="6198" y="136"/>
                  </a:lnTo>
                  <a:cubicBezTo>
                    <a:pt x="6198" y="112"/>
                    <a:pt x="6192" y="89"/>
                    <a:pt x="6180" y="68"/>
                  </a:cubicBezTo>
                  <a:cubicBezTo>
                    <a:pt x="6168" y="47"/>
                    <a:pt x="6151" y="30"/>
                    <a:pt x="6130" y="18"/>
                  </a:cubicBezTo>
                  <a:cubicBezTo>
                    <a:pt x="6109" y="6"/>
                    <a:pt x="6086" y="0"/>
                    <a:pt x="6062" y="0"/>
                  </a:cubicBezTo>
                  <a:lnTo>
                    <a:pt x="135" y="0"/>
                  </a:lnTo>
                </a:path>
              </a:pathLst>
            </a:custGeom>
            <a:solidFill>
              <a:srgbClr val="BCAED5">
                <a:alpha val="50000"/>
              </a:srgbClr>
            </a:solidFill>
            <a:ln w="9000">
              <a:solidFill>
                <a:srgbClr val="3465A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72" name="CustomShape 34"/>
            <p:cNvSpPr/>
            <p:nvPr/>
          </p:nvSpPr>
          <p:spPr>
            <a:xfrm>
              <a:off x="1554480" y="2837520"/>
              <a:ext cx="2223000" cy="1261800"/>
            </a:xfrm>
            <a:custGeom>
              <a:avLst/>
              <a:gdLst/>
              <a:ahLst/>
              <a:cxnLst/>
              <a:rect l="0" t="0" r="r" b="b"/>
              <a:pathLst>
                <a:path w="6177" h="3507">
                  <a:moveTo>
                    <a:pt x="131" y="0"/>
                  </a:moveTo>
                  <a:lnTo>
                    <a:pt x="131" y="0"/>
                  </a:lnTo>
                  <a:cubicBezTo>
                    <a:pt x="108" y="0"/>
                    <a:pt x="86" y="6"/>
                    <a:pt x="66" y="18"/>
                  </a:cubicBezTo>
                  <a:cubicBezTo>
                    <a:pt x="46" y="29"/>
                    <a:pt x="29" y="46"/>
                    <a:pt x="18" y="66"/>
                  </a:cubicBezTo>
                  <a:cubicBezTo>
                    <a:pt x="6" y="86"/>
                    <a:pt x="0" y="108"/>
                    <a:pt x="0" y="131"/>
                  </a:cubicBezTo>
                  <a:lnTo>
                    <a:pt x="0" y="3374"/>
                  </a:lnTo>
                  <a:lnTo>
                    <a:pt x="0" y="3375"/>
                  </a:lnTo>
                  <a:cubicBezTo>
                    <a:pt x="0" y="3398"/>
                    <a:pt x="6" y="3420"/>
                    <a:pt x="18" y="3440"/>
                  </a:cubicBezTo>
                  <a:cubicBezTo>
                    <a:pt x="29" y="3460"/>
                    <a:pt x="46" y="3477"/>
                    <a:pt x="66" y="3488"/>
                  </a:cubicBezTo>
                  <a:cubicBezTo>
                    <a:pt x="86" y="3500"/>
                    <a:pt x="108" y="3506"/>
                    <a:pt x="131" y="3506"/>
                  </a:cubicBezTo>
                  <a:lnTo>
                    <a:pt x="6044" y="3506"/>
                  </a:lnTo>
                  <a:lnTo>
                    <a:pt x="6045" y="3506"/>
                  </a:lnTo>
                  <a:cubicBezTo>
                    <a:pt x="6068" y="3506"/>
                    <a:pt x="6090" y="3500"/>
                    <a:pt x="6110" y="3488"/>
                  </a:cubicBezTo>
                  <a:cubicBezTo>
                    <a:pt x="6130" y="3477"/>
                    <a:pt x="6147" y="3460"/>
                    <a:pt x="6158" y="3440"/>
                  </a:cubicBezTo>
                  <a:cubicBezTo>
                    <a:pt x="6170" y="3420"/>
                    <a:pt x="6176" y="3398"/>
                    <a:pt x="6176" y="3375"/>
                  </a:cubicBezTo>
                  <a:lnTo>
                    <a:pt x="6175" y="131"/>
                  </a:lnTo>
                  <a:lnTo>
                    <a:pt x="6176" y="131"/>
                  </a:lnTo>
                  <a:lnTo>
                    <a:pt x="6176" y="131"/>
                  </a:lnTo>
                  <a:cubicBezTo>
                    <a:pt x="6176" y="108"/>
                    <a:pt x="6170" y="86"/>
                    <a:pt x="6158" y="66"/>
                  </a:cubicBezTo>
                  <a:cubicBezTo>
                    <a:pt x="6147" y="46"/>
                    <a:pt x="6130" y="29"/>
                    <a:pt x="6110" y="18"/>
                  </a:cubicBezTo>
                  <a:cubicBezTo>
                    <a:pt x="6090" y="6"/>
                    <a:pt x="6068" y="0"/>
                    <a:pt x="6045" y="0"/>
                  </a:cubicBezTo>
                  <a:lnTo>
                    <a:pt x="131" y="0"/>
                  </a:lnTo>
                </a:path>
              </a:pathLst>
            </a:custGeom>
            <a:solidFill>
              <a:srgbClr val="BCE4E5">
                <a:alpha val="50000"/>
              </a:srgbClr>
            </a:solidFill>
            <a:ln w="9000">
              <a:solidFill>
                <a:srgbClr val="3465A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73" name="CustomShape 35"/>
            <p:cNvSpPr/>
            <p:nvPr/>
          </p:nvSpPr>
          <p:spPr>
            <a:xfrm>
              <a:off x="1812960" y="2904480"/>
              <a:ext cx="266760" cy="237240"/>
            </a:xfrm>
            <a:prstGeom prst="ellipse">
              <a:avLst/>
            </a:prstGeom>
            <a:solidFill>
              <a:srgbClr val="BEE3D3"/>
            </a:solidFill>
            <a:ln w="90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74" name="CustomShape 36"/>
            <p:cNvSpPr/>
            <p:nvPr/>
          </p:nvSpPr>
          <p:spPr>
            <a:xfrm>
              <a:off x="1812960" y="3349080"/>
              <a:ext cx="266760" cy="237960"/>
            </a:xfrm>
            <a:prstGeom prst="ellipse">
              <a:avLst/>
            </a:prstGeom>
            <a:solidFill>
              <a:srgbClr val="BEE3D3"/>
            </a:solidFill>
            <a:ln w="90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75" name="CustomShape 37"/>
            <p:cNvSpPr/>
            <p:nvPr/>
          </p:nvSpPr>
          <p:spPr>
            <a:xfrm>
              <a:off x="1812960" y="3799800"/>
              <a:ext cx="266760" cy="238320"/>
            </a:xfrm>
            <a:prstGeom prst="ellipse">
              <a:avLst/>
            </a:prstGeom>
            <a:solidFill>
              <a:srgbClr val="BEE3D3"/>
            </a:solidFill>
            <a:ln w="90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cxnSp>
          <p:nvCxnSpPr>
            <p:cNvPr id="376" name="Line 38"/>
            <p:cNvCxnSpPr>
              <a:stCxn id="373" idx="4"/>
              <a:endCxn id="374" idx="0"/>
            </p:cNvCxnSpPr>
            <p:nvPr/>
          </p:nvCxnSpPr>
          <p:spPr>
            <a:xfrm>
              <a:off x="1946160" y="3141720"/>
              <a:ext cx="360" cy="207720"/>
            </a:xfrm>
            <a:prstGeom prst="straightConnector1">
              <a:avLst/>
            </a:prstGeom>
            <a:ln w="9000">
              <a:solidFill>
                <a:srgbClr val="000000"/>
              </a:solidFill>
              <a:round/>
              <a:tailEnd type="triangle" w="med" len="med"/>
            </a:ln>
          </p:spPr>
        </p:cxnSp>
        <p:cxnSp>
          <p:nvCxnSpPr>
            <p:cNvPr id="377" name="Line 39"/>
            <p:cNvCxnSpPr>
              <a:stCxn id="374" idx="4"/>
              <a:endCxn id="375" idx="0"/>
            </p:cNvCxnSpPr>
            <p:nvPr/>
          </p:nvCxnSpPr>
          <p:spPr>
            <a:xfrm>
              <a:off x="1946160" y="3587040"/>
              <a:ext cx="360" cy="213120"/>
            </a:xfrm>
            <a:prstGeom prst="straightConnector1">
              <a:avLst/>
            </a:prstGeom>
            <a:ln w="9000">
              <a:solidFill>
                <a:srgbClr val="000000"/>
              </a:solidFill>
              <a:round/>
              <a:tailEnd type="triangle" w="med" len="med"/>
            </a:ln>
          </p:spPr>
        </p:cxnSp>
        <p:sp>
          <p:nvSpPr>
            <p:cNvPr id="378" name="CustomShape 40"/>
            <p:cNvSpPr/>
            <p:nvPr/>
          </p:nvSpPr>
          <p:spPr>
            <a:xfrm>
              <a:off x="3124800" y="2904480"/>
              <a:ext cx="267120" cy="238320"/>
            </a:xfrm>
            <a:prstGeom prst="ellipse">
              <a:avLst/>
            </a:prstGeom>
            <a:solidFill>
              <a:srgbClr val="BEE3D3"/>
            </a:solidFill>
            <a:ln w="90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79" name="CustomShape 41"/>
            <p:cNvSpPr/>
            <p:nvPr/>
          </p:nvSpPr>
          <p:spPr>
            <a:xfrm>
              <a:off x="3124800" y="3349080"/>
              <a:ext cx="267120" cy="237960"/>
            </a:xfrm>
            <a:prstGeom prst="ellipse">
              <a:avLst/>
            </a:prstGeom>
            <a:solidFill>
              <a:srgbClr val="BEE3D3"/>
            </a:solidFill>
            <a:ln w="90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80" name="CustomShape 42"/>
            <p:cNvSpPr/>
            <p:nvPr/>
          </p:nvSpPr>
          <p:spPr>
            <a:xfrm>
              <a:off x="3124800" y="3800520"/>
              <a:ext cx="267120" cy="237600"/>
            </a:xfrm>
            <a:prstGeom prst="ellipse">
              <a:avLst/>
            </a:prstGeom>
            <a:solidFill>
              <a:srgbClr val="BEE3D3"/>
            </a:solidFill>
            <a:ln w="90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cxnSp>
          <p:nvCxnSpPr>
            <p:cNvPr id="381" name="Line 43"/>
            <p:cNvCxnSpPr>
              <a:stCxn id="378" idx="4"/>
              <a:endCxn id="379" idx="0"/>
            </p:cNvCxnSpPr>
            <p:nvPr/>
          </p:nvCxnSpPr>
          <p:spPr>
            <a:xfrm>
              <a:off x="3258360" y="3142800"/>
              <a:ext cx="360" cy="206640"/>
            </a:xfrm>
            <a:prstGeom prst="straightConnector1">
              <a:avLst/>
            </a:prstGeom>
            <a:ln w="9000">
              <a:solidFill>
                <a:srgbClr val="000000"/>
              </a:solidFill>
              <a:round/>
              <a:tailEnd type="triangle" w="med" len="med"/>
            </a:ln>
          </p:spPr>
        </p:cxnSp>
        <p:cxnSp>
          <p:nvCxnSpPr>
            <p:cNvPr id="382" name="Line 44"/>
            <p:cNvCxnSpPr>
              <a:stCxn id="379" idx="4"/>
              <a:endCxn id="380" idx="0"/>
            </p:cNvCxnSpPr>
            <p:nvPr/>
          </p:nvCxnSpPr>
          <p:spPr>
            <a:xfrm>
              <a:off x="3258360" y="3587040"/>
              <a:ext cx="360" cy="213840"/>
            </a:xfrm>
            <a:prstGeom prst="straightConnector1">
              <a:avLst/>
            </a:prstGeom>
            <a:ln w="9000">
              <a:solidFill>
                <a:srgbClr val="000000"/>
              </a:solidFill>
              <a:round/>
              <a:tailEnd type="triangle" w="med" len="med"/>
            </a:ln>
          </p:spPr>
        </p:cxnSp>
        <p:cxnSp>
          <p:nvCxnSpPr>
            <p:cNvPr id="383" name="Line 45"/>
            <p:cNvCxnSpPr>
              <a:stCxn id="373" idx="6"/>
              <a:endCxn id="378" idx="2"/>
            </p:cNvCxnSpPr>
            <p:nvPr/>
          </p:nvCxnSpPr>
          <p:spPr>
            <a:xfrm>
              <a:off x="2079720" y="3023280"/>
              <a:ext cx="1045440" cy="720"/>
            </a:xfrm>
            <a:prstGeom prst="straightConnector1">
              <a:avLst/>
            </a:prstGeom>
            <a:ln w="9000">
              <a:solidFill>
                <a:srgbClr val="000000"/>
              </a:solidFill>
              <a:round/>
              <a:tailEnd type="triangle" w="med" len="med"/>
            </a:ln>
          </p:spPr>
        </p:cxnSp>
        <p:cxnSp>
          <p:nvCxnSpPr>
            <p:cNvPr id="384" name="Line 46"/>
            <p:cNvCxnSpPr>
              <a:stCxn id="374" idx="6"/>
              <a:endCxn id="379" idx="2"/>
            </p:cNvCxnSpPr>
            <p:nvPr/>
          </p:nvCxnSpPr>
          <p:spPr>
            <a:xfrm>
              <a:off x="2079720" y="3468240"/>
              <a:ext cx="1045440" cy="360"/>
            </a:xfrm>
            <a:prstGeom prst="straightConnector1">
              <a:avLst/>
            </a:prstGeom>
            <a:ln w="9000">
              <a:solidFill>
                <a:srgbClr val="000000"/>
              </a:solidFill>
              <a:round/>
              <a:tailEnd type="triangle" w="med" len="med"/>
            </a:ln>
          </p:spPr>
        </p:cxnSp>
        <p:grpSp>
          <p:nvGrpSpPr>
            <p:cNvPr id="385" name="Group 47"/>
            <p:cNvGrpSpPr/>
            <p:nvPr/>
          </p:nvGrpSpPr>
          <p:grpSpPr>
            <a:xfrm>
              <a:off x="3516120" y="3176280"/>
              <a:ext cx="215640" cy="78120"/>
              <a:chOff x="3516120" y="3176280"/>
              <a:chExt cx="215640" cy="78120"/>
            </a:xfrm>
          </p:grpSpPr>
          <p:sp>
            <p:nvSpPr>
              <p:cNvPr id="386" name="Freeform 48"/>
              <p:cNvSpPr/>
              <p:nvPr/>
            </p:nvSpPr>
            <p:spPr>
              <a:xfrm>
                <a:off x="3516120" y="3176280"/>
                <a:ext cx="43560" cy="62640"/>
              </a:xfrm>
              <a:custGeom>
                <a:avLst/>
                <a:gdLst/>
                <a:ahLst/>
                <a:cxnLst/>
                <a:rect l="0" t="0" r="r" b="b"/>
                <a:pathLst>
                  <a:path w="121" h="174">
                    <a:moveTo>
                      <a:pt x="74" y="98"/>
                    </a:moveTo>
                    <a:cubicBezTo>
                      <a:pt x="85" y="124"/>
                      <a:pt x="96" y="161"/>
                      <a:pt x="101" y="167"/>
                    </a:cubicBezTo>
                    <a:cubicBezTo>
                      <a:pt x="104" y="173"/>
                      <a:pt x="107" y="173"/>
                      <a:pt x="113" y="173"/>
                    </a:cubicBezTo>
                    <a:lnTo>
                      <a:pt x="119" y="173"/>
                    </a:lnTo>
                    <a:cubicBezTo>
                      <a:pt x="120" y="172"/>
                      <a:pt x="120" y="170"/>
                      <a:pt x="120" y="170"/>
                    </a:cubicBezTo>
                    <a:cubicBezTo>
                      <a:pt x="120" y="170"/>
                      <a:pt x="120" y="169"/>
                      <a:pt x="119" y="167"/>
                    </a:cubicBezTo>
                    <a:cubicBezTo>
                      <a:pt x="119" y="165"/>
                      <a:pt x="116" y="161"/>
                      <a:pt x="115" y="157"/>
                    </a:cubicBezTo>
                    <a:lnTo>
                      <a:pt x="64" y="17"/>
                    </a:lnTo>
                    <a:cubicBezTo>
                      <a:pt x="59" y="4"/>
                      <a:pt x="46" y="0"/>
                      <a:pt x="35" y="0"/>
                    </a:cubicBezTo>
                    <a:cubicBezTo>
                      <a:pt x="33" y="0"/>
                      <a:pt x="30" y="0"/>
                      <a:pt x="30" y="3"/>
                    </a:cubicBezTo>
                    <a:cubicBezTo>
                      <a:pt x="30" y="5"/>
                      <a:pt x="33" y="5"/>
                      <a:pt x="33" y="5"/>
                    </a:cubicBezTo>
                    <a:cubicBezTo>
                      <a:pt x="41" y="6"/>
                      <a:pt x="42" y="9"/>
                      <a:pt x="48" y="25"/>
                    </a:cubicBezTo>
                    <a:lnTo>
                      <a:pt x="72" y="91"/>
                    </a:lnTo>
                    <a:lnTo>
                      <a:pt x="5" y="158"/>
                    </a:lnTo>
                    <a:cubicBezTo>
                      <a:pt x="2" y="160"/>
                      <a:pt x="0" y="163"/>
                      <a:pt x="0" y="166"/>
                    </a:cubicBezTo>
                    <a:cubicBezTo>
                      <a:pt x="0" y="170"/>
                      <a:pt x="4" y="173"/>
                      <a:pt x="7" y="173"/>
                    </a:cubicBezTo>
                    <a:cubicBezTo>
                      <a:pt x="11" y="173"/>
                      <a:pt x="13" y="170"/>
                      <a:pt x="16" y="167"/>
                    </a:cubicBezTo>
                    <a:lnTo>
                      <a:pt x="74" y="98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387" name="Freeform 49"/>
              <p:cNvSpPr/>
              <p:nvPr/>
            </p:nvSpPr>
            <p:spPr>
              <a:xfrm>
                <a:off x="3566160" y="3211200"/>
                <a:ext cx="54720" cy="42480"/>
              </a:xfrm>
              <a:custGeom>
                <a:avLst/>
                <a:gdLst/>
                <a:ahLst/>
                <a:cxnLst/>
                <a:rect l="0" t="0" r="r" b="b"/>
                <a:pathLst>
                  <a:path w="152" h="118">
                    <a:moveTo>
                      <a:pt x="87" y="51"/>
                    </a:moveTo>
                    <a:lnTo>
                      <a:pt x="103" y="36"/>
                    </a:lnTo>
                    <a:cubicBezTo>
                      <a:pt x="125" y="14"/>
                      <a:pt x="132" y="7"/>
                      <a:pt x="147" y="5"/>
                    </a:cubicBezTo>
                    <a:cubicBezTo>
                      <a:pt x="149" y="5"/>
                      <a:pt x="151" y="5"/>
                      <a:pt x="151" y="3"/>
                    </a:cubicBezTo>
                    <a:cubicBezTo>
                      <a:pt x="151" y="1"/>
                      <a:pt x="149" y="0"/>
                      <a:pt x="149" y="0"/>
                    </a:cubicBezTo>
                    <a:cubicBezTo>
                      <a:pt x="143" y="0"/>
                      <a:pt x="138" y="1"/>
                      <a:pt x="133" y="1"/>
                    </a:cubicBezTo>
                    <a:cubicBezTo>
                      <a:pt x="129" y="1"/>
                      <a:pt x="117" y="0"/>
                      <a:pt x="112" y="0"/>
                    </a:cubicBezTo>
                    <a:cubicBezTo>
                      <a:pt x="112" y="0"/>
                      <a:pt x="109" y="1"/>
                      <a:pt x="109" y="4"/>
                    </a:cubicBezTo>
                    <a:cubicBezTo>
                      <a:pt x="109" y="4"/>
                      <a:pt x="109" y="5"/>
                      <a:pt x="112" y="5"/>
                    </a:cubicBezTo>
                    <a:cubicBezTo>
                      <a:pt x="114" y="5"/>
                      <a:pt x="119" y="6"/>
                      <a:pt x="119" y="11"/>
                    </a:cubicBezTo>
                    <a:cubicBezTo>
                      <a:pt x="119" y="13"/>
                      <a:pt x="116" y="16"/>
                      <a:pt x="114" y="18"/>
                    </a:cubicBezTo>
                    <a:cubicBezTo>
                      <a:pt x="112" y="20"/>
                      <a:pt x="90" y="40"/>
                      <a:pt x="85" y="46"/>
                    </a:cubicBezTo>
                    <a:lnTo>
                      <a:pt x="67" y="13"/>
                    </a:lnTo>
                    <a:cubicBezTo>
                      <a:pt x="67" y="12"/>
                      <a:pt x="66" y="11"/>
                      <a:pt x="66" y="11"/>
                    </a:cubicBezTo>
                    <a:cubicBezTo>
                      <a:pt x="66" y="9"/>
                      <a:pt x="69" y="6"/>
                      <a:pt x="75" y="5"/>
                    </a:cubicBezTo>
                    <a:cubicBezTo>
                      <a:pt x="76" y="5"/>
                      <a:pt x="79" y="5"/>
                      <a:pt x="79" y="2"/>
                    </a:cubicBezTo>
                    <a:cubicBezTo>
                      <a:pt x="79" y="2"/>
                      <a:pt x="78" y="0"/>
                      <a:pt x="75" y="0"/>
                    </a:cubicBezTo>
                    <a:cubicBezTo>
                      <a:pt x="72" y="0"/>
                      <a:pt x="68" y="1"/>
                      <a:pt x="64" y="1"/>
                    </a:cubicBezTo>
                    <a:cubicBezTo>
                      <a:pt x="60" y="1"/>
                      <a:pt x="57" y="1"/>
                      <a:pt x="53" y="1"/>
                    </a:cubicBezTo>
                    <a:cubicBezTo>
                      <a:pt x="50" y="1"/>
                      <a:pt x="46" y="1"/>
                      <a:pt x="42" y="1"/>
                    </a:cubicBezTo>
                    <a:cubicBezTo>
                      <a:pt x="40" y="1"/>
                      <a:pt x="36" y="0"/>
                      <a:pt x="34" y="0"/>
                    </a:cubicBezTo>
                    <a:cubicBezTo>
                      <a:pt x="33" y="0"/>
                      <a:pt x="30" y="0"/>
                      <a:pt x="30" y="4"/>
                    </a:cubicBezTo>
                    <a:cubicBezTo>
                      <a:pt x="30" y="5"/>
                      <a:pt x="33" y="5"/>
                      <a:pt x="35" y="5"/>
                    </a:cubicBezTo>
                    <a:cubicBezTo>
                      <a:pt x="46" y="5"/>
                      <a:pt x="46" y="8"/>
                      <a:pt x="47" y="11"/>
                    </a:cubicBezTo>
                    <a:lnTo>
                      <a:pt x="72" y="59"/>
                    </a:lnTo>
                    <a:lnTo>
                      <a:pt x="62" y="68"/>
                    </a:lnTo>
                    <a:cubicBezTo>
                      <a:pt x="59" y="72"/>
                      <a:pt x="50" y="79"/>
                      <a:pt x="47" y="82"/>
                    </a:cubicBezTo>
                    <a:cubicBezTo>
                      <a:pt x="27" y="103"/>
                      <a:pt x="20" y="111"/>
                      <a:pt x="5" y="112"/>
                    </a:cubicBezTo>
                    <a:cubicBezTo>
                      <a:pt x="2" y="112"/>
                      <a:pt x="0" y="112"/>
                      <a:pt x="0" y="115"/>
                    </a:cubicBezTo>
                    <a:cubicBezTo>
                      <a:pt x="0" y="116"/>
                      <a:pt x="1" y="117"/>
                      <a:pt x="2" y="117"/>
                    </a:cubicBezTo>
                    <a:cubicBezTo>
                      <a:pt x="7" y="117"/>
                      <a:pt x="13" y="116"/>
                      <a:pt x="19" y="116"/>
                    </a:cubicBezTo>
                    <a:cubicBezTo>
                      <a:pt x="21" y="116"/>
                      <a:pt x="26" y="116"/>
                      <a:pt x="28" y="116"/>
                    </a:cubicBezTo>
                    <a:cubicBezTo>
                      <a:pt x="32" y="116"/>
                      <a:pt x="36" y="117"/>
                      <a:pt x="38" y="117"/>
                    </a:cubicBezTo>
                    <a:cubicBezTo>
                      <a:pt x="38" y="117"/>
                      <a:pt x="42" y="117"/>
                      <a:pt x="42" y="114"/>
                    </a:cubicBezTo>
                    <a:cubicBezTo>
                      <a:pt x="42" y="112"/>
                      <a:pt x="40" y="112"/>
                      <a:pt x="38" y="112"/>
                    </a:cubicBezTo>
                    <a:cubicBezTo>
                      <a:pt x="37" y="112"/>
                      <a:pt x="33" y="111"/>
                      <a:pt x="33" y="107"/>
                    </a:cubicBezTo>
                    <a:cubicBezTo>
                      <a:pt x="33" y="104"/>
                      <a:pt x="36" y="102"/>
                      <a:pt x="40" y="97"/>
                    </a:cubicBezTo>
                    <a:lnTo>
                      <a:pt x="74" y="64"/>
                    </a:lnTo>
                    <a:lnTo>
                      <a:pt x="95" y="104"/>
                    </a:lnTo>
                    <a:cubicBezTo>
                      <a:pt x="96" y="106"/>
                      <a:pt x="96" y="107"/>
                      <a:pt x="96" y="107"/>
                    </a:cubicBezTo>
                    <a:cubicBezTo>
                      <a:pt x="96" y="108"/>
                      <a:pt x="93" y="111"/>
                      <a:pt x="87" y="112"/>
                    </a:cubicBezTo>
                    <a:cubicBezTo>
                      <a:pt x="86" y="112"/>
                      <a:pt x="83" y="112"/>
                      <a:pt x="83" y="115"/>
                    </a:cubicBezTo>
                    <a:cubicBezTo>
                      <a:pt x="83" y="115"/>
                      <a:pt x="83" y="117"/>
                      <a:pt x="86" y="117"/>
                    </a:cubicBezTo>
                    <a:cubicBezTo>
                      <a:pt x="89" y="117"/>
                      <a:pt x="94" y="116"/>
                      <a:pt x="97" y="116"/>
                    </a:cubicBezTo>
                    <a:cubicBezTo>
                      <a:pt x="101" y="116"/>
                      <a:pt x="105" y="116"/>
                      <a:pt x="108" y="116"/>
                    </a:cubicBezTo>
                    <a:cubicBezTo>
                      <a:pt x="112" y="116"/>
                      <a:pt x="116" y="116"/>
                      <a:pt x="119" y="116"/>
                    </a:cubicBezTo>
                    <a:cubicBezTo>
                      <a:pt x="121" y="116"/>
                      <a:pt x="126" y="117"/>
                      <a:pt x="129" y="117"/>
                    </a:cubicBezTo>
                    <a:cubicBezTo>
                      <a:pt x="129" y="117"/>
                      <a:pt x="132" y="117"/>
                      <a:pt x="132" y="113"/>
                    </a:cubicBezTo>
                    <a:cubicBezTo>
                      <a:pt x="132" y="112"/>
                      <a:pt x="129" y="112"/>
                      <a:pt x="126" y="112"/>
                    </a:cubicBezTo>
                    <a:cubicBezTo>
                      <a:pt x="116" y="112"/>
                      <a:pt x="116" y="109"/>
                      <a:pt x="115" y="106"/>
                    </a:cubicBezTo>
                    <a:lnTo>
                      <a:pt x="87" y="51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388" name="Freeform 50"/>
              <p:cNvSpPr/>
              <p:nvPr/>
            </p:nvSpPr>
            <p:spPr>
              <a:xfrm>
                <a:off x="3631680" y="3206520"/>
                <a:ext cx="18360" cy="29520"/>
              </a:xfrm>
              <a:custGeom>
                <a:avLst/>
                <a:gdLst/>
                <a:ahLst/>
                <a:cxnLst/>
                <a:rect l="0" t="0" r="r" b="b"/>
                <a:pathLst>
                  <a:path w="51" h="82">
                    <a:moveTo>
                      <a:pt x="32" y="4"/>
                    </a:moveTo>
                    <a:cubicBezTo>
                      <a:pt x="32" y="0"/>
                      <a:pt x="31" y="0"/>
                      <a:pt x="27" y="0"/>
                    </a:cubicBezTo>
                    <a:cubicBezTo>
                      <a:pt x="19" y="8"/>
                      <a:pt x="5" y="8"/>
                      <a:pt x="2" y="8"/>
                    </a:cubicBezTo>
                    <a:lnTo>
                      <a:pt x="0" y="8"/>
                    </a:lnTo>
                    <a:lnTo>
                      <a:pt x="0" y="13"/>
                    </a:lnTo>
                    <a:lnTo>
                      <a:pt x="2" y="13"/>
                    </a:lnTo>
                    <a:cubicBezTo>
                      <a:pt x="5" y="13"/>
                      <a:pt x="13" y="13"/>
                      <a:pt x="20" y="10"/>
                    </a:cubicBezTo>
                    <a:lnTo>
                      <a:pt x="20" y="71"/>
                    </a:lnTo>
                    <a:cubicBezTo>
                      <a:pt x="20" y="75"/>
                      <a:pt x="20" y="77"/>
                      <a:pt x="7" y="77"/>
                    </a:cubicBezTo>
                    <a:lnTo>
                      <a:pt x="2" y="77"/>
                    </a:lnTo>
                    <a:lnTo>
                      <a:pt x="2" y="81"/>
                    </a:lnTo>
                    <a:cubicBezTo>
                      <a:pt x="8" y="81"/>
                      <a:pt x="20" y="81"/>
                      <a:pt x="26" y="81"/>
                    </a:cubicBezTo>
                    <a:cubicBezTo>
                      <a:pt x="33" y="81"/>
                      <a:pt x="44" y="81"/>
                      <a:pt x="50" y="81"/>
                    </a:cubicBezTo>
                    <a:lnTo>
                      <a:pt x="50" y="77"/>
                    </a:lnTo>
                    <a:lnTo>
                      <a:pt x="45" y="77"/>
                    </a:lnTo>
                    <a:cubicBezTo>
                      <a:pt x="32" y="77"/>
                      <a:pt x="32" y="75"/>
                      <a:pt x="32" y="71"/>
                    </a:cubicBezTo>
                    <a:lnTo>
                      <a:pt x="32" y="4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389" name="Freeform 51"/>
              <p:cNvSpPr/>
              <p:nvPr/>
            </p:nvSpPr>
            <p:spPr>
              <a:xfrm>
                <a:off x="3664440" y="3209760"/>
                <a:ext cx="39240" cy="45000"/>
              </a:xfrm>
              <a:custGeom>
                <a:avLst/>
                <a:gdLst/>
                <a:ahLst/>
                <a:cxnLst/>
                <a:rect l="0" t="0" r="r" b="b"/>
                <a:pathLst>
                  <a:path w="109" h="125">
                    <a:moveTo>
                      <a:pt x="108" y="2"/>
                    </a:moveTo>
                    <a:cubicBezTo>
                      <a:pt x="108" y="2"/>
                      <a:pt x="108" y="0"/>
                      <a:pt x="107" y="0"/>
                    </a:cubicBezTo>
                    <a:cubicBezTo>
                      <a:pt x="105" y="0"/>
                      <a:pt x="105" y="0"/>
                      <a:pt x="103" y="2"/>
                    </a:cubicBezTo>
                    <a:lnTo>
                      <a:pt x="95" y="12"/>
                    </a:lnTo>
                    <a:cubicBezTo>
                      <a:pt x="88" y="4"/>
                      <a:pt x="77" y="0"/>
                      <a:pt x="67" y="0"/>
                    </a:cubicBezTo>
                    <a:cubicBezTo>
                      <a:pt x="42" y="0"/>
                      <a:pt x="22" y="20"/>
                      <a:pt x="22" y="40"/>
                    </a:cubicBezTo>
                    <a:cubicBezTo>
                      <a:pt x="22" y="42"/>
                      <a:pt x="23" y="49"/>
                      <a:pt x="27" y="55"/>
                    </a:cubicBezTo>
                    <a:cubicBezTo>
                      <a:pt x="33" y="62"/>
                      <a:pt x="40" y="64"/>
                      <a:pt x="50" y="66"/>
                    </a:cubicBezTo>
                    <a:cubicBezTo>
                      <a:pt x="55" y="67"/>
                      <a:pt x="64" y="68"/>
                      <a:pt x="65" y="69"/>
                    </a:cubicBezTo>
                    <a:cubicBezTo>
                      <a:pt x="71" y="71"/>
                      <a:pt x="81" y="75"/>
                      <a:pt x="81" y="88"/>
                    </a:cubicBezTo>
                    <a:cubicBezTo>
                      <a:pt x="81" y="102"/>
                      <a:pt x="67" y="119"/>
                      <a:pt x="46" y="119"/>
                    </a:cubicBezTo>
                    <a:cubicBezTo>
                      <a:pt x="33" y="119"/>
                      <a:pt x="14" y="112"/>
                      <a:pt x="14" y="93"/>
                    </a:cubicBezTo>
                    <a:cubicBezTo>
                      <a:pt x="14" y="91"/>
                      <a:pt x="15" y="88"/>
                      <a:pt x="16" y="85"/>
                    </a:cubicBezTo>
                    <a:lnTo>
                      <a:pt x="16" y="84"/>
                    </a:lnTo>
                    <a:cubicBezTo>
                      <a:pt x="16" y="81"/>
                      <a:pt x="13" y="81"/>
                      <a:pt x="13" y="81"/>
                    </a:cubicBezTo>
                    <a:cubicBezTo>
                      <a:pt x="10" y="81"/>
                      <a:pt x="10" y="82"/>
                      <a:pt x="9" y="85"/>
                    </a:cubicBezTo>
                    <a:lnTo>
                      <a:pt x="1" y="119"/>
                    </a:lnTo>
                    <a:cubicBezTo>
                      <a:pt x="1" y="119"/>
                      <a:pt x="0" y="120"/>
                      <a:pt x="0" y="123"/>
                    </a:cubicBezTo>
                    <a:cubicBezTo>
                      <a:pt x="0" y="123"/>
                      <a:pt x="1" y="124"/>
                      <a:pt x="2" y="124"/>
                    </a:cubicBezTo>
                    <a:cubicBezTo>
                      <a:pt x="4" y="124"/>
                      <a:pt x="4" y="124"/>
                      <a:pt x="5" y="121"/>
                    </a:cubicBezTo>
                    <a:cubicBezTo>
                      <a:pt x="8" y="119"/>
                      <a:pt x="12" y="114"/>
                      <a:pt x="14" y="112"/>
                    </a:cubicBezTo>
                    <a:cubicBezTo>
                      <a:pt x="24" y="123"/>
                      <a:pt x="36" y="124"/>
                      <a:pt x="46" y="124"/>
                    </a:cubicBezTo>
                    <a:cubicBezTo>
                      <a:pt x="73" y="124"/>
                      <a:pt x="94" y="102"/>
                      <a:pt x="94" y="81"/>
                    </a:cubicBezTo>
                    <a:cubicBezTo>
                      <a:pt x="94" y="74"/>
                      <a:pt x="90" y="67"/>
                      <a:pt x="87" y="64"/>
                    </a:cubicBezTo>
                    <a:cubicBezTo>
                      <a:pt x="81" y="57"/>
                      <a:pt x="78" y="57"/>
                      <a:pt x="57" y="50"/>
                    </a:cubicBezTo>
                    <a:cubicBezTo>
                      <a:pt x="53" y="50"/>
                      <a:pt x="46" y="49"/>
                      <a:pt x="46" y="48"/>
                    </a:cubicBezTo>
                    <a:cubicBezTo>
                      <a:pt x="42" y="46"/>
                      <a:pt x="34" y="42"/>
                      <a:pt x="34" y="33"/>
                    </a:cubicBezTo>
                    <a:cubicBezTo>
                      <a:pt x="34" y="20"/>
                      <a:pt x="49" y="5"/>
                      <a:pt x="67" y="5"/>
                    </a:cubicBezTo>
                    <a:cubicBezTo>
                      <a:pt x="86" y="5"/>
                      <a:pt x="94" y="16"/>
                      <a:pt x="94" y="33"/>
                    </a:cubicBezTo>
                    <a:cubicBezTo>
                      <a:pt x="94" y="35"/>
                      <a:pt x="94" y="38"/>
                      <a:pt x="94" y="40"/>
                    </a:cubicBezTo>
                    <a:cubicBezTo>
                      <a:pt x="94" y="42"/>
                      <a:pt x="96" y="42"/>
                      <a:pt x="97" y="42"/>
                    </a:cubicBezTo>
                    <a:cubicBezTo>
                      <a:pt x="99" y="42"/>
                      <a:pt x="99" y="42"/>
                      <a:pt x="100" y="38"/>
                    </a:cubicBezTo>
                    <a:lnTo>
                      <a:pt x="108" y="2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390" name="Freeform 52"/>
              <p:cNvSpPr/>
              <p:nvPr/>
            </p:nvSpPr>
            <p:spPr>
              <a:xfrm>
                <a:off x="3710160" y="3206520"/>
                <a:ext cx="21960" cy="29520"/>
              </a:xfrm>
              <a:custGeom>
                <a:avLst/>
                <a:gdLst/>
                <a:ahLst/>
                <a:cxnLst/>
                <a:rect l="0" t="0" r="r" b="b"/>
                <a:pathLst>
                  <a:path w="61" h="82">
                    <a:moveTo>
                      <a:pt x="60" y="58"/>
                    </a:moveTo>
                    <a:lnTo>
                      <a:pt x="57" y="58"/>
                    </a:lnTo>
                    <a:cubicBezTo>
                      <a:pt x="56" y="60"/>
                      <a:pt x="55" y="68"/>
                      <a:pt x="53" y="69"/>
                    </a:cubicBezTo>
                    <a:cubicBezTo>
                      <a:pt x="51" y="70"/>
                      <a:pt x="42" y="70"/>
                      <a:pt x="40" y="70"/>
                    </a:cubicBezTo>
                    <a:lnTo>
                      <a:pt x="16" y="70"/>
                    </a:lnTo>
                    <a:cubicBezTo>
                      <a:pt x="24" y="64"/>
                      <a:pt x="33" y="57"/>
                      <a:pt x="40" y="52"/>
                    </a:cubicBezTo>
                    <a:cubicBezTo>
                      <a:pt x="50" y="45"/>
                      <a:pt x="60" y="37"/>
                      <a:pt x="60" y="24"/>
                    </a:cubicBezTo>
                    <a:cubicBezTo>
                      <a:pt x="60" y="9"/>
                      <a:pt x="46" y="0"/>
                      <a:pt x="28" y="0"/>
                    </a:cubicBezTo>
                    <a:cubicBezTo>
                      <a:pt x="12" y="0"/>
                      <a:pt x="0" y="9"/>
                      <a:pt x="0" y="22"/>
                    </a:cubicBezTo>
                    <a:cubicBezTo>
                      <a:pt x="0" y="27"/>
                      <a:pt x="5" y="28"/>
                      <a:pt x="7" y="28"/>
                    </a:cubicBezTo>
                    <a:cubicBezTo>
                      <a:pt x="11" y="28"/>
                      <a:pt x="15" y="27"/>
                      <a:pt x="15" y="22"/>
                    </a:cubicBezTo>
                    <a:cubicBezTo>
                      <a:pt x="15" y="17"/>
                      <a:pt x="11" y="16"/>
                      <a:pt x="7" y="15"/>
                    </a:cubicBezTo>
                    <a:cubicBezTo>
                      <a:pt x="11" y="9"/>
                      <a:pt x="18" y="5"/>
                      <a:pt x="26" y="5"/>
                    </a:cubicBezTo>
                    <a:cubicBezTo>
                      <a:pt x="38" y="5"/>
                      <a:pt x="48" y="13"/>
                      <a:pt x="48" y="24"/>
                    </a:cubicBezTo>
                    <a:cubicBezTo>
                      <a:pt x="48" y="35"/>
                      <a:pt x="42" y="42"/>
                      <a:pt x="32" y="50"/>
                    </a:cubicBezTo>
                    <a:lnTo>
                      <a:pt x="2" y="77"/>
                    </a:lnTo>
                    <a:cubicBezTo>
                      <a:pt x="0" y="77"/>
                      <a:pt x="0" y="77"/>
                      <a:pt x="0" y="78"/>
                    </a:cubicBezTo>
                    <a:lnTo>
                      <a:pt x="0" y="81"/>
                    </a:lnTo>
                    <a:lnTo>
                      <a:pt x="57" y="81"/>
                    </a:lnTo>
                    <a:lnTo>
                      <a:pt x="60" y="58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</p:grpSp>
        <p:grpSp>
          <p:nvGrpSpPr>
            <p:cNvPr id="391" name="Group 53"/>
            <p:cNvGrpSpPr/>
            <p:nvPr/>
          </p:nvGrpSpPr>
          <p:grpSpPr>
            <a:xfrm>
              <a:off x="2487960" y="2904480"/>
              <a:ext cx="137520" cy="100080"/>
              <a:chOff x="2487960" y="2904480"/>
              <a:chExt cx="137520" cy="100080"/>
            </a:xfrm>
          </p:grpSpPr>
          <p:sp>
            <p:nvSpPr>
              <p:cNvPr id="392" name="Freeform 54"/>
              <p:cNvSpPr/>
              <p:nvPr/>
            </p:nvSpPr>
            <p:spPr>
              <a:xfrm>
                <a:off x="2487960" y="2943720"/>
                <a:ext cx="48240" cy="39240"/>
              </a:xfrm>
              <a:custGeom>
                <a:avLst/>
                <a:gdLst/>
                <a:ahLst/>
                <a:cxnLst/>
                <a:rect l="0" t="0" r="r" b="b"/>
                <a:pathLst>
                  <a:path w="134" h="109">
                    <a:moveTo>
                      <a:pt x="58" y="15"/>
                    </a:moveTo>
                    <a:lnTo>
                      <a:pt x="86" y="15"/>
                    </a:lnTo>
                    <a:cubicBezTo>
                      <a:pt x="77" y="50"/>
                      <a:pt x="75" y="60"/>
                      <a:pt x="75" y="77"/>
                    </a:cubicBezTo>
                    <a:cubicBezTo>
                      <a:pt x="75" y="81"/>
                      <a:pt x="75" y="88"/>
                      <a:pt x="77" y="96"/>
                    </a:cubicBezTo>
                    <a:cubicBezTo>
                      <a:pt x="80" y="108"/>
                      <a:pt x="82" y="108"/>
                      <a:pt x="87" y="108"/>
                    </a:cubicBezTo>
                    <a:cubicBezTo>
                      <a:pt x="91" y="108"/>
                      <a:pt x="97" y="104"/>
                      <a:pt x="97" y="98"/>
                    </a:cubicBezTo>
                    <a:cubicBezTo>
                      <a:pt x="97" y="97"/>
                      <a:pt x="97" y="97"/>
                      <a:pt x="95" y="94"/>
                    </a:cubicBezTo>
                    <a:cubicBezTo>
                      <a:pt x="88" y="76"/>
                      <a:pt x="88" y="60"/>
                      <a:pt x="88" y="53"/>
                    </a:cubicBezTo>
                    <a:cubicBezTo>
                      <a:pt x="88" y="40"/>
                      <a:pt x="89" y="27"/>
                      <a:pt x="92" y="15"/>
                    </a:cubicBezTo>
                    <a:lnTo>
                      <a:pt x="120" y="15"/>
                    </a:lnTo>
                    <a:cubicBezTo>
                      <a:pt x="123" y="15"/>
                      <a:pt x="133" y="15"/>
                      <a:pt x="133" y="5"/>
                    </a:cubicBezTo>
                    <a:cubicBezTo>
                      <a:pt x="133" y="0"/>
                      <a:pt x="127" y="0"/>
                      <a:pt x="123" y="0"/>
                    </a:cubicBezTo>
                    <a:lnTo>
                      <a:pt x="41" y="0"/>
                    </a:lnTo>
                    <a:cubicBezTo>
                      <a:pt x="35" y="0"/>
                      <a:pt x="26" y="0"/>
                      <a:pt x="16" y="12"/>
                    </a:cubicBezTo>
                    <a:cubicBezTo>
                      <a:pt x="5" y="21"/>
                      <a:pt x="0" y="33"/>
                      <a:pt x="0" y="33"/>
                    </a:cubicBezTo>
                    <a:cubicBezTo>
                      <a:pt x="0" y="34"/>
                      <a:pt x="0" y="36"/>
                      <a:pt x="3" y="36"/>
                    </a:cubicBezTo>
                    <a:cubicBezTo>
                      <a:pt x="5" y="36"/>
                      <a:pt x="5" y="35"/>
                      <a:pt x="6" y="33"/>
                    </a:cubicBezTo>
                    <a:cubicBezTo>
                      <a:pt x="20" y="15"/>
                      <a:pt x="33" y="15"/>
                      <a:pt x="37" y="15"/>
                    </a:cubicBezTo>
                    <a:lnTo>
                      <a:pt x="52" y="15"/>
                    </a:lnTo>
                    <a:cubicBezTo>
                      <a:pt x="44" y="43"/>
                      <a:pt x="31" y="73"/>
                      <a:pt x="20" y="96"/>
                    </a:cubicBezTo>
                    <a:cubicBezTo>
                      <a:pt x="20" y="98"/>
                      <a:pt x="20" y="100"/>
                      <a:pt x="20" y="102"/>
                    </a:cubicBezTo>
                    <a:cubicBezTo>
                      <a:pt x="20" y="107"/>
                      <a:pt x="23" y="108"/>
                      <a:pt x="26" y="108"/>
                    </a:cubicBezTo>
                    <a:cubicBezTo>
                      <a:pt x="33" y="108"/>
                      <a:pt x="35" y="102"/>
                      <a:pt x="37" y="92"/>
                    </a:cubicBezTo>
                    <a:cubicBezTo>
                      <a:pt x="42" y="81"/>
                      <a:pt x="42" y="81"/>
                      <a:pt x="45" y="68"/>
                    </a:cubicBezTo>
                    <a:lnTo>
                      <a:pt x="58" y="15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393" name="Freeform 55"/>
              <p:cNvSpPr/>
              <p:nvPr/>
            </p:nvSpPr>
            <p:spPr>
              <a:xfrm>
                <a:off x="2545560" y="2904480"/>
                <a:ext cx="23400" cy="41400"/>
              </a:xfrm>
              <a:custGeom>
                <a:avLst/>
                <a:gdLst/>
                <a:ahLst/>
                <a:cxnLst/>
                <a:rect l="0" t="0" r="r" b="b"/>
                <a:pathLst>
                  <a:path w="65" h="115">
                    <a:moveTo>
                      <a:pt x="38" y="5"/>
                    </a:moveTo>
                    <a:cubicBezTo>
                      <a:pt x="38" y="0"/>
                      <a:pt x="38" y="0"/>
                      <a:pt x="34" y="0"/>
                    </a:cubicBezTo>
                    <a:cubicBezTo>
                      <a:pt x="23" y="11"/>
                      <a:pt x="7" y="11"/>
                      <a:pt x="0" y="11"/>
                    </a:cubicBezTo>
                    <a:lnTo>
                      <a:pt x="0" y="17"/>
                    </a:lnTo>
                    <a:cubicBezTo>
                      <a:pt x="4" y="17"/>
                      <a:pt x="16" y="17"/>
                      <a:pt x="25" y="12"/>
                    </a:cubicBezTo>
                    <a:lnTo>
                      <a:pt x="25" y="100"/>
                    </a:lnTo>
                    <a:cubicBezTo>
                      <a:pt x="25" y="105"/>
                      <a:pt x="25" y="108"/>
                      <a:pt x="8" y="108"/>
                    </a:cubicBezTo>
                    <a:lnTo>
                      <a:pt x="2" y="108"/>
                    </a:lnTo>
                    <a:lnTo>
                      <a:pt x="2" y="114"/>
                    </a:lnTo>
                    <a:cubicBezTo>
                      <a:pt x="5" y="114"/>
                      <a:pt x="26" y="112"/>
                      <a:pt x="32" y="112"/>
                    </a:cubicBezTo>
                    <a:cubicBezTo>
                      <a:pt x="37" y="112"/>
                      <a:pt x="59" y="114"/>
                      <a:pt x="64" y="114"/>
                    </a:cubicBezTo>
                    <a:lnTo>
                      <a:pt x="64" y="108"/>
                    </a:lnTo>
                    <a:lnTo>
                      <a:pt x="57" y="108"/>
                    </a:lnTo>
                    <a:cubicBezTo>
                      <a:pt x="38" y="108"/>
                      <a:pt x="38" y="105"/>
                      <a:pt x="38" y="100"/>
                    </a:cubicBezTo>
                    <a:lnTo>
                      <a:pt x="38" y="5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394" name="Freeform 56"/>
              <p:cNvSpPr/>
              <p:nvPr/>
            </p:nvSpPr>
            <p:spPr>
              <a:xfrm>
                <a:off x="2539800" y="2959920"/>
                <a:ext cx="39240" cy="45000"/>
              </a:xfrm>
              <a:custGeom>
                <a:avLst/>
                <a:gdLst/>
                <a:ahLst/>
                <a:cxnLst/>
                <a:rect l="0" t="0" r="r" b="b"/>
                <a:pathLst>
                  <a:path w="109" h="125">
                    <a:moveTo>
                      <a:pt x="108" y="2"/>
                    </a:moveTo>
                    <a:cubicBezTo>
                      <a:pt x="108" y="2"/>
                      <a:pt x="108" y="0"/>
                      <a:pt x="107" y="0"/>
                    </a:cubicBezTo>
                    <a:cubicBezTo>
                      <a:pt x="105" y="0"/>
                      <a:pt x="105" y="0"/>
                      <a:pt x="103" y="2"/>
                    </a:cubicBezTo>
                    <a:lnTo>
                      <a:pt x="95" y="12"/>
                    </a:lnTo>
                    <a:cubicBezTo>
                      <a:pt x="88" y="4"/>
                      <a:pt x="77" y="0"/>
                      <a:pt x="67" y="0"/>
                    </a:cubicBezTo>
                    <a:cubicBezTo>
                      <a:pt x="42" y="0"/>
                      <a:pt x="22" y="20"/>
                      <a:pt x="22" y="40"/>
                    </a:cubicBezTo>
                    <a:cubicBezTo>
                      <a:pt x="22" y="42"/>
                      <a:pt x="23" y="49"/>
                      <a:pt x="27" y="55"/>
                    </a:cubicBezTo>
                    <a:cubicBezTo>
                      <a:pt x="33" y="62"/>
                      <a:pt x="40" y="64"/>
                      <a:pt x="50" y="66"/>
                    </a:cubicBezTo>
                    <a:cubicBezTo>
                      <a:pt x="55" y="67"/>
                      <a:pt x="64" y="68"/>
                      <a:pt x="65" y="69"/>
                    </a:cubicBezTo>
                    <a:cubicBezTo>
                      <a:pt x="71" y="71"/>
                      <a:pt x="81" y="75"/>
                      <a:pt x="81" y="88"/>
                    </a:cubicBezTo>
                    <a:cubicBezTo>
                      <a:pt x="81" y="102"/>
                      <a:pt x="67" y="118"/>
                      <a:pt x="46" y="118"/>
                    </a:cubicBezTo>
                    <a:cubicBezTo>
                      <a:pt x="33" y="118"/>
                      <a:pt x="14" y="112"/>
                      <a:pt x="14" y="93"/>
                    </a:cubicBezTo>
                    <a:cubicBezTo>
                      <a:pt x="14" y="91"/>
                      <a:pt x="15" y="88"/>
                      <a:pt x="16" y="85"/>
                    </a:cubicBezTo>
                    <a:lnTo>
                      <a:pt x="16" y="84"/>
                    </a:lnTo>
                    <a:cubicBezTo>
                      <a:pt x="16" y="81"/>
                      <a:pt x="13" y="81"/>
                      <a:pt x="13" y="81"/>
                    </a:cubicBezTo>
                    <a:cubicBezTo>
                      <a:pt x="10" y="81"/>
                      <a:pt x="10" y="82"/>
                      <a:pt x="9" y="85"/>
                    </a:cubicBezTo>
                    <a:lnTo>
                      <a:pt x="1" y="119"/>
                    </a:lnTo>
                    <a:cubicBezTo>
                      <a:pt x="1" y="119"/>
                      <a:pt x="0" y="120"/>
                      <a:pt x="0" y="122"/>
                    </a:cubicBezTo>
                    <a:cubicBezTo>
                      <a:pt x="0" y="123"/>
                      <a:pt x="1" y="124"/>
                      <a:pt x="2" y="124"/>
                    </a:cubicBezTo>
                    <a:cubicBezTo>
                      <a:pt x="4" y="124"/>
                      <a:pt x="4" y="124"/>
                      <a:pt x="5" y="121"/>
                    </a:cubicBezTo>
                    <a:cubicBezTo>
                      <a:pt x="8" y="119"/>
                      <a:pt x="12" y="114"/>
                      <a:pt x="14" y="112"/>
                    </a:cubicBezTo>
                    <a:cubicBezTo>
                      <a:pt x="24" y="122"/>
                      <a:pt x="36" y="124"/>
                      <a:pt x="46" y="124"/>
                    </a:cubicBezTo>
                    <a:cubicBezTo>
                      <a:pt x="73" y="124"/>
                      <a:pt x="94" y="102"/>
                      <a:pt x="94" y="81"/>
                    </a:cubicBezTo>
                    <a:cubicBezTo>
                      <a:pt x="94" y="74"/>
                      <a:pt x="90" y="67"/>
                      <a:pt x="87" y="64"/>
                    </a:cubicBezTo>
                    <a:cubicBezTo>
                      <a:pt x="81" y="57"/>
                      <a:pt x="78" y="57"/>
                      <a:pt x="57" y="50"/>
                    </a:cubicBezTo>
                    <a:cubicBezTo>
                      <a:pt x="53" y="50"/>
                      <a:pt x="46" y="49"/>
                      <a:pt x="46" y="48"/>
                    </a:cubicBezTo>
                    <a:cubicBezTo>
                      <a:pt x="42" y="46"/>
                      <a:pt x="34" y="42"/>
                      <a:pt x="34" y="33"/>
                    </a:cubicBezTo>
                    <a:cubicBezTo>
                      <a:pt x="34" y="20"/>
                      <a:pt x="49" y="5"/>
                      <a:pt x="67" y="5"/>
                    </a:cubicBezTo>
                    <a:cubicBezTo>
                      <a:pt x="86" y="5"/>
                      <a:pt x="94" y="16"/>
                      <a:pt x="94" y="33"/>
                    </a:cubicBezTo>
                    <a:cubicBezTo>
                      <a:pt x="94" y="35"/>
                      <a:pt x="94" y="38"/>
                      <a:pt x="94" y="40"/>
                    </a:cubicBezTo>
                    <a:cubicBezTo>
                      <a:pt x="94" y="42"/>
                      <a:pt x="96" y="42"/>
                      <a:pt x="97" y="42"/>
                    </a:cubicBezTo>
                    <a:cubicBezTo>
                      <a:pt x="99" y="42"/>
                      <a:pt x="99" y="42"/>
                      <a:pt x="100" y="38"/>
                    </a:cubicBezTo>
                    <a:lnTo>
                      <a:pt x="108" y="2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395" name="Freeform 57"/>
              <p:cNvSpPr/>
              <p:nvPr/>
            </p:nvSpPr>
            <p:spPr>
              <a:xfrm>
                <a:off x="2586600" y="2959920"/>
                <a:ext cx="39240" cy="45000"/>
              </a:xfrm>
              <a:custGeom>
                <a:avLst/>
                <a:gdLst/>
                <a:ahLst/>
                <a:cxnLst/>
                <a:rect l="0" t="0" r="r" b="b"/>
                <a:pathLst>
                  <a:path w="109" h="125">
                    <a:moveTo>
                      <a:pt x="108" y="2"/>
                    </a:moveTo>
                    <a:cubicBezTo>
                      <a:pt x="108" y="2"/>
                      <a:pt x="108" y="0"/>
                      <a:pt x="107" y="0"/>
                    </a:cubicBezTo>
                    <a:cubicBezTo>
                      <a:pt x="105" y="0"/>
                      <a:pt x="105" y="0"/>
                      <a:pt x="103" y="2"/>
                    </a:cubicBezTo>
                    <a:lnTo>
                      <a:pt x="95" y="12"/>
                    </a:lnTo>
                    <a:cubicBezTo>
                      <a:pt x="88" y="4"/>
                      <a:pt x="77" y="0"/>
                      <a:pt x="67" y="0"/>
                    </a:cubicBezTo>
                    <a:cubicBezTo>
                      <a:pt x="42" y="0"/>
                      <a:pt x="22" y="20"/>
                      <a:pt x="22" y="40"/>
                    </a:cubicBezTo>
                    <a:cubicBezTo>
                      <a:pt x="22" y="42"/>
                      <a:pt x="23" y="49"/>
                      <a:pt x="27" y="55"/>
                    </a:cubicBezTo>
                    <a:cubicBezTo>
                      <a:pt x="33" y="62"/>
                      <a:pt x="40" y="64"/>
                      <a:pt x="50" y="66"/>
                    </a:cubicBezTo>
                    <a:cubicBezTo>
                      <a:pt x="55" y="67"/>
                      <a:pt x="64" y="68"/>
                      <a:pt x="65" y="69"/>
                    </a:cubicBezTo>
                    <a:cubicBezTo>
                      <a:pt x="71" y="71"/>
                      <a:pt x="81" y="75"/>
                      <a:pt x="81" y="88"/>
                    </a:cubicBezTo>
                    <a:cubicBezTo>
                      <a:pt x="81" y="102"/>
                      <a:pt x="67" y="118"/>
                      <a:pt x="46" y="118"/>
                    </a:cubicBezTo>
                    <a:cubicBezTo>
                      <a:pt x="33" y="118"/>
                      <a:pt x="14" y="112"/>
                      <a:pt x="14" y="93"/>
                    </a:cubicBezTo>
                    <a:cubicBezTo>
                      <a:pt x="14" y="91"/>
                      <a:pt x="15" y="88"/>
                      <a:pt x="16" y="85"/>
                    </a:cubicBezTo>
                    <a:lnTo>
                      <a:pt x="16" y="84"/>
                    </a:lnTo>
                    <a:cubicBezTo>
                      <a:pt x="16" y="81"/>
                      <a:pt x="13" y="81"/>
                      <a:pt x="13" y="81"/>
                    </a:cubicBezTo>
                    <a:cubicBezTo>
                      <a:pt x="10" y="81"/>
                      <a:pt x="10" y="82"/>
                      <a:pt x="9" y="85"/>
                    </a:cubicBezTo>
                    <a:lnTo>
                      <a:pt x="1" y="119"/>
                    </a:lnTo>
                    <a:cubicBezTo>
                      <a:pt x="1" y="119"/>
                      <a:pt x="0" y="120"/>
                      <a:pt x="0" y="122"/>
                    </a:cubicBezTo>
                    <a:cubicBezTo>
                      <a:pt x="0" y="123"/>
                      <a:pt x="1" y="124"/>
                      <a:pt x="2" y="124"/>
                    </a:cubicBezTo>
                    <a:cubicBezTo>
                      <a:pt x="4" y="124"/>
                      <a:pt x="4" y="124"/>
                      <a:pt x="5" y="121"/>
                    </a:cubicBezTo>
                    <a:cubicBezTo>
                      <a:pt x="8" y="119"/>
                      <a:pt x="12" y="114"/>
                      <a:pt x="14" y="112"/>
                    </a:cubicBezTo>
                    <a:cubicBezTo>
                      <a:pt x="24" y="122"/>
                      <a:pt x="36" y="124"/>
                      <a:pt x="46" y="124"/>
                    </a:cubicBezTo>
                    <a:cubicBezTo>
                      <a:pt x="73" y="124"/>
                      <a:pt x="94" y="102"/>
                      <a:pt x="94" y="81"/>
                    </a:cubicBezTo>
                    <a:cubicBezTo>
                      <a:pt x="94" y="74"/>
                      <a:pt x="90" y="67"/>
                      <a:pt x="87" y="64"/>
                    </a:cubicBezTo>
                    <a:cubicBezTo>
                      <a:pt x="81" y="57"/>
                      <a:pt x="78" y="57"/>
                      <a:pt x="57" y="50"/>
                    </a:cubicBezTo>
                    <a:cubicBezTo>
                      <a:pt x="53" y="50"/>
                      <a:pt x="46" y="49"/>
                      <a:pt x="46" y="48"/>
                    </a:cubicBezTo>
                    <a:cubicBezTo>
                      <a:pt x="42" y="46"/>
                      <a:pt x="34" y="42"/>
                      <a:pt x="34" y="33"/>
                    </a:cubicBezTo>
                    <a:cubicBezTo>
                      <a:pt x="34" y="20"/>
                      <a:pt x="49" y="5"/>
                      <a:pt x="67" y="5"/>
                    </a:cubicBezTo>
                    <a:cubicBezTo>
                      <a:pt x="86" y="5"/>
                      <a:pt x="94" y="16"/>
                      <a:pt x="94" y="33"/>
                    </a:cubicBezTo>
                    <a:cubicBezTo>
                      <a:pt x="94" y="35"/>
                      <a:pt x="94" y="38"/>
                      <a:pt x="94" y="40"/>
                    </a:cubicBezTo>
                    <a:cubicBezTo>
                      <a:pt x="94" y="42"/>
                      <a:pt x="96" y="42"/>
                      <a:pt x="97" y="42"/>
                    </a:cubicBezTo>
                    <a:cubicBezTo>
                      <a:pt x="99" y="42"/>
                      <a:pt x="99" y="42"/>
                      <a:pt x="100" y="38"/>
                    </a:cubicBezTo>
                    <a:lnTo>
                      <a:pt x="108" y="2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</p:grpSp>
        <p:grpSp>
          <p:nvGrpSpPr>
            <p:cNvPr id="396" name="Group 58"/>
            <p:cNvGrpSpPr/>
            <p:nvPr/>
          </p:nvGrpSpPr>
          <p:grpSpPr>
            <a:xfrm>
              <a:off x="2487960" y="3358440"/>
              <a:ext cx="167040" cy="98640"/>
              <a:chOff x="2487960" y="3358440"/>
              <a:chExt cx="167040" cy="98640"/>
            </a:xfrm>
          </p:grpSpPr>
          <p:sp>
            <p:nvSpPr>
              <p:cNvPr id="397" name="Freeform 59"/>
              <p:cNvSpPr/>
              <p:nvPr/>
            </p:nvSpPr>
            <p:spPr>
              <a:xfrm>
                <a:off x="2487960" y="3396960"/>
                <a:ext cx="47880" cy="39240"/>
              </a:xfrm>
              <a:custGeom>
                <a:avLst/>
                <a:gdLst/>
                <a:ahLst/>
                <a:cxnLst/>
                <a:rect l="0" t="0" r="r" b="b"/>
                <a:pathLst>
                  <a:path w="133" h="109">
                    <a:moveTo>
                      <a:pt x="58" y="15"/>
                    </a:moveTo>
                    <a:lnTo>
                      <a:pt x="86" y="15"/>
                    </a:lnTo>
                    <a:cubicBezTo>
                      <a:pt x="77" y="50"/>
                      <a:pt x="75" y="60"/>
                      <a:pt x="75" y="77"/>
                    </a:cubicBezTo>
                    <a:cubicBezTo>
                      <a:pt x="75" y="81"/>
                      <a:pt x="75" y="88"/>
                      <a:pt x="77" y="96"/>
                    </a:cubicBezTo>
                    <a:cubicBezTo>
                      <a:pt x="80" y="108"/>
                      <a:pt x="82" y="108"/>
                      <a:pt x="87" y="108"/>
                    </a:cubicBezTo>
                    <a:cubicBezTo>
                      <a:pt x="91" y="108"/>
                      <a:pt x="97" y="104"/>
                      <a:pt x="97" y="98"/>
                    </a:cubicBezTo>
                    <a:cubicBezTo>
                      <a:pt x="97" y="97"/>
                      <a:pt x="97" y="97"/>
                      <a:pt x="95" y="94"/>
                    </a:cubicBezTo>
                    <a:cubicBezTo>
                      <a:pt x="88" y="76"/>
                      <a:pt x="88" y="60"/>
                      <a:pt x="88" y="53"/>
                    </a:cubicBezTo>
                    <a:cubicBezTo>
                      <a:pt x="88" y="40"/>
                      <a:pt x="89" y="27"/>
                      <a:pt x="92" y="15"/>
                    </a:cubicBezTo>
                    <a:lnTo>
                      <a:pt x="120" y="15"/>
                    </a:lnTo>
                    <a:cubicBezTo>
                      <a:pt x="123" y="15"/>
                      <a:pt x="132" y="15"/>
                      <a:pt x="132" y="5"/>
                    </a:cubicBezTo>
                    <a:cubicBezTo>
                      <a:pt x="132" y="0"/>
                      <a:pt x="127" y="0"/>
                      <a:pt x="123" y="0"/>
                    </a:cubicBezTo>
                    <a:lnTo>
                      <a:pt x="41" y="0"/>
                    </a:lnTo>
                    <a:cubicBezTo>
                      <a:pt x="35" y="0"/>
                      <a:pt x="26" y="0"/>
                      <a:pt x="16" y="12"/>
                    </a:cubicBezTo>
                    <a:cubicBezTo>
                      <a:pt x="5" y="21"/>
                      <a:pt x="0" y="33"/>
                      <a:pt x="0" y="33"/>
                    </a:cubicBezTo>
                    <a:cubicBezTo>
                      <a:pt x="0" y="34"/>
                      <a:pt x="0" y="36"/>
                      <a:pt x="3" y="36"/>
                    </a:cubicBezTo>
                    <a:cubicBezTo>
                      <a:pt x="5" y="36"/>
                      <a:pt x="5" y="35"/>
                      <a:pt x="6" y="33"/>
                    </a:cubicBezTo>
                    <a:cubicBezTo>
                      <a:pt x="20" y="15"/>
                      <a:pt x="33" y="15"/>
                      <a:pt x="37" y="15"/>
                    </a:cubicBezTo>
                    <a:lnTo>
                      <a:pt x="52" y="15"/>
                    </a:lnTo>
                    <a:cubicBezTo>
                      <a:pt x="43" y="43"/>
                      <a:pt x="31" y="73"/>
                      <a:pt x="20" y="96"/>
                    </a:cubicBezTo>
                    <a:cubicBezTo>
                      <a:pt x="20" y="98"/>
                      <a:pt x="20" y="99"/>
                      <a:pt x="20" y="102"/>
                    </a:cubicBezTo>
                    <a:cubicBezTo>
                      <a:pt x="20" y="107"/>
                      <a:pt x="23" y="108"/>
                      <a:pt x="26" y="108"/>
                    </a:cubicBezTo>
                    <a:cubicBezTo>
                      <a:pt x="33" y="108"/>
                      <a:pt x="35" y="102"/>
                      <a:pt x="37" y="92"/>
                    </a:cubicBezTo>
                    <a:cubicBezTo>
                      <a:pt x="42" y="81"/>
                      <a:pt x="42" y="81"/>
                      <a:pt x="45" y="68"/>
                    </a:cubicBezTo>
                    <a:lnTo>
                      <a:pt x="58" y="15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398" name="Freeform 60"/>
              <p:cNvSpPr/>
              <p:nvPr/>
            </p:nvSpPr>
            <p:spPr>
              <a:xfrm>
                <a:off x="2545560" y="3358440"/>
                <a:ext cx="23040" cy="41040"/>
              </a:xfrm>
              <a:custGeom>
                <a:avLst/>
                <a:gdLst/>
                <a:ahLst/>
                <a:cxnLst/>
                <a:rect l="0" t="0" r="r" b="b"/>
                <a:pathLst>
                  <a:path w="64" h="114">
                    <a:moveTo>
                      <a:pt x="38" y="5"/>
                    </a:moveTo>
                    <a:cubicBezTo>
                      <a:pt x="38" y="0"/>
                      <a:pt x="38" y="0"/>
                      <a:pt x="34" y="0"/>
                    </a:cubicBezTo>
                    <a:cubicBezTo>
                      <a:pt x="23" y="11"/>
                      <a:pt x="7" y="11"/>
                      <a:pt x="0" y="11"/>
                    </a:cubicBezTo>
                    <a:lnTo>
                      <a:pt x="0" y="17"/>
                    </a:lnTo>
                    <a:cubicBezTo>
                      <a:pt x="4" y="17"/>
                      <a:pt x="16" y="17"/>
                      <a:pt x="25" y="12"/>
                    </a:cubicBezTo>
                    <a:lnTo>
                      <a:pt x="25" y="99"/>
                    </a:lnTo>
                    <a:cubicBezTo>
                      <a:pt x="25" y="105"/>
                      <a:pt x="25" y="108"/>
                      <a:pt x="8" y="108"/>
                    </a:cubicBezTo>
                    <a:lnTo>
                      <a:pt x="2" y="108"/>
                    </a:lnTo>
                    <a:lnTo>
                      <a:pt x="2" y="113"/>
                    </a:lnTo>
                    <a:cubicBezTo>
                      <a:pt x="5" y="113"/>
                      <a:pt x="26" y="112"/>
                      <a:pt x="32" y="112"/>
                    </a:cubicBezTo>
                    <a:cubicBezTo>
                      <a:pt x="37" y="112"/>
                      <a:pt x="59" y="113"/>
                      <a:pt x="63" y="113"/>
                    </a:cubicBezTo>
                    <a:lnTo>
                      <a:pt x="63" y="108"/>
                    </a:lnTo>
                    <a:lnTo>
                      <a:pt x="57" y="108"/>
                    </a:lnTo>
                    <a:cubicBezTo>
                      <a:pt x="38" y="108"/>
                      <a:pt x="38" y="105"/>
                      <a:pt x="38" y="99"/>
                    </a:cubicBezTo>
                    <a:lnTo>
                      <a:pt x="38" y="5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399" name="Freeform 61"/>
              <p:cNvSpPr/>
              <p:nvPr/>
            </p:nvSpPr>
            <p:spPr>
              <a:xfrm>
                <a:off x="2538360" y="3414960"/>
                <a:ext cx="54720" cy="42480"/>
              </a:xfrm>
              <a:custGeom>
                <a:avLst/>
                <a:gdLst/>
                <a:ahLst/>
                <a:cxnLst/>
                <a:rect l="0" t="0" r="r" b="b"/>
                <a:pathLst>
                  <a:path w="152" h="118">
                    <a:moveTo>
                      <a:pt x="87" y="51"/>
                    </a:moveTo>
                    <a:lnTo>
                      <a:pt x="103" y="36"/>
                    </a:lnTo>
                    <a:cubicBezTo>
                      <a:pt x="125" y="14"/>
                      <a:pt x="131" y="7"/>
                      <a:pt x="147" y="5"/>
                    </a:cubicBezTo>
                    <a:cubicBezTo>
                      <a:pt x="149" y="5"/>
                      <a:pt x="151" y="5"/>
                      <a:pt x="151" y="3"/>
                    </a:cubicBezTo>
                    <a:cubicBezTo>
                      <a:pt x="151" y="1"/>
                      <a:pt x="149" y="0"/>
                      <a:pt x="149" y="0"/>
                    </a:cubicBezTo>
                    <a:cubicBezTo>
                      <a:pt x="143" y="0"/>
                      <a:pt x="138" y="1"/>
                      <a:pt x="133" y="1"/>
                    </a:cubicBezTo>
                    <a:cubicBezTo>
                      <a:pt x="129" y="1"/>
                      <a:pt x="117" y="0"/>
                      <a:pt x="112" y="0"/>
                    </a:cubicBezTo>
                    <a:cubicBezTo>
                      <a:pt x="112" y="0"/>
                      <a:pt x="108" y="1"/>
                      <a:pt x="108" y="4"/>
                    </a:cubicBezTo>
                    <a:cubicBezTo>
                      <a:pt x="108" y="4"/>
                      <a:pt x="108" y="5"/>
                      <a:pt x="112" y="5"/>
                    </a:cubicBezTo>
                    <a:cubicBezTo>
                      <a:pt x="113" y="5"/>
                      <a:pt x="118" y="6"/>
                      <a:pt x="118" y="11"/>
                    </a:cubicBezTo>
                    <a:cubicBezTo>
                      <a:pt x="118" y="13"/>
                      <a:pt x="116" y="16"/>
                      <a:pt x="113" y="18"/>
                    </a:cubicBezTo>
                    <a:cubicBezTo>
                      <a:pt x="112" y="20"/>
                      <a:pt x="90" y="40"/>
                      <a:pt x="85" y="46"/>
                    </a:cubicBezTo>
                    <a:lnTo>
                      <a:pt x="67" y="13"/>
                    </a:lnTo>
                    <a:cubicBezTo>
                      <a:pt x="67" y="12"/>
                      <a:pt x="66" y="11"/>
                      <a:pt x="66" y="11"/>
                    </a:cubicBezTo>
                    <a:cubicBezTo>
                      <a:pt x="66" y="9"/>
                      <a:pt x="69" y="6"/>
                      <a:pt x="75" y="5"/>
                    </a:cubicBezTo>
                    <a:cubicBezTo>
                      <a:pt x="76" y="5"/>
                      <a:pt x="79" y="5"/>
                      <a:pt x="79" y="2"/>
                    </a:cubicBezTo>
                    <a:cubicBezTo>
                      <a:pt x="79" y="2"/>
                      <a:pt x="78" y="0"/>
                      <a:pt x="75" y="0"/>
                    </a:cubicBezTo>
                    <a:cubicBezTo>
                      <a:pt x="72" y="0"/>
                      <a:pt x="68" y="1"/>
                      <a:pt x="64" y="1"/>
                    </a:cubicBezTo>
                    <a:cubicBezTo>
                      <a:pt x="60" y="1"/>
                      <a:pt x="57" y="1"/>
                      <a:pt x="53" y="1"/>
                    </a:cubicBezTo>
                    <a:cubicBezTo>
                      <a:pt x="50" y="1"/>
                      <a:pt x="46" y="1"/>
                      <a:pt x="42" y="1"/>
                    </a:cubicBezTo>
                    <a:cubicBezTo>
                      <a:pt x="40" y="1"/>
                      <a:pt x="36" y="0"/>
                      <a:pt x="34" y="0"/>
                    </a:cubicBezTo>
                    <a:cubicBezTo>
                      <a:pt x="33" y="0"/>
                      <a:pt x="29" y="0"/>
                      <a:pt x="29" y="4"/>
                    </a:cubicBezTo>
                    <a:cubicBezTo>
                      <a:pt x="29" y="5"/>
                      <a:pt x="33" y="5"/>
                      <a:pt x="35" y="5"/>
                    </a:cubicBezTo>
                    <a:cubicBezTo>
                      <a:pt x="46" y="5"/>
                      <a:pt x="46" y="8"/>
                      <a:pt x="47" y="11"/>
                    </a:cubicBezTo>
                    <a:lnTo>
                      <a:pt x="71" y="59"/>
                    </a:lnTo>
                    <a:lnTo>
                      <a:pt x="62" y="68"/>
                    </a:lnTo>
                    <a:cubicBezTo>
                      <a:pt x="59" y="71"/>
                      <a:pt x="50" y="79"/>
                      <a:pt x="47" y="82"/>
                    </a:cubicBezTo>
                    <a:cubicBezTo>
                      <a:pt x="27" y="103"/>
                      <a:pt x="20" y="111"/>
                      <a:pt x="5" y="112"/>
                    </a:cubicBezTo>
                    <a:cubicBezTo>
                      <a:pt x="2" y="112"/>
                      <a:pt x="0" y="112"/>
                      <a:pt x="0" y="115"/>
                    </a:cubicBezTo>
                    <a:cubicBezTo>
                      <a:pt x="0" y="116"/>
                      <a:pt x="1" y="117"/>
                      <a:pt x="2" y="117"/>
                    </a:cubicBezTo>
                    <a:cubicBezTo>
                      <a:pt x="7" y="117"/>
                      <a:pt x="13" y="116"/>
                      <a:pt x="19" y="116"/>
                    </a:cubicBezTo>
                    <a:cubicBezTo>
                      <a:pt x="21" y="116"/>
                      <a:pt x="26" y="116"/>
                      <a:pt x="28" y="116"/>
                    </a:cubicBezTo>
                    <a:cubicBezTo>
                      <a:pt x="32" y="116"/>
                      <a:pt x="36" y="117"/>
                      <a:pt x="38" y="117"/>
                    </a:cubicBezTo>
                    <a:cubicBezTo>
                      <a:pt x="38" y="117"/>
                      <a:pt x="42" y="117"/>
                      <a:pt x="42" y="113"/>
                    </a:cubicBezTo>
                    <a:cubicBezTo>
                      <a:pt x="42" y="112"/>
                      <a:pt x="40" y="112"/>
                      <a:pt x="38" y="112"/>
                    </a:cubicBezTo>
                    <a:cubicBezTo>
                      <a:pt x="37" y="112"/>
                      <a:pt x="33" y="111"/>
                      <a:pt x="33" y="107"/>
                    </a:cubicBezTo>
                    <a:cubicBezTo>
                      <a:pt x="33" y="104"/>
                      <a:pt x="36" y="102"/>
                      <a:pt x="39" y="97"/>
                    </a:cubicBezTo>
                    <a:lnTo>
                      <a:pt x="74" y="64"/>
                    </a:lnTo>
                    <a:lnTo>
                      <a:pt x="95" y="104"/>
                    </a:lnTo>
                    <a:cubicBezTo>
                      <a:pt x="96" y="106"/>
                      <a:pt x="96" y="107"/>
                      <a:pt x="96" y="107"/>
                    </a:cubicBezTo>
                    <a:cubicBezTo>
                      <a:pt x="96" y="108"/>
                      <a:pt x="93" y="111"/>
                      <a:pt x="87" y="112"/>
                    </a:cubicBezTo>
                    <a:cubicBezTo>
                      <a:pt x="86" y="112"/>
                      <a:pt x="83" y="112"/>
                      <a:pt x="83" y="115"/>
                    </a:cubicBezTo>
                    <a:cubicBezTo>
                      <a:pt x="83" y="115"/>
                      <a:pt x="83" y="117"/>
                      <a:pt x="86" y="117"/>
                    </a:cubicBezTo>
                    <a:cubicBezTo>
                      <a:pt x="89" y="117"/>
                      <a:pt x="94" y="116"/>
                      <a:pt x="97" y="116"/>
                    </a:cubicBezTo>
                    <a:cubicBezTo>
                      <a:pt x="101" y="116"/>
                      <a:pt x="105" y="116"/>
                      <a:pt x="108" y="116"/>
                    </a:cubicBezTo>
                    <a:cubicBezTo>
                      <a:pt x="112" y="116"/>
                      <a:pt x="116" y="116"/>
                      <a:pt x="119" y="116"/>
                    </a:cubicBezTo>
                    <a:cubicBezTo>
                      <a:pt x="121" y="116"/>
                      <a:pt x="126" y="117"/>
                      <a:pt x="129" y="117"/>
                    </a:cubicBezTo>
                    <a:cubicBezTo>
                      <a:pt x="129" y="117"/>
                      <a:pt x="131" y="117"/>
                      <a:pt x="131" y="112"/>
                    </a:cubicBezTo>
                    <a:cubicBezTo>
                      <a:pt x="131" y="112"/>
                      <a:pt x="129" y="112"/>
                      <a:pt x="126" y="112"/>
                    </a:cubicBezTo>
                    <a:cubicBezTo>
                      <a:pt x="116" y="112"/>
                      <a:pt x="116" y="108"/>
                      <a:pt x="115" y="106"/>
                    </a:cubicBezTo>
                    <a:lnTo>
                      <a:pt x="87" y="51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400" name="Freeform 62"/>
              <p:cNvSpPr/>
              <p:nvPr/>
            </p:nvSpPr>
            <p:spPr>
              <a:xfrm>
                <a:off x="2600640" y="3414960"/>
                <a:ext cx="54720" cy="42480"/>
              </a:xfrm>
              <a:custGeom>
                <a:avLst/>
                <a:gdLst/>
                <a:ahLst/>
                <a:cxnLst/>
                <a:rect l="0" t="0" r="r" b="b"/>
                <a:pathLst>
                  <a:path w="152" h="118">
                    <a:moveTo>
                      <a:pt x="87" y="51"/>
                    </a:moveTo>
                    <a:lnTo>
                      <a:pt x="103" y="36"/>
                    </a:lnTo>
                    <a:cubicBezTo>
                      <a:pt x="125" y="14"/>
                      <a:pt x="131" y="7"/>
                      <a:pt x="147" y="5"/>
                    </a:cubicBezTo>
                    <a:cubicBezTo>
                      <a:pt x="149" y="5"/>
                      <a:pt x="151" y="5"/>
                      <a:pt x="151" y="3"/>
                    </a:cubicBezTo>
                    <a:cubicBezTo>
                      <a:pt x="151" y="1"/>
                      <a:pt x="149" y="0"/>
                      <a:pt x="149" y="0"/>
                    </a:cubicBezTo>
                    <a:cubicBezTo>
                      <a:pt x="143" y="0"/>
                      <a:pt x="138" y="1"/>
                      <a:pt x="133" y="1"/>
                    </a:cubicBezTo>
                    <a:cubicBezTo>
                      <a:pt x="129" y="1"/>
                      <a:pt x="117" y="0"/>
                      <a:pt x="112" y="0"/>
                    </a:cubicBezTo>
                    <a:cubicBezTo>
                      <a:pt x="112" y="0"/>
                      <a:pt x="108" y="1"/>
                      <a:pt x="108" y="4"/>
                    </a:cubicBezTo>
                    <a:cubicBezTo>
                      <a:pt x="108" y="4"/>
                      <a:pt x="108" y="5"/>
                      <a:pt x="112" y="5"/>
                    </a:cubicBezTo>
                    <a:cubicBezTo>
                      <a:pt x="113" y="5"/>
                      <a:pt x="118" y="6"/>
                      <a:pt x="118" y="11"/>
                    </a:cubicBezTo>
                    <a:cubicBezTo>
                      <a:pt x="118" y="13"/>
                      <a:pt x="116" y="16"/>
                      <a:pt x="113" y="18"/>
                    </a:cubicBezTo>
                    <a:cubicBezTo>
                      <a:pt x="112" y="20"/>
                      <a:pt x="90" y="40"/>
                      <a:pt x="85" y="46"/>
                    </a:cubicBezTo>
                    <a:lnTo>
                      <a:pt x="67" y="13"/>
                    </a:lnTo>
                    <a:cubicBezTo>
                      <a:pt x="67" y="12"/>
                      <a:pt x="66" y="11"/>
                      <a:pt x="66" y="11"/>
                    </a:cubicBezTo>
                    <a:cubicBezTo>
                      <a:pt x="66" y="9"/>
                      <a:pt x="69" y="6"/>
                      <a:pt x="75" y="5"/>
                    </a:cubicBezTo>
                    <a:cubicBezTo>
                      <a:pt x="76" y="5"/>
                      <a:pt x="79" y="5"/>
                      <a:pt x="79" y="2"/>
                    </a:cubicBezTo>
                    <a:cubicBezTo>
                      <a:pt x="79" y="2"/>
                      <a:pt x="78" y="0"/>
                      <a:pt x="75" y="0"/>
                    </a:cubicBezTo>
                    <a:cubicBezTo>
                      <a:pt x="72" y="0"/>
                      <a:pt x="68" y="1"/>
                      <a:pt x="64" y="1"/>
                    </a:cubicBezTo>
                    <a:cubicBezTo>
                      <a:pt x="60" y="1"/>
                      <a:pt x="57" y="1"/>
                      <a:pt x="53" y="1"/>
                    </a:cubicBezTo>
                    <a:cubicBezTo>
                      <a:pt x="50" y="1"/>
                      <a:pt x="46" y="1"/>
                      <a:pt x="42" y="1"/>
                    </a:cubicBezTo>
                    <a:cubicBezTo>
                      <a:pt x="40" y="1"/>
                      <a:pt x="36" y="0"/>
                      <a:pt x="34" y="0"/>
                    </a:cubicBezTo>
                    <a:cubicBezTo>
                      <a:pt x="33" y="0"/>
                      <a:pt x="29" y="0"/>
                      <a:pt x="29" y="4"/>
                    </a:cubicBezTo>
                    <a:cubicBezTo>
                      <a:pt x="29" y="5"/>
                      <a:pt x="33" y="5"/>
                      <a:pt x="35" y="5"/>
                    </a:cubicBezTo>
                    <a:cubicBezTo>
                      <a:pt x="46" y="5"/>
                      <a:pt x="46" y="8"/>
                      <a:pt x="47" y="11"/>
                    </a:cubicBezTo>
                    <a:lnTo>
                      <a:pt x="71" y="59"/>
                    </a:lnTo>
                    <a:lnTo>
                      <a:pt x="62" y="68"/>
                    </a:lnTo>
                    <a:cubicBezTo>
                      <a:pt x="59" y="71"/>
                      <a:pt x="50" y="79"/>
                      <a:pt x="47" y="82"/>
                    </a:cubicBezTo>
                    <a:cubicBezTo>
                      <a:pt x="27" y="103"/>
                      <a:pt x="20" y="111"/>
                      <a:pt x="5" y="112"/>
                    </a:cubicBezTo>
                    <a:cubicBezTo>
                      <a:pt x="2" y="112"/>
                      <a:pt x="0" y="112"/>
                      <a:pt x="0" y="115"/>
                    </a:cubicBezTo>
                    <a:cubicBezTo>
                      <a:pt x="0" y="116"/>
                      <a:pt x="1" y="117"/>
                      <a:pt x="2" y="117"/>
                    </a:cubicBezTo>
                    <a:cubicBezTo>
                      <a:pt x="7" y="117"/>
                      <a:pt x="13" y="116"/>
                      <a:pt x="19" y="116"/>
                    </a:cubicBezTo>
                    <a:cubicBezTo>
                      <a:pt x="21" y="116"/>
                      <a:pt x="26" y="116"/>
                      <a:pt x="28" y="116"/>
                    </a:cubicBezTo>
                    <a:cubicBezTo>
                      <a:pt x="32" y="116"/>
                      <a:pt x="36" y="117"/>
                      <a:pt x="38" y="117"/>
                    </a:cubicBezTo>
                    <a:cubicBezTo>
                      <a:pt x="38" y="117"/>
                      <a:pt x="42" y="117"/>
                      <a:pt x="42" y="113"/>
                    </a:cubicBezTo>
                    <a:cubicBezTo>
                      <a:pt x="42" y="112"/>
                      <a:pt x="40" y="112"/>
                      <a:pt x="38" y="112"/>
                    </a:cubicBezTo>
                    <a:cubicBezTo>
                      <a:pt x="37" y="112"/>
                      <a:pt x="33" y="111"/>
                      <a:pt x="33" y="107"/>
                    </a:cubicBezTo>
                    <a:cubicBezTo>
                      <a:pt x="33" y="104"/>
                      <a:pt x="36" y="102"/>
                      <a:pt x="39" y="97"/>
                    </a:cubicBezTo>
                    <a:lnTo>
                      <a:pt x="74" y="64"/>
                    </a:lnTo>
                    <a:lnTo>
                      <a:pt x="95" y="104"/>
                    </a:lnTo>
                    <a:cubicBezTo>
                      <a:pt x="96" y="106"/>
                      <a:pt x="96" y="107"/>
                      <a:pt x="96" y="107"/>
                    </a:cubicBezTo>
                    <a:cubicBezTo>
                      <a:pt x="96" y="108"/>
                      <a:pt x="93" y="111"/>
                      <a:pt x="87" y="112"/>
                    </a:cubicBezTo>
                    <a:cubicBezTo>
                      <a:pt x="86" y="112"/>
                      <a:pt x="83" y="112"/>
                      <a:pt x="83" y="115"/>
                    </a:cubicBezTo>
                    <a:cubicBezTo>
                      <a:pt x="83" y="115"/>
                      <a:pt x="83" y="117"/>
                      <a:pt x="86" y="117"/>
                    </a:cubicBezTo>
                    <a:cubicBezTo>
                      <a:pt x="89" y="117"/>
                      <a:pt x="94" y="116"/>
                      <a:pt x="97" y="116"/>
                    </a:cubicBezTo>
                    <a:cubicBezTo>
                      <a:pt x="101" y="116"/>
                      <a:pt x="105" y="116"/>
                      <a:pt x="108" y="116"/>
                    </a:cubicBezTo>
                    <a:cubicBezTo>
                      <a:pt x="112" y="116"/>
                      <a:pt x="116" y="116"/>
                      <a:pt x="119" y="116"/>
                    </a:cubicBezTo>
                    <a:cubicBezTo>
                      <a:pt x="121" y="116"/>
                      <a:pt x="126" y="117"/>
                      <a:pt x="129" y="117"/>
                    </a:cubicBezTo>
                    <a:cubicBezTo>
                      <a:pt x="129" y="117"/>
                      <a:pt x="131" y="117"/>
                      <a:pt x="131" y="112"/>
                    </a:cubicBezTo>
                    <a:cubicBezTo>
                      <a:pt x="131" y="112"/>
                      <a:pt x="129" y="112"/>
                      <a:pt x="126" y="112"/>
                    </a:cubicBezTo>
                    <a:cubicBezTo>
                      <a:pt x="116" y="112"/>
                      <a:pt x="116" y="108"/>
                      <a:pt x="115" y="106"/>
                    </a:cubicBezTo>
                    <a:lnTo>
                      <a:pt x="87" y="51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</p:grpSp>
        <p:grpSp>
          <p:nvGrpSpPr>
            <p:cNvPr id="401" name="Group 63"/>
            <p:cNvGrpSpPr/>
            <p:nvPr/>
          </p:nvGrpSpPr>
          <p:grpSpPr>
            <a:xfrm>
              <a:off x="1866600" y="2967840"/>
              <a:ext cx="160200" cy="99360"/>
              <a:chOff x="1866600" y="2967840"/>
              <a:chExt cx="160200" cy="99360"/>
            </a:xfrm>
          </p:grpSpPr>
          <p:sp>
            <p:nvSpPr>
              <p:cNvPr id="402" name="Freeform 64"/>
              <p:cNvSpPr/>
              <p:nvPr/>
            </p:nvSpPr>
            <p:spPr>
              <a:xfrm>
                <a:off x="1866600" y="2982960"/>
                <a:ext cx="52560" cy="64440"/>
              </a:xfrm>
              <a:custGeom>
                <a:avLst/>
                <a:gdLst/>
                <a:ahLst/>
                <a:cxnLst/>
                <a:rect l="0" t="0" r="r" b="b"/>
                <a:pathLst>
                  <a:path w="146" h="179">
                    <a:moveTo>
                      <a:pt x="145" y="2"/>
                    </a:moveTo>
                    <a:cubicBezTo>
                      <a:pt x="145" y="2"/>
                      <a:pt x="145" y="0"/>
                      <a:pt x="142" y="0"/>
                    </a:cubicBezTo>
                    <a:cubicBezTo>
                      <a:pt x="141" y="0"/>
                      <a:pt x="141" y="0"/>
                      <a:pt x="138" y="4"/>
                    </a:cubicBezTo>
                    <a:lnTo>
                      <a:pt x="126" y="18"/>
                    </a:lnTo>
                    <a:cubicBezTo>
                      <a:pt x="119" y="5"/>
                      <a:pt x="108" y="0"/>
                      <a:pt x="91" y="0"/>
                    </a:cubicBezTo>
                    <a:cubicBezTo>
                      <a:pt x="60" y="0"/>
                      <a:pt x="31" y="28"/>
                      <a:pt x="31" y="57"/>
                    </a:cubicBezTo>
                    <a:cubicBezTo>
                      <a:pt x="31" y="77"/>
                      <a:pt x="43" y="88"/>
                      <a:pt x="57" y="93"/>
                    </a:cubicBezTo>
                    <a:lnTo>
                      <a:pt x="82" y="98"/>
                    </a:lnTo>
                    <a:cubicBezTo>
                      <a:pt x="91" y="102"/>
                      <a:pt x="105" y="105"/>
                      <a:pt x="105" y="126"/>
                    </a:cubicBezTo>
                    <a:cubicBezTo>
                      <a:pt x="105" y="147"/>
                      <a:pt x="85" y="170"/>
                      <a:pt x="60" y="170"/>
                    </a:cubicBezTo>
                    <a:cubicBezTo>
                      <a:pt x="46" y="170"/>
                      <a:pt x="19" y="164"/>
                      <a:pt x="19" y="134"/>
                    </a:cubicBezTo>
                    <a:cubicBezTo>
                      <a:pt x="19" y="129"/>
                      <a:pt x="20" y="123"/>
                      <a:pt x="20" y="121"/>
                    </a:cubicBezTo>
                    <a:cubicBezTo>
                      <a:pt x="20" y="120"/>
                      <a:pt x="20" y="119"/>
                      <a:pt x="20" y="119"/>
                    </a:cubicBezTo>
                    <a:cubicBezTo>
                      <a:pt x="20" y="117"/>
                      <a:pt x="19" y="117"/>
                      <a:pt x="17" y="117"/>
                    </a:cubicBezTo>
                    <a:cubicBezTo>
                      <a:pt x="16" y="117"/>
                      <a:pt x="16" y="117"/>
                      <a:pt x="15" y="118"/>
                    </a:cubicBezTo>
                    <a:cubicBezTo>
                      <a:pt x="14" y="119"/>
                      <a:pt x="0" y="174"/>
                      <a:pt x="0" y="174"/>
                    </a:cubicBezTo>
                    <a:cubicBezTo>
                      <a:pt x="0" y="177"/>
                      <a:pt x="2" y="178"/>
                      <a:pt x="3" y="178"/>
                    </a:cubicBezTo>
                    <a:cubicBezTo>
                      <a:pt x="4" y="178"/>
                      <a:pt x="4" y="178"/>
                      <a:pt x="7" y="174"/>
                    </a:cubicBezTo>
                    <a:lnTo>
                      <a:pt x="20" y="159"/>
                    </a:lnTo>
                    <a:cubicBezTo>
                      <a:pt x="29" y="174"/>
                      <a:pt x="46" y="178"/>
                      <a:pt x="60" y="178"/>
                    </a:cubicBezTo>
                    <a:cubicBezTo>
                      <a:pt x="94" y="178"/>
                      <a:pt x="123" y="145"/>
                      <a:pt x="123" y="115"/>
                    </a:cubicBezTo>
                    <a:cubicBezTo>
                      <a:pt x="123" y="98"/>
                      <a:pt x="115" y="90"/>
                      <a:pt x="111" y="86"/>
                    </a:cubicBezTo>
                    <a:cubicBezTo>
                      <a:pt x="105" y="81"/>
                      <a:pt x="102" y="80"/>
                      <a:pt x="79" y="74"/>
                    </a:cubicBezTo>
                    <a:cubicBezTo>
                      <a:pt x="74" y="73"/>
                      <a:pt x="65" y="70"/>
                      <a:pt x="64" y="70"/>
                    </a:cubicBezTo>
                    <a:cubicBezTo>
                      <a:pt x="57" y="67"/>
                      <a:pt x="48" y="60"/>
                      <a:pt x="48" y="46"/>
                    </a:cubicBezTo>
                    <a:cubicBezTo>
                      <a:pt x="48" y="27"/>
                      <a:pt x="68" y="6"/>
                      <a:pt x="91" y="6"/>
                    </a:cubicBezTo>
                    <a:cubicBezTo>
                      <a:pt x="112" y="6"/>
                      <a:pt x="126" y="17"/>
                      <a:pt x="126" y="46"/>
                    </a:cubicBezTo>
                    <a:cubicBezTo>
                      <a:pt x="126" y="53"/>
                      <a:pt x="126" y="57"/>
                      <a:pt x="126" y="57"/>
                    </a:cubicBezTo>
                    <a:cubicBezTo>
                      <a:pt x="126" y="59"/>
                      <a:pt x="126" y="60"/>
                      <a:pt x="129" y="60"/>
                    </a:cubicBezTo>
                    <a:cubicBezTo>
                      <a:pt x="130" y="60"/>
                      <a:pt x="130" y="60"/>
                      <a:pt x="133" y="57"/>
                    </a:cubicBezTo>
                    <a:lnTo>
                      <a:pt x="145" y="2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403" name="Freeform 65"/>
              <p:cNvSpPr/>
              <p:nvPr/>
            </p:nvSpPr>
            <p:spPr>
              <a:xfrm>
                <a:off x="1927440" y="2967840"/>
                <a:ext cx="23400" cy="41040"/>
              </a:xfrm>
              <a:custGeom>
                <a:avLst/>
                <a:gdLst/>
                <a:ahLst/>
                <a:cxnLst/>
                <a:rect l="0" t="0" r="r" b="b"/>
                <a:pathLst>
                  <a:path w="65" h="114">
                    <a:moveTo>
                      <a:pt x="38" y="5"/>
                    </a:moveTo>
                    <a:cubicBezTo>
                      <a:pt x="38" y="0"/>
                      <a:pt x="38" y="0"/>
                      <a:pt x="34" y="0"/>
                    </a:cubicBezTo>
                    <a:cubicBezTo>
                      <a:pt x="23" y="11"/>
                      <a:pt x="7" y="11"/>
                      <a:pt x="0" y="11"/>
                    </a:cubicBezTo>
                    <a:lnTo>
                      <a:pt x="0" y="17"/>
                    </a:lnTo>
                    <a:cubicBezTo>
                      <a:pt x="4" y="17"/>
                      <a:pt x="16" y="17"/>
                      <a:pt x="25" y="12"/>
                    </a:cubicBezTo>
                    <a:lnTo>
                      <a:pt x="25" y="99"/>
                    </a:lnTo>
                    <a:cubicBezTo>
                      <a:pt x="25" y="105"/>
                      <a:pt x="25" y="108"/>
                      <a:pt x="8" y="108"/>
                    </a:cubicBezTo>
                    <a:lnTo>
                      <a:pt x="2" y="108"/>
                    </a:lnTo>
                    <a:lnTo>
                      <a:pt x="2" y="113"/>
                    </a:lnTo>
                    <a:cubicBezTo>
                      <a:pt x="5" y="113"/>
                      <a:pt x="26" y="112"/>
                      <a:pt x="32" y="112"/>
                    </a:cubicBezTo>
                    <a:cubicBezTo>
                      <a:pt x="37" y="112"/>
                      <a:pt x="59" y="113"/>
                      <a:pt x="64" y="113"/>
                    </a:cubicBezTo>
                    <a:lnTo>
                      <a:pt x="64" y="108"/>
                    </a:lnTo>
                    <a:lnTo>
                      <a:pt x="57" y="108"/>
                    </a:lnTo>
                    <a:cubicBezTo>
                      <a:pt x="38" y="108"/>
                      <a:pt x="38" y="105"/>
                      <a:pt x="38" y="99"/>
                    </a:cubicBezTo>
                    <a:lnTo>
                      <a:pt x="38" y="5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404" name="Freeform 66"/>
              <p:cNvSpPr/>
              <p:nvPr/>
            </p:nvSpPr>
            <p:spPr>
              <a:xfrm>
                <a:off x="1918440" y="3028320"/>
                <a:ext cx="21240" cy="39240"/>
              </a:xfrm>
              <a:custGeom>
                <a:avLst/>
                <a:gdLst/>
                <a:ahLst/>
                <a:cxnLst/>
                <a:rect l="0" t="0" r="r" b="b"/>
                <a:pathLst>
                  <a:path w="59" h="109">
                    <a:moveTo>
                      <a:pt x="35" y="39"/>
                    </a:moveTo>
                    <a:lnTo>
                      <a:pt x="53" y="39"/>
                    </a:lnTo>
                    <a:cubicBezTo>
                      <a:pt x="57" y="39"/>
                      <a:pt x="58" y="39"/>
                      <a:pt x="58" y="36"/>
                    </a:cubicBezTo>
                    <a:cubicBezTo>
                      <a:pt x="58" y="33"/>
                      <a:pt x="57" y="33"/>
                      <a:pt x="53" y="33"/>
                    </a:cubicBezTo>
                    <a:lnTo>
                      <a:pt x="36" y="33"/>
                    </a:lnTo>
                    <a:lnTo>
                      <a:pt x="43" y="8"/>
                    </a:lnTo>
                    <a:cubicBezTo>
                      <a:pt x="43" y="7"/>
                      <a:pt x="43" y="5"/>
                      <a:pt x="43" y="5"/>
                    </a:cubicBezTo>
                    <a:cubicBezTo>
                      <a:pt x="43" y="2"/>
                      <a:pt x="42" y="0"/>
                      <a:pt x="37" y="0"/>
                    </a:cubicBezTo>
                    <a:cubicBezTo>
                      <a:pt x="33" y="0"/>
                      <a:pt x="31" y="3"/>
                      <a:pt x="29" y="7"/>
                    </a:cubicBezTo>
                    <a:cubicBezTo>
                      <a:pt x="28" y="11"/>
                      <a:pt x="31" y="4"/>
                      <a:pt x="24" y="33"/>
                    </a:cubicBezTo>
                    <a:lnTo>
                      <a:pt x="5" y="33"/>
                    </a:lnTo>
                    <a:cubicBezTo>
                      <a:pt x="2" y="33"/>
                      <a:pt x="0" y="33"/>
                      <a:pt x="0" y="37"/>
                    </a:cubicBezTo>
                    <a:cubicBezTo>
                      <a:pt x="0" y="39"/>
                      <a:pt x="2" y="39"/>
                      <a:pt x="5" y="39"/>
                    </a:cubicBezTo>
                    <a:lnTo>
                      <a:pt x="22" y="39"/>
                    </a:lnTo>
                    <a:lnTo>
                      <a:pt x="11" y="80"/>
                    </a:lnTo>
                    <a:cubicBezTo>
                      <a:pt x="11" y="85"/>
                      <a:pt x="9" y="90"/>
                      <a:pt x="9" y="93"/>
                    </a:cubicBezTo>
                    <a:cubicBezTo>
                      <a:pt x="9" y="103"/>
                      <a:pt x="17" y="108"/>
                      <a:pt x="27" y="108"/>
                    </a:cubicBezTo>
                    <a:cubicBezTo>
                      <a:pt x="46" y="108"/>
                      <a:pt x="57" y="85"/>
                      <a:pt x="57" y="82"/>
                    </a:cubicBezTo>
                    <a:cubicBezTo>
                      <a:pt x="57" y="81"/>
                      <a:pt x="55" y="81"/>
                      <a:pt x="55" y="81"/>
                    </a:cubicBezTo>
                    <a:cubicBezTo>
                      <a:pt x="52" y="81"/>
                      <a:pt x="52" y="81"/>
                      <a:pt x="50" y="84"/>
                    </a:cubicBezTo>
                    <a:cubicBezTo>
                      <a:pt x="46" y="94"/>
                      <a:pt x="37" y="104"/>
                      <a:pt x="27" y="104"/>
                    </a:cubicBezTo>
                    <a:cubicBezTo>
                      <a:pt x="24" y="104"/>
                      <a:pt x="22" y="102"/>
                      <a:pt x="22" y="95"/>
                    </a:cubicBezTo>
                    <a:cubicBezTo>
                      <a:pt x="22" y="94"/>
                      <a:pt x="23" y="90"/>
                      <a:pt x="23" y="88"/>
                    </a:cubicBezTo>
                    <a:lnTo>
                      <a:pt x="35" y="39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405" name="Freeform 67"/>
              <p:cNvSpPr/>
              <p:nvPr/>
            </p:nvSpPr>
            <p:spPr>
              <a:xfrm>
                <a:off x="1948680" y="3049560"/>
                <a:ext cx="42120" cy="3600"/>
              </a:xfrm>
              <a:custGeom>
                <a:avLst/>
                <a:gdLst/>
                <a:ahLst/>
                <a:cxnLst/>
                <a:rect l="0" t="0" r="r" b="b"/>
                <a:pathLst>
                  <a:path w="117" h="10">
                    <a:moveTo>
                      <a:pt x="109" y="9"/>
                    </a:moveTo>
                    <a:cubicBezTo>
                      <a:pt x="112" y="9"/>
                      <a:pt x="116" y="9"/>
                      <a:pt x="116" y="5"/>
                    </a:cubicBezTo>
                    <a:cubicBezTo>
                      <a:pt x="116" y="0"/>
                      <a:pt x="112" y="0"/>
                      <a:pt x="109" y="0"/>
                    </a:cubicBezTo>
                    <a:lnTo>
                      <a:pt x="6" y="0"/>
                    </a:lnTo>
                    <a:cubicBezTo>
                      <a:pt x="4" y="0"/>
                      <a:pt x="0" y="0"/>
                      <a:pt x="0" y="5"/>
                    </a:cubicBezTo>
                    <a:cubicBezTo>
                      <a:pt x="0" y="9"/>
                      <a:pt x="4" y="9"/>
                      <a:pt x="6" y="9"/>
                    </a:cubicBezTo>
                    <a:lnTo>
                      <a:pt x="109" y="9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406" name="Freeform 68"/>
              <p:cNvSpPr/>
              <p:nvPr/>
            </p:nvSpPr>
            <p:spPr>
              <a:xfrm>
                <a:off x="2003760" y="3025800"/>
                <a:ext cx="23400" cy="41040"/>
              </a:xfrm>
              <a:custGeom>
                <a:avLst/>
                <a:gdLst/>
                <a:ahLst/>
                <a:cxnLst/>
                <a:rect l="0" t="0" r="r" b="b"/>
                <a:pathLst>
                  <a:path w="65" h="114">
                    <a:moveTo>
                      <a:pt x="38" y="5"/>
                    </a:moveTo>
                    <a:cubicBezTo>
                      <a:pt x="38" y="0"/>
                      <a:pt x="38" y="0"/>
                      <a:pt x="34" y="0"/>
                    </a:cubicBezTo>
                    <a:cubicBezTo>
                      <a:pt x="23" y="11"/>
                      <a:pt x="7" y="11"/>
                      <a:pt x="0" y="11"/>
                    </a:cubicBezTo>
                    <a:lnTo>
                      <a:pt x="0" y="17"/>
                    </a:lnTo>
                    <a:cubicBezTo>
                      <a:pt x="4" y="17"/>
                      <a:pt x="16" y="17"/>
                      <a:pt x="25" y="12"/>
                    </a:cubicBezTo>
                    <a:lnTo>
                      <a:pt x="25" y="99"/>
                    </a:lnTo>
                    <a:cubicBezTo>
                      <a:pt x="25" y="105"/>
                      <a:pt x="25" y="108"/>
                      <a:pt x="8" y="108"/>
                    </a:cubicBezTo>
                    <a:lnTo>
                      <a:pt x="2" y="108"/>
                    </a:lnTo>
                    <a:lnTo>
                      <a:pt x="2" y="113"/>
                    </a:lnTo>
                    <a:cubicBezTo>
                      <a:pt x="5" y="113"/>
                      <a:pt x="26" y="112"/>
                      <a:pt x="32" y="112"/>
                    </a:cubicBezTo>
                    <a:cubicBezTo>
                      <a:pt x="37" y="112"/>
                      <a:pt x="59" y="113"/>
                      <a:pt x="64" y="113"/>
                    </a:cubicBezTo>
                    <a:lnTo>
                      <a:pt x="64" y="108"/>
                    </a:lnTo>
                    <a:lnTo>
                      <a:pt x="57" y="108"/>
                    </a:lnTo>
                    <a:cubicBezTo>
                      <a:pt x="38" y="108"/>
                      <a:pt x="38" y="105"/>
                      <a:pt x="38" y="99"/>
                    </a:cubicBezTo>
                    <a:lnTo>
                      <a:pt x="38" y="5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</p:grpSp>
        <p:grpSp>
          <p:nvGrpSpPr>
            <p:cNvPr id="407" name="Group 69"/>
            <p:cNvGrpSpPr/>
            <p:nvPr/>
          </p:nvGrpSpPr>
          <p:grpSpPr>
            <a:xfrm>
              <a:off x="1856160" y="3413880"/>
              <a:ext cx="181440" cy="99000"/>
              <a:chOff x="1856160" y="3413880"/>
              <a:chExt cx="181440" cy="99000"/>
            </a:xfrm>
          </p:grpSpPr>
          <p:sp>
            <p:nvSpPr>
              <p:cNvPr id="408" name="Freeform 70"/>
              <p:cNvSpPr/>
              <p:nvPr/>
            </p:nvSpPr>
            <p:spPr>
              <a:xfrm>
                <a:off x="1856160" y="3430800"/>
                <a:ext cx="73080" cy="60480"/>
              </a:xfrm>
              <a:custGeom>
                <a:avLst/>
                <a:gdLst/>
                <a:ahLst/>
                <a:cxnLst/>
                <a:rect l="0" t="0" r="r" b="b"/>
                <a:pathLst>
                  <a:path w="203" h="168">
                    <a:moveTo>
                      <a:pt x="112" y="67"/>
                    </a:moveTo>
                    <a:lnTo>
                      <a:pt x="91" y="18"/>
                    </a:lnTo>
                    <a:cubicBezTo>
                      <a:pt x="90" y="16"/>
                      <a:pt x="90" y="16"/>
                      <a:pt x="90" y="15"/>
                    </a:cubicBezTo>
                    <a:cubicBezTo>
                      <a:pt x="90" y="13"/>
                      <a:pt x="94" y="9"/>
                      <a:pt x="105" y="8"/>
                    </a:cubicBezTo>
                    <a:cubicBezTo>
                      <a:pt x="108" y="7"/>
                      <a:pt x="109" y="7"/>
                      <a:pt x="109" y="3"/>
                    </a:cubicBezTo>
                    <a:cubicBezTo>
                      <a:pt x="109" y="0"/>
                      <a:pt x="107" y="0"/>
                      <a:pt x="106" y="0"/>
                    </a:cubicBezTo>
                    <a:cubicBezTo>
                      <a:pt x="96" y="0"/>
                      <a:pt x="86" y="1"/>
                      <a:pt x="75" y="1"/>
                    </a:cubicBezTo>
                    <a:cubicBezTo>
                      <a:pt x="68" y="1"/>
                      <a:pt x="54" y="0"/>
                      <a:pt x="47" y="0"/>
                    </a:cubicBezTo>
                    <a:cubicBezTo>
                      <a:pt x="46" y="0"/>
                      <a:pt x="43" y="0"/>
                      <a:pt x="43" y="5"/>
                    </a:cubicBezTo>
                    <a:cubicBezTo>
                      <a:pt x="43" y="8"/>
                      <a:pt x="46" y="8"/>
                      <a:pt x="49" y="8"/>
                    </a:cubicBezTo>
                    <a:cubicBezTo>
                      <a:pt x="64" y="8"/>
                      <a:pt x="65" y="10"/>
                      <a:pt x="67" y="16"/>
                    </a:cubicBezTo>
                    <a:lnTo>
                      <a:pt x="96" y="84"/>
                    </a:lnTo>
                    <a:lnTo>
                      <a:pt x="45" y="139"/>
                    </a:lnTo>
                    <a:lnTo>
                      <a:pt x="42" y="142"/>
                    </a:lnTo>
                    <a:cubicBezTo>
                      <a:pt x="29" y="155"/>
                      <a:pt x="18" y="159"/>
                      <a:pt x="5" y="159"/>
                    </a:cubicBezTo>
                    <a:cubicBezTo>
                      <a:pt x="2" y="159"/>
                      <a:pt x="0" y="159"/>
                      <a:pt x="0" y="164"/>
                    </a:cubicBezTo>
                    <a:cubicBezTo>
                      <a:pt x="0" y="164"/>
                      <a:pt x="0" y="167"/>
                      <a:pt x="4" y="167"/>
                    </a:cubicBezTo>
                    <a:cubicBezTo>
                      <a:pt x="11" y="167"/>
                      <a:pt x="19" y="167"/>
                      <a:pt x="26" y="167"/>
                    </a:cubicBezTo>
                    <a:cubicBezTo>
                      <a:pt x="35" y="167"/>
                      <a:pt x="46" y="167"/>
                      <a:pt x="53" y="167"/>
                    </a:cubicBezTo>
                    <a:cubicBezTo>
                      <a:pt x="55" y="167"/>
                      <a:pt x="57" y="167"/>
                      <a:pt x="57" y="162"/>
                    </a:cubicBezTo>
                    <a:cubicBezTo>
                      <a:pt x="57" y="159"/>
                      <a:pt x="56" y="159"/>
                      <a:pt x="55" y="159"/>
                    </a:cubicBezTo>
                    <a:cubicBezTo>
                      <a:pt x="53" y="159"/>
                      <a:pt x="46" y="159"/>
                      <a:pt x="46" y="151"/>
                    </a:cubicBezTo>
                    <a:cubicBezTo>
                      <a:pt x="46" y="148"/>
                      <a:pt x="49" y="144"/>
                      <a:pt x="51" y="141"/>
                    </a:cubicBezTo>
                    <a:lnTo>
                      <a:pt x="77" y="114"/>
                    </a:lnTo>
                    <a:lnTo>
                      <a:pt x="98" y="90"/>
                    </a:lnTo>
                    <a:lnTo>
                      <a:pt x="123" y="149"/>
                    </a:lnTo>
                    <a:cubicBezTo>
                      <a:pt x="125" y="151"/>
                      <a:pt x="125" y="151"/>
                      <a:pt x="125" y="152"/>
                    </a:cubicBezTo>
                    <a:cubicBezTo>
                      <a:pt x="125" y="154"/>
                      <a:pt x="119" y="159"/>
                      <a:pt x="111" y="159"/>
                    </a:cubicBezTo>
                    <a:cubicBezTo>
                      <a:pt x="108" y="159"/>
                      <a:pt x="105" y="159"/>
                      <a:pt x="105" y="164"/>
                    </a:cubicBezTo>
                    <a:cubicBezTo>
                      <a:pt x="105" y="167"/>
                      <a:pt x="108" y="167"/>
                      <a:pt x="109" y="167"/>
                    </a:cubicBezTo>
                    <a:cubicBezTo>
                      <a:pt x="116" y="167"/>
                      <a:pt x="134" y="167"/>
                      <a:pt x="139" y="167"/>
                    </a:cubicBezTo>
                    <a:cubicBezTo>
                      <a:pt x="147" y="167"/>
                      <a:pt x="160" y="167"/>
                      <a:pt x="167" y="167"/>
                    </a:cubicBezTo>
                    <a:cubicBezTo>
                      <a:pt x="169" y="167"/>
                      <a:pt x="172" y="167"/>
                      <a:pt x="172" y="163"/>
                    </a:cubicBezTo>
                    <a:cubicBezTo>
                      <a:pt x="172" y="159"/>
                      <a:pt x="170" y="159"/>
                      <a:pt x="167" y="159"/>
                    </a:cubicBezTo>
                    <a:cubicBezTo>
                      <a:pt x="151" y="159"/>
                      <a:pt x="150" y="159"/>
                      <a:pt x="147" y="149"/>
                    </a:cubicBezTo>
                    <a:cubicBezTo>
                      <a:pt x="137" y="126"/>
                      <a:pt x="120" y="88"/>
                      <a:pt x="115" y="73"/>
                    </a:cubicBezTo>
                    <a:cubicBezTo>
                      <a:pt x="132" y="57"/>
                      <a:pt x="157" y="27"/>
                      <a:pt x="165" y="20"/>
                    </a:cubicBezTo>
                    <a:cubicBezTo>
                      <a:pt x="172" y="15"/>
                      <a:pt x="181" y="9"/>
                      <a:pt x="196" y="8"/>
                    </a:cubicBezTo>
                    <a:cubicBezTo>
                      <a:pt x="199" y="7"/>
                      <a:pt x="202" y="7"/>
                      <a:pt x="202" y="3"/>
                    </a:cubicBezTo>
                    <a:cubicBezTo>
                      <a:pt x="202" y="2"/>
                      <a:pt x="202" y="0"/>
                      <a:pt x="199" y="0"/>
                    </a:cubicBezTo>
                    <a:cubicBezTo>
                      <a:pt x="190" y="0"/>
                      <a:pt x="183" y="1"/>
                      <a:pt x="175" y="1"/>
                    </a:cubicBezTo>
                    <a:cubicBezTo>
                      <a:pt x="167" y="1"/>
                      <a:pt x="157" y="0"/>
                      <a:pt x="148" y="0"/>
                    </a:cubicBezTo>
                    <a:cubicBezTo>
                      <a:pt x="147" y="0"/>
                      <a:pt x="143" y="0"/>
                      <a:pt x="143" y="5"/>
                    </a:cubicBezTo>
                    <a:cubicBezTo>
                      <a:pt x="143" y="6"/>
                      <a:pt x="145" y="7"/>
                      <a:pt x="147" y="8"/>
                    </a:cubicBezTo>
                    <a:cubicBezTo>
                      <a:pt x="149" y="8"/>
                      <a:pt x="157" y="9"/>
                      <a:pt x="157" y="16"/>
                    </a:cubicBezTo>
                    <a:cubicBezTo>
                      <a:pt x="157" y="20"/>
                      <a:pt x="153" y="22"/>
                      <a:pt x="151" y="24"/>
                    </a:cubicBezTo>
                    <a:lnTo>
                      <a:pt x="112" y="67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409" name="Freeform 71"/>
              <p:cNvSpPr/>
              <p:nvPr/>
            </p:nvSpPr>
            <p:spPr>
              <a:xfrm>
                <a:off x="1940400" y="3413880"/>
                <a:ext cx="23400" cy="41040"/>
              </a:xfrm>
              <a:custGeom>
                <a:avLst/>
                <a:gdLst/>
                <a:ahLst/>
                <a:cxnLst/>
                <a:rect l="0" t="0" r="r" b="b"/>
                <a:pathLst>
                  <a:path w="65" h="114">
                    <a:moveTo>
                      <a:pt x="38" y="5"/>
                    </a:moveTo>
                    <a:cubicBezTo>
                      <a:pt x="38" y="0"/>
                      <a:pt x="38" y="0"/>
                      <a:pt x="34" y="0"/>
                    </a:cubicBezTo>
                    <a:cubicBezTo>
                      <a:pt x="23" y="11"/>
                      <a:pt x="7" y="11"/>
                      <a:pt x="0" y="11"/>
                    </a:cubicBezTo>
                    <a:lnTo>
                      <a:pt x="0" y="17"/>
                    </a:lnTo>
                    <a:cubicBezTo>
                      <a:pt x="4" y="17"/>
                      <a:pt x="16" y="17"/>
                      <a:pt x="25" y="12"/>
                    </a:cubicBezTo>
                    <a:lnTo>
                      <a:pt x="25" y="99"/>
                    </a:lnTo>
                    <a:cubicBezTo>
                      <a:pt x="25" y="105"/>
                      <a:pt x="25" y="108"/>
                      <a:pt x="8" y="108"/>
                    </a:cubicBezTo>
                    <a:lnTo>
                      <a:pt x="2" y="108"/>
                    </a:lnTo>
                    <a:lnTo>
                      <a:pt x="2" y="113"/>
                    </a:lnTo>
                    <a:cubicBezTo>
                      <a:pt x="5" y="113"/>
                      <a:pt x="26" y="112"/>
                      <a:pt x="32" y="112"/>
                    </a:cubicBezTo>
                    <a:cubicBezTo>
                      <a:pt x="37" y="112"/>
                      <a:pt x="59" y="113"/>
                      <a:pt x="64" y="113"/>
                    </a:cubicBezTo>
                    <a:lnTo>
                      <a:pt x="64" y="108"/>
                    </a:lnTo>
                    <a:lnTo>
                      <a:pt x="57" y="108"/>
                    </a:lnTo>
                    <a:cubicBezTo>
                      <a:pt x="38" y="108"/>
                      <a:pt x="38" y="105"/>
                      <a:pt x="38" y="99"/>
                    </a:cubicBezTo>
                    <a:lnTo>
                      <a:pt x="38" y="5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410" name="Freeform 72"/>
              <p:cNvSpPr/>
              <p:nvPr/>
            </p:nvSpPr>
            <p:spPr>
              <a:xfrm>
                <a:off x="1928880" y="3474000"/>
                <a:ext cx="21240" cy="39240"/>
              </a:xfrm>
              <a:custGeom>
                <a:avLst/>
                <a:gdLst/>
                <a:ahLst/>
                <a:cxnLst/>
                <a:rect l="0" t="0" r="r" b="b"/>
                <a:pathLst>
                  <a:path w="59" h="109">
                    <a:moveTo>
                      <a:pt x="35" y="39"/>
                    </a:moveTo>
                    <a:lnTo>
                      <a:pt x="53" y="39"/>
                    </a:lnTo>
                    <a:cubicBezTo>
                      <a:pt x="57" y="39"/>
                      <a:pt x="58" y="39"/>
                      <a:pt x="58" y="36"/>
                    </a:cubicBezTo>
                    <a:cubicBezTo>
                      <a:pt x="58" y="33"/>
                      <a:pt x="57" y="33"/>
                      <a:pt x="53" y="33"/>
                    </a:cubicBezTo>
                    <a:lnTo>
                      <a:pt x="36" y="33"/>
                    </a:lnTo>
                    <a:lnTo>
                      <a:pt x="43" y="8"/>
                    </a:lnTo>
                    <a:cubicBezTo>
                      <a:pt x="43" y="7"/>
                      <a:pt x="44" y="5"/>
                      <a:pt x="44" y="5"/>
                    </a:cubicBezTo>
                    <a:cubicBezTo>
                      <a:pt x="44" y="2"/>
                      <a:pt x="42" y="0"/>
                      <a:pt x="37" y="0"/>
                    </a:cubicBezTo>
                    <a:cubicBezTo>
                      <a:pt x="33" y="0"/>
                      <a:pt x="31" y="3"/>
                      <a:pt x="29" y="7"/>
                    </a:cubicBezTo>
                    <a:cubicBezTo>
                      <a:pt x="28" y="11"/>
                      <a:pt x="31" y="4"/>
                      <a:pt x="24" y="33"/>
                    </a:cubicBezTo>
                    <a:lnTo>
                      <a:pt x="5" y="33"/>
                    </a:lnTo>
                    <a:cubicBezTo>
                      <a:pt x="2" y="33"/>
                      <a:pt x="0" y="33"/>
                      <a:pt x="0" y="37"/>
                    </a:cubicBezTo>
                    <a:cubicBezTo>
                      <a:pt x="0" y="39"/>
                      <a:pt x="2" y="39"/>
                      <a:pt x="5" y="39"/>
                    </a:cubicBezTo>
                    <a:lnTo>
                      <a:pt x="22" y="39"/>
                    </a:lnTo>
                    <a:lnTo>
                      <a:pt x="11" y="80"/>
                    </a:lnTo>
                    <a:cubicBezTo>
                      <a:pt x="11" y="85"/>
                      <a:pt x="9" y="90"/>
                      <a:pt x="9" y="93"/>
                    </a:cubicBezTo>
                    <a:cubicBezTo>
                      <a:pt x="9" y="103"/>
                      <a:pt x="17" y="108"/>
                      <a:pt x="27" y="108"/>
                    </a:cubicBezTo>
                    <a:cubicBezTo>
                      <a:pt x="46" y="108"/>
                      <a:pt x="57" y="85"/>
                      <a:pt x="57" y="82"/>
                    </a:cubicBezTo>
                    <a:cubicBezTo>
                      <a:pt x="57" y="81"/>
                      <a:pt x="55" y="81"/>
                      <a:pt x="55" y="81"/>
                    </a:cubicBezTo>
                    <a:cubicBezTo>
                      <a:pt x="52" y="81"/>
                      <a:pt x="52" y="81"/>
                      <a:pt x="50" y="84"/>
                    </a:cubicBezTo>
                    <a:cubicBezTo>
                      <a:pt x="46" y="94"/>
                      <a:pt x="37" y="104"/>
                      <a:pt x="27" y="104"/>
                    </a:cubicBezTo>
                    <a:cubicBezTo>
                      <a:pt x="24" y="104"/>
                      <a:pt x="22" y="102"/>
                      <a:pt x="22" y="95"/>
                    </a:cubicBezTo>
                    <a:cubicBezTo>
                      <a:pt x="22" y="94"/>
                      <a:pt x="23" y="90"/>
                      <a:pt x="23" y="88"/>
                    </a:cubicBezTo>
                    <a:lnTo>
                      <a:pt x="35" y="39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411" name="Freeform 73"/>
              <p:cNvSpPr/>
              <p:nvPr/>
            </p:nvSpPr>
            <p:spPr>
              <a:xfrm>
                <a:off x="1959840" y="3495600"/>
                <a:ext cx="42120" cy="3600"/>
              </a:xfrm>
              <a:custGeom>
                <a:avLst/>
                <a:gdLst/>
                <a:ahLst/>
                <a:cxnLst/>
                <a:rect l="0" t="0" r="r" b="b"/>
                <a:pathLst>
                  <a:path w="117" h="10">
                    <a:moveTo>
                      <a:pt x="109" y="9"/>
                    </a:moveTo>
                    <a:cubicBezTo>
                      <a:pt x="112" y="9"/>
                      <a:pt x="116" y="9"/>
                      <a:pt x="116" y="5"/>
                    </a:cubicBezTo>
                    <a:cubicBezTo>
                      <a:pt x="116" y="0"/>
                      <a:pt x="112" y="0"/>
                      <a:pt x="109" y="0"/>
                    </a:cubicBezTo>
                    <a:lnTo>
                      <a:pt x="6" y="0"/>
                    </a:lnTo>
                    <a:cubicBezTo>
                      <a:pt x="4" y="0"/>
                      <a:pt x="0" y="0"/>
                      <a:pt x="0" y="5"/>
                    </a:cubicBezTo>
                    <a:cubicBezTo>
                      <a:pt x="0" y="9"/>
                      <a:pt x="4" y="9"/>
                      <a:pt x="6" y="9"/>
                    </a:cubicBezTo>
                    <a:lnTo>
                      <a:pt x="109" y="9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412" name="Freeform 74"/>
              <p:cNvSpPr/>
              <p:nvPr/>
            </p:nvSpPr>
            <p:spPr>
              <a:xfrm>
                <a:off x="2014560" y="3471480"/>
                <a:ext cx="23400" cy="41040"/>
              </a:xfrm>
              <a:custGeom>
                <a:avLst/>
                <a:gdLst/>
                <a:ahLst/>
                <a:cxnLst/>
                <a:rect l="0" t="0" r="r" b="b"/>
                <a:pathLst>
                  <a:path w="65" h="114">
                    <a:moveTo>
                      <a:pt x="38" y="5"/>
                    </a:moveTo>
                    <a:cubicBezTo>
                      <a:pt x="38" y="0"/>
                      <a:pt x="38" y="0"/>
                      <a:pt x="34" y="0"/>
                    </a:cubicBezTo>
                    <a:cubicBezTo>
                      <a:pt x="23" y="11"/>
                      <a:pt x="7" y="11"/>
                      <a:pt x="0" y="11"/>
                    </a:cubicBezTo>
                    <a:lnTo>
                      <a:pt x="0" y="17"/>
                    </a:lnTo>
                    <a:cubicBezTo>
                      <a:pt x="4" y="17"/>
                      <a:pt x="16" y="17"/>
                      <a:pt x="25" y="12"/>
                    </a:cubicBezTo>
                    <a:lnTo>
                      <a:pt x="25" y="99"/>
                    </a:lnTo>
                    <a:cubicBezTo>
                      <a:pt x="25" y="105"/>
                      <a:pt x="25" y="108"/>
                      <a:pt x="8" y="108"/>
                    </a:cubicBezTo>
                    <a:lnTo>
                      <a:pt x="2" y="108"/>
                    </a:lnTo>
                    <a:lnTo>
                      <a:pt x="2" y="113"/>
                    </a:lnTo>
                    <a:cubicBezTo>
                      <a:pt x="5" y="113"/>
                      <a:pt x="26" y="112"/>
                      <a:pt x="32" y="112"/>
                    </a:cubicBezTo>
                    <a:cubicBezTo>
                      <a:pt x="37" y="112"/>
                      <a:pt x="59" y="113"/>
                      <a:pt x="64" y="113"/>
                    </a:cubicBezTo>
                    <a:lnTo>
                      <a:pt x="64" y="108"/>
                    </a:lnTo>
                    <a:lnTo>
                      <a:pt x="57" y="108"/>
                    </a:lnTo>
                    <a:cubicBezTo>
                      <a:pt x="38" y="108"/>
                      <a:pt x="38" y="105"/>
                      <a:pt x="38" y="99"/>
                    </a:cubicBezTo>
                    <a:lnTo>
                      <a:pt x="38" y="5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</p:grpSp>
        <p:grpSp>
          <p:nvGrpSpPr>
            <p:cNvPr id="413" name="Group 75"/>
            <p:cNvGrpSpPr/>
            <p:nvPr/>
          </p:nvGrpSpPr>
          <p:grpSpPr>
            <a:xfrm>
              <a:off x="1864080" y="3864240"/>
              <a:ext cx="165960" cy="99360"/>
              <a:chOff x="1864080" y="3864240"/>
              <a:chExt cx="165960" cy="99360"/>
            </a:xfrm>
          </p:grpSpPr>
          <p:sp>
            <p:nvSpPr>
              <p:cNvPr id="414" name="Freeform 76"/>
              <p:cNvSpPr/>
              <p:nvPr/>
            </p:nvSpPr>
            <p:spPr>
              <a:xfrm>
                <a:off x="1864080" y="3881520"/>
                <a:ext cx="59040" cy="60480"/>
              </a:xfrm>
              <a:custGeom>
                <a:avLst/>
                <a:gdLst/>
                <a:ahLst/>
                <a:cxnLst/>
                <a:rect l="0" t="0" r="r" b="b"/>
                <a:pathLst>
                  <a:path w="164" h="168">
                    <a:moveTo>
                      <a:pt x="162" y="5"/>
                    </a:moveTo>
                    <a:cubicBezTo>
                      <a:pt x="162" y="5"/>
                      <a:pt x="163" y="4"/>
                      <a:pt x="163" y="2"/>
                    </a:cubicBezTo>
                    <a:cubicBezTo>
                      <a:pt x="163" y="0"/>
                      <a:pt x="161" y="0"/>
                      <a:pt x="157" y="0"/>
                    </a:cubicBezTo>
                    <a:lnTo>
                      <a:pt x="53" y="0"/>
                    </a:lnTo>
                    <a:cubicBezTo>
                      <a:pt x="47" y="0"/>
                      <a:pt x="46" y="0"/>
                      <a:pt x="46" y="5"/>
                    </a:cubicBezTo>
                    <a:lnTo>
                      <a:pt x="33" y="49"/>
                    </a:lnTo>
                    <a:cubicBezTo>
                      <a:pt x="32" y="50"/>
                      <a:pt x="32" y="51"/>
                      <a:pt x="32" y="52"/>
                    </a:cubicBezTo>
                    <a:cubicBezTo>
                      <a:pt x="32" y="53"/>
                      <a:pt x="32" y="55"/>
                      <a:pt x="35" y="55"/>
                    </a:cubicBezTo>
                    <a:cubicBezTo>
                      <a:pt x="36" y="55"/>
                      <a:pt x="37" y="53"/>
                      <a:pt x="37" y="53"/>
                    </a:cubicBezTo>
                    <a:cubicBezTo>
                      <a:pt x="46" y="24"/>
                      <a:pt x="60" y="8"/>
                      <a:pt x="97" y="8"/>
                    </a:cubicBezTo>
                    <a:lnTo>
                      <a:pt x="138" y="8"/>
                    </a:lnTo>
                    <a:lnTo>
                      <a:pt x="2" y="159"/>
                    </a:lnTo>
                    <a:lnTo>
                      <a:pt x="0" y="164"/>
                    </a:lnTo>
                    <a:cubicBezTo>
                      <a:pt x="0" y="167"/>
                      <a:pt x="2" y="167"/>
                      <a:pt x="5" y="167"/>
                    </a:cubicBezTo>
                    <a:lnTo>
                      <a:pt x="112" y="167"/>
                    </a:lnTo>
                    <a:cubicBezTo>
                      <a:pt x="119" y="167"/>
                      <a:pt x="119" y="167"/>
                      <a:pt x="119" y="162"/>
                    </a:cubicBezTo>
                    <a:lnTo>
                      <a:pt x="138" y="108"/>
                    </a:lnTo>
                    <a:cubicBezTo>
                      <a:pt x="138" y="108"/>
                      <a:pt x="139" y="105"/>
                      <a:pt x="139" y="104"/>
                    </a:cubicBezTo>
                    <a:cubicBezTo>
                      <a:pt x="139" y="103"/>
                      <a:pt x="138" y="102"/>
                      <a:pt x="135" y="102"/>
                    </a:cubicBezTo>
                    <a:cubicBezTo>
                      <a:pt x="134" y="102"/>
                      <a:pt x="133" y="103"/>
                      <a:pt x="130" y="108"/>
                    </a:cubicBezTo>
                    <a:cubicBezTo>
                      <a:pt x="120" y="141"/>
                      <a:pt x="108" y="159"/>
                      <a:pt x="67" y="159"/>
                    </a:cubicBezTo>
                    <a:lnTo>
                      <a:pt x="25" y="159"/>
                    </a:lnTo>
                    <a:lnTo>
                      <a:pt x="162" y="5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415" name="Freeform 77"/>
              <p:cNvSpPr/>
              <p:nvPr/>
            </p:nvSpPr>
            <p:spPr>
              <a:xfrm>
                <a:off x="1932120" y="3864240"/>
                <a:ext cx="23400" cy="41040"/>
              </a:xfrm>
              <a:custGeom>
                <a:avLst/>
                <a:gdLst/>
                <a:ahLst/>
                <a:cxnLst/>
                <a:rect l="0" t="0" r="r" b="b"/>
                <a:pathLst>
                  <a:path w="65" h="114">
                    <a:moveTo>
                      <a:pt x="38" y="5"/>
                    </a:moveTo>
                    <a:cubicBezTo>
                      <a:pt x="38" y="0"/>
                      <a:pt x="38" y="0"/>
                      <a:pt x="34" y="0"/>
                    </a:cubicBezTo>
                    <a:cubicBezTo>
                      <a:pt x="23" y="11"/>
                      <a:pt x="7" y="11"/>
                      <a:pt x="0" y="11"/>
                    </a:cubicBezTo>
                    <a:lnTo>
                      <a:pt x="0" y="17"/>
                    </a:lnTo>
                    <a:cubicBezTo>
                      <a:pt x="4" y="17"/>
                      <a:pt x="16" y="17"/>
                      <a:pt x="25" y="12"/>
                    </a:cubicBezTo>
                    <a:lnTo>
                      <a:pt x="25" y="99"/>
                    </a:lnTo>
                    <a:cubicBezTo>
                      <a:pt x="25" y="105"/>
                      <a:pt x="25" y="108"/>
                      <a:pt x="8" y="108"/>
                    </a:cubicBezTo>
                    <a:lnTo>
                      <a:pt x="2" y="108"/>
                    </a:lnTo>
                    <a:lnTo>
                      <a:pt x="2" y="113"/>
                    </a:lnTo>
                    <a:cubicBezTo>
                      <a:pt x="5" y="113"/>
                      <a:pt x="26" y="112"/>
                      <a:pt x="32" y="112"/>
                    </a:cubicBezTo>
                    <a:cubicBezTo>
                      <a:pt x="37" y="112"/>
                      <a:pt x="59" y="113"/>
                      <a:pt x="64" y="113"/>
                    </a:cubicBezTo>
                    <a:lnTo>
                      <a:pt x="64" y="108"/>
                    </a:lnTo>
                    <a:lnTo>
                      <a:pt x="57" y="108"/>
                    </a:lnTo>
                    <a:cubicBezTo>
                      <a:pt x="38" y="108"/>
                      <a:pt x="38" y="105"/>
                      <a:pt x="38" y="99"/>
                    </a:cubicBezTo>
                    <a:lnTo>
                      <a:pt x="38" y="5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416" name="Freeform 78"/>
              <p:cNvSpPr/>
              <p:nvPr/>
            </p:nvSpPr>
            <p:spPr>
              <a:xfrm>
                <a:off x="1922040" y="3924720"/>
                <a:ext cx="21240" cy="39240"/>
              </a:xfrm>
              <a:custGeom>
                <a:avLst/>
                <a:gdLst/>
                <a:ahLst/>
                <a:cxnLst/>
                <a:rect l="0" t="0" r="r" b="b"/>
                <a:pathLst>
                  <a:path w="59" h="109">
                    <a:moveTo>
                      <a:pt x="35" y="39"/>
                    </a:moveTo>
                    <a:lnTo>
                      <a:pt x="53" y="39"/>
                    </a:lnTo>
                    <a:cubicBezTo>
                      <a:pt x="57" y="39"/>
                      <a:pt x="58" y="39"/>
                      <a:pt x="58" y="36"/>
                    </a:cubicBezTo>
                    <a:cubicBezTo>
                      <a:pt x="58" y="33"/>
                      <a:pt x="57" y="33"/>
                      <a:pt x="53" y="33"/>
                    </a:cubicBezTo>
                    <a:lnTo>
                      <a:pt x="36" y="33"/>
                    </a:lnTo>
                    <a:lnTo>
                      <a:pt x="43" y="8"/>
                    </a:lnTo>
                    <a:cubicBezTo>
                      <a:pt x="43" y="7"/>
                      <a:pt x="43" y="5"/>
                      <a:pt x="43" y="5"/>
                    </a:cubicBezTo>
                    <a:cubicBezTo>
                      <a:pt x="43" y="2"/>
                      <a:pt x="42" y="0"/>
                      <a:pt x="37" y="0"/>
                    </a:cubicBezTo>
                    <a:cubicBezTo>
                      <a:pt x="33" y="0"/>
                      <a:pt x="31" y="3"/>
                      <a:pt x="29" y="7"/>
                    </a:cubicBezTo>
                    <a:cubicBezTo>
                      <a:pt x="28" y="11"/>
                      <a:pt x="31" y="4"/>
                      <a:pt x="24" y="33"/>
                    </a:cubicBezTo>
                    <a:lnTo>
                      <a:pt x="5" y="33"/>
                    </a:lnTo>
                    <a:cubicBezTo>
                      <a:pt x="2" y="33"/>
                      <a:pt x="0" y="33"/>
                      <a:pt x="0" y="37"/>
                    </a:cubicBezTo>
                    <a:cubicBezTo>
                      <a:pt x="0" y="39"/>
                      <a:pt x="2" y="39"/>
                      <a:pt x="5" y="39"/>
                    </a:cubicBezTo>
                    <a:lnTo>
                      <a:pt x="22" y="39"/>
                    </a:lnTo>
                    <a:lnTo>
                      <a:pt x="11" y="80"/>
                    </a:lnTo>
                    <a:cubicBezTo>
                      <a:pt x="11" y="85"/>
                      <a:pt x="9" y="90"/>
                      <a:pt x="9" y="93"/>
                    </a:cubicBezTo>
                    <a:cubicBezTo>
                      <a:pt x="9" y="103"/>
                      <a:pt x="17" y="108"/>
                      <a:pt x="27" y="108"/>
                    </a:cubicBezTo>
                    <a:cubicBezTo>
                      <a:pt x="46" y="108"/>
                      <a:pt x="57" y="85"/>
                      <a:pt x="57" y="82"/>
                    </a:cubicBezTo>
                    <a:cubicBezTo>
                      <a:pt x="57" y="81"/>
                      <a:pt x="55" y="81"/>
                      <a:pt x="55" y="81"/>
                    </a:cubicBezTo>
                    <a:cubicBezTo>
                      <a:pt x="52" y="81"/>
                      <a:pt x="52" y="81"/>
                      <a:pt x="50" y="84"/>
                    </a:cubicBezTo>
                    <a:cubicBezTo>
                      <a:pt x="46" y="94"/>
                      <a:pt x="37" y="104"/>
                      <a:pt x="27" y="104"/>
                    </a:cubicBezTo>
                    <a:cubicBezTo>
                      <a:pt x="24" y="104"/>
                      <a:pt x="22" y="102"/>
                      <a:pt x="22" y="95"/>
                    </a:cubicBezTo>
                    <a:cubicBezTo>
                      <a:pt x="22" y="94"/>
                      <a:pt x="23" y="90"/>
                      <a:pt x="23" y="88"/>
                    </a:cubicBezTo>
                    <a:lnTo>
                      <a:pt x="35" y="39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417" name="Freeform 79"/>
              <p:cNvSpPr/>
              <p:nvPr/>
            </p:nvSpPr>
            <p:spPr>
              <a:xfrm>
                <a:off x="1952280" y="3946320"/>
                <a:ext cx="42120" cy="3600"/>
              </a:xfrm>
              <a:custGeom>
                <a:avLst/>
                <a:gdLst/>
                <a:ahLst/>
                <a:cxnLst/>
                <a:rect l="0" t="0" r="r" b="b"/>
                <a:pathLst>
                  <a:path w="117" h="10">
                    <a:moveTo>
                      <a:pt x="109" y="9"/>
                    </a:moveTo>
                    <a:cubicBezTo>
                      <a:pt x="112" y="9"/>
                      <a:pt x="116" y="9"/>
                      <a:pt x="116" y="5"/>
                    </a:cubicBezTo>
                    <a:cubicBezTo>
                      <a:pt x="116" y="0"/>
                      <a:pt x="112" y="0"/>
                      <a:pt x="109" y="0"/>
                    </a:cubicBezTo>
                    <a:lnTo>
                      <a:pt x="6" y="0"/>
                    </a:lnTo>
                    <a:cubicBezTo>
                      <a:pt x="4" y="0"/>
                      <a:pt x="0" y="0"/>
                      <a:pt x="0" y="5"/>
                    </a:cubicBezTo>
                    <a:cubicBezTo>
                      <a:pt x="0" y="9"/>
                      <a:pt x="4" y="9"/>
                      <a:pt x="6" y="9"/>
                    </a:cubicBezTo>
                    <a:lnTo>
                      <a:pt x="109" y="9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418" name="Freeform 80"/>
              <p:cNvSpPr/>
              <p:nvPr/>
            </p:nvSpPr>
            <p:spPr>
              <a:xfrm>
                <a:off x="2007000" y="3922200"/>
                <a:ext cx="23400" cy="41040"/>
              </a:xfrm>
              <a:custGeom>
                <a:avLst/>
                <a:gdLst/>
                <a:ahLst/>
                <a:cxnLst/>
                <a:rect l="0" t="0" r="r" b="b"/>
                <a:pathLst>
                  <a:path w="65" h="114">
                    <a:moveTo>
                      <a:pt x="38" y="5"/>
                    </a:moveTo>
                    <a:cubicBezTo>
                      <a:pt x="38" y="0"/>
                      <a:pt x="38" y="0"/>
                      <a:pt x="34" y="0"/>
                    </a:cubicBezTo>
                    <a:cubicBezTo>
                      <a:pt x="23" y="11"/>
                      <a:pt x="7" y="11"/>
                      <a:pt x="0" y="11"/>
                    </a:cubicBezTo>
                    <a:lnTo>
                      <a:pt x="0" y="17"/>
                    </a:lnTo>
                    <a:cubicBezTo>
                      <a:pt x="4" y="17"/>
                      <a:pt x="16" y="17"/>
                      <a:pt x="25" y="12"/>
                    </a:cubicBezTo>
                    <a:lnTo>
                      <a:pt x="25" y="99"/>
                    </a:lnTo>
                    <a:cubicBezTo>
                      <a:pt x="25" y="105"/>
                      <a:pt x="25" y="108"/>
                      <a:pt x="8" y="108"/>
                    </a:cubicBezTo>
                    <a:lnTo>
                      <a:pt x="2" y="108"/>
                    </a:lnTo>
                    <a:lnTo>
                      <a:pt x="2" y="113"/>
                    </a:lnTo>
                    <a:cubicBezTo>
                      <a:pt x="5" y="113"/>
                      <a:pt x="26" y="112"/>
                      <a:pt x="32" y="112"/>
                    </a:cubicBezTo>
                    <a:cubicBezTo>
                      <a:pt x="37" y="112"/>
                      <a:pt x="59" y="113"/>
                      <a:pt x="64" y="113"/>
                    </a:cubicBezTo>
                    <a:lnTo>
                      <a:pt x="64" y="108"/>
                    </a:lnTo>
                    <a:lnTo>
                      <a:pt x="57" y="108"/>
                    </a:lnTo>
                    <a:cubicBezTo>
                      <a:pt x="38" y="108"/>
                      <a:pt x="38" y="105"/>
                      <a:pt x="38" y="99"/>
                    </a:cubicBezTo>
                    <a:lnTo>
                      <a:pt x="38" y="5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</p:grpSp>
        <p:grpSp>
          <p:nvGrpSpPr>
            <p:cNvPr id="419" name="Group 81"/>
            <p:cNvGrpSpPr/>
            <p:nvPr/>
          </p:nvGrpSpPr>
          <p:grpSpPr>
            <a:xfrm>
              <a:off x="3222000" y="2968200"/>
              <a:ext cx="83520" cy="99000"/>
              <a:chOff x="3222000" y="2968200"/>
              <a:chExt cx="83520" cy="99000"/>
            </a:xfrm>
          </p:grpSpPr>
          <p:sp>
            <p:nvSpPr>
              <p:cNvPr id="420" name="Freeform 82"/>
              <p:cNvSpPr/>
              <p:nvPr/>
            </p:nvSpPr>
            <p:spPr>
              <a:xfrm>
                <a:off x="3222000" y="2983320"/>
                <a:ext cx="52560" cy="64440"/>
              </a:xfrm>
              <a:custGeom>
                <a:avLst/>
                <a:gdLst/>
                <a:ahLst/>
                <a:cxnLst/>
                <a:rect l="0" t="0" r="r" b="b"/>
                <a:pathLst>
                  <a:path w="146" h="179">
                    <a:moveTo>
                      <a:pt x="145" y="2"/>
                    </a:moveTo>
                    <a:cubicBezTo>
                      <a:pt x="145" y="2"/>
                      <a:pt x="145" y="0"/>
                      <a:pt x="142" y="0"/>
                    </a:cubicBezTo>
                    <a:cubicBezTo>
                      <a:pt x="141" y="0"/>
                      <a:pt x="141" y="0"/>
                      <a:pt x="138" y="4"/>
                    </a:cubicBezTo>
                    <a:lnTo>
                      <a:pt x="126" y="18"/>
                    </a:lnTo>
                    <a:cubicBezTo>
                      <a:pt x="119" y="5"/>
                      <a:pt x="108" y="0"/>
                      <a:pt x="91" y="0"/>
                    </a:cubicBezTo>
                    <a:cubicBezTo>
                      <a:pt x="60" y="0"/>
                      <a:pt x="31" y="28"/>
                      <a:pt x="31" y="57"/>
                    </a:cubicBezTo>
                    <a:cubicBezTo>
                      <a:pt x="31" y="77"/>
                      <a:pt x="43" y="88"/>
                      <a:pt x="57" y="93"/>
                    </a:cubicBezTo>
                    <a:lnTo>
                      <a:pt x="82" y="98"/>
                    </a:lnTo>
                    <a:cubicBezTo>
                      <a:pt x="91" y="102"/>
                      <a:pt x="105" y="105"/>
                      <a:pt x="105" y="126"/>
                    </a:cubicBezTo>
                    <a:cubicBezTo>
                      <a:pt x="105" y="147"/>
                      <a:pt x="85" y="170"/>
                      <a:pt x="60" y="170"/>
                    </a:cubicBezTo>
                    <a:cubicBezTo>
                      <a:pt x="46" y="170"/>
                      <a:pt x="19" y="164"/>
                      <a:pt x="19" y="134"/>
                    </a:cubicBezTo>
                    <a:cubicBezTo>
                      <a:pt x="19" y="129"/>
                      <a:pt x="20" y="123"/>
                      <a:pt x="20" y="121"/>
                    </a:cubicBezTo>
                    <a:cubicBezTo>
                      <a:pt x="20" y="120"/>
                      <a:pt x="20" y="119"/>
                      <a:pt x="20" y="119"/>
                    </a:cubicBezTo>
                    <a:cubicBezTo>
                      <a:pt x="20" y="117"/>
                      <a:pt x="19" y="117"/>
                      <a:pt x="17" y="117"/>
                    </a:cubicBezTo>
                    <a:cubicBezTo>
                      <a:pt x="16" y="117"/>
                      <a:pt x="16" y="117"/>
                      <a:pt x="15" y="118"/>
                    </a:cubicBezTo>
                    <a:cubicBezTo>
                      <a:pt x="14" y="119"/>
                      <a:pt x="0" y="174"/>
                      <a:pt x="0" y="174"/>
                    </a:cubicBezTo>
                    <a:cubicBezTo>
                      <a:pt x="0" y="177"/>
                      <a:pt x="2" y="178"/>
                      <a:pt x="3" y="178"/>
                    </a:cubicBezTo>
                    <a:cubicBezTo>
                      <a:pt x="4" y="178"/>
                      <a:pt x="4" y="178"/>
                      <a:pt x="7" y="174"/>
                    </a:cubicBezTo>
                    <a:lnTo>
                      <a:pt x="20" y="159"/>
                    </a:lnTo>
                    <a:cubicBezTo>
                      <a:pt x="29" y="174"/>
                      <a:pt x="46" y="178"/>
                      <a:pt x="60" y="178"/>
                    </a:cubicBezTo>
                    <a:cubicBezTo>
                      <a:pt x="94" y="178"/>
                      <a:pt x="123" y="145"/>
                      <a:pt x="123" y="115"/>
                    </a:cubicBezTo>
                    <a:cubicBezTo>
                      <a:pt x="123" y="98"/>
                      <a:pt x="115" y="90"/>
                      <a:pt x="111" y="86"/>
                    </a:cubicBezTo>
                    <a:cubicBezTo>
                      <a:pt x="105" y="81"/>
                      <a:pt x="102" y="80"/>
                      <a:pt x="79" y="74"/>
                    </a:cubicBezTo>
                    <a:cubicBezTo>
                      <a:pt x="74" y="73"/>
                      <a:pt x="65" y="70"/>
                      <a:pt x="64" y="70"/>
                    </a:cubicBezTo>
                    <a:cubicBezTo>
                      <a:pt x="57" y="67"/>
                      <a:pt x="48" y="60"/>
                      <a:pt x="48" y="46"/>
                    </a:cubicBezTo>
                    <a:cubicBezTo>
                      <a:pt x="48" y="27"/>
                      <a:pt x="68" y="6"/>
                      <a:pt x="91" y="6"/>
                    </a:cubicBezTo>
                    <a:cubicBezTo>
                      <a:pt x="112" y="6"/>
                      <a:pt x="126" y="17"/>
                      <a:pt x="126" y="46"/>
                    </a:cubicBezTo>
                    <a:cubicBezTo>
                      <a:pt x="126" y="53"/>
                      <a:pt x="126" y="57"/>
                      <a:pt x="126" y="57"/>
                    </a:cubicBezTo>
                    <a:cubicBezTo>
                      <a:pt x="126" y="59"/>
                      <a:pt x="126" y="60"/>
                      <a:pt x="129" y="60"/>
                    </a:cubicBezTo>
                    <a:cubicBezTo>
                      <a:pt x="130" y="60"/>
                      <a:pt x="130" y="60"/>
                      <a:pt x="132" y="57"/>
                    </a:cubicBezTo>
                    <a:lnTo>
                      <a:pt x="145" y="2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421" name="Freeform 83"/>
              <p:cNvSpPr/>
              <p:nvPr/>
            </p:nvSpPr>
            <p:spPr>
              <a:xfrm>
                <a:off x="3282840" y="2968200"/>
                <a:ext cx="23040" cy="41040"/>
              </a:xfrm>
              <a:custGeom>
                <a:avLst/>
                <a:gdLst/>
                <a:ahLst/>
                <a:cxnLst/>
                <a:rect l="0" t="0" r="r" b="b"/>
                <a:pathLst>
                  <a:path w="64" h="114">
                    <a:moveTo>
                      <a:pt x="38" y="5"/>
                    </a:moveTo>
                    <a:cubicBezTo>
                      <a:pt x="38" y="0"/>
                      <a:pt x="38" y="0"/>
                      <a:pt x="34" y="0"/>
                    </a:cubicBezTo>
                    <a:cubicBezTo>
                      <a:pt x="23" y="11"/>
                      <a:pt x="7" y="11"/>
                      <a:pt x="0" y="11"/>
                    </a:cubicBezTo>
                    <a:lnTo>
                      <a:pt x="0" y="17"/>
                    </a:lnTo>
                    <a:cubicBezTo>
                      <a:pt x="4" y="17"/>
                      <a:pt x="16" y="17"/>
                      <a:pt x="25" y="12"/>
                    </a:cubicBezTo>
                    <a:lnTo>
                      <a:pt x="25" y="99"/>
                    </a:lnTo>
                    <a:cubicBezTo>
                      <a:pt x="25" y="105"/>
                      <a:pt x="25" y="108"/>
                      <a:pt x="8" y="108"/>
                    </a:cubicBezTo>
                    <a:lnTo>
                      <a:pt x="2" y="108"/>
                    </a:lnTo>
                    <a:lnTo>
                      <a:pt x="2" y="113"/>
                    </a:lnTo>
                    <a:cubicBezTo>
                      <a:pt x="5" y="113"/>
                      <a:pt x="26" y="112"/>
                      <a:pt x="32" y="112"/>
                    </a:cubicBezTo>
                    <a:cubicBezTo>
                      <a:pt x="37" y="112"/>
                      <a:pt x="59" y="113"/>
                      <a:pt x="63" y="113"/>
                    </a:cubicBezTo>
                    <a:lnTo>
                      <a:pt x="63" y="108"/>
                    </a:lnTo>
                    <a:lnTo>
                      <a:pt x="57" y="108"/>
                    </a:lnTo>
                    <a:cubicBezTo>
                      <a:pt x="38" y="108"/>
                      <a:pt x="38" y="105"/>
                      <a:pt x="38" y="99"/>
                    </a:cubicBezTo>
                    <a:lnTo>
                      <a:pt x="38" y="5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422" name="Freeform 84"/>
              <p:cNvSpPr/>
              <p:nvPr/>
            </p:nvSpPr>
            <p:spPr>
              <a:xfrm>
                <a:off x="3273840" y="3028320"/>
                <a:ext cx="21240" cy="39240"/>
              </a:xfrm>
              <a:custGeom>
                <a:avLst/>
                <a:gdLst/>
                <a:ahLst/>
                <a:cxnLst/>
                <a:rect l="0" t="0" r="r" b="b"/>
                <a:pathLst>
                  <a:path w="59" h="109">
                    <a:moveTo>
                      <a:pt x="35" y="39"/>
                    </a:moveTo>
                    <a:lnTo>
                      <a:pt x="53" y="39"/>
                    </a:lnTo>
                    <a:cubicBezTo>
                      <a:pt x="57" y="39"/>
                      <a:pt x="58" y="39"/>
                      <a:pt x="58" y="36"/>
                    </a:cubicBezTo>
                    <a:cubicBezTo>
                      <a:pt x="58" y="33"/>
                      <a:pt x="57" y="33"/>
                      <a:pt x="53" y="33"/>
                    </a:cubicBezTo>
                    <a:lnTo>
                      <a:pt x="36" y="33"/>
                    </a:lnTo>
                    <a:lnTo>
                      <a:pt x="43" y="8"/>
                    </a:lnTo>
                    <a:cubicBezTo>
                      <a:pt x="43" y="7"/>
                      <a:pt x="43" y="5"/>
                      <a:pt x="43" y="5"/>
                    </a:cubicBezTo>
                    <a:cubicBezTo>
                      <a:pt x="43" y="2"/>
                      <a:pt x="42" y="0"/>
                      <a:pt x="37" y="0"/>
                    </a:cubicBezTo>
                    <a:cubicBezTo>
                      <a:pt x="33" y="0"/>
                      <a:pt x="31" y="3"/>
                      <a:pt x="29" y="7"/>
                    </a:cubicBezTo>
                    <a:cubicBezTo>
                      <a:pt x="28" y="11"/>
                      <a:pt x="31" y="4"/>
                      <a:pt x="24" y="33"/>
                    </a:cubicBezTo>
                    <a:lnTo>
                      <a:pt x="5" y="33"/>
                    </a:lnTo>
                    <a:cubicBezTo>
                      <a:pt x="2" y="33"/>
                      <a:pt x="0" y="33"/>
                      <a:pt x="0" y="37"/>
                    </a:cubicBezTo>
                    <a:cubicBezTo>
                      <a:pt x="0" y="39"/>
                      <a:pt x="2" y="39"/>
                      <a:pt x="5" y="39"/>
                    </a:cubicBezTo>
                    <a:lnTo>
                      <a:pt x="22" y="39"/>
                    </a:lnTo>
                    <a:lnTo>
                      <a:pt x="11" y="80"/>
                    </a:lnTo>
                    <a:cubicBezTo>
                      <a:pt x="11" y="85"/>
                      <a:pt x="9" y="90"/>
                      <a:pt x="9" y="93"/>
                    </a:cubicBezTo>
                    <a:cubicBezTo>
                      <a:pt x="9" y="103"/>
                      <a:pt x="17" y="108"/>
                      <a:pt x="27" y="108"/>
                    </a:cubicBezTo>
                    <a:cubicBezTo>
                      <a:pt x="46" y="108"/>
                      <a:pt x="57" y="85"/>
                      <a:pt x="57" y="82"/>
                    </a:cubicBezTo>
                    <a:cubicBezTo>
                      <a:pt x="57" y="81"/>
                      <a:pt x="55" y="81"/>
                      <a:pt x="55" y="81"/>
                    </a:cubicBezTo>
                    <a:cubicBezTo>
                      <a:pt x="52" y="81"/>
                      <a:pt x="52" y="81"/>
                      <a:pt x="50" y="84"/>
                    </a:cubicBezTo>
                    <a:cubicBezTo>
                      <a:pt x="46" y="94"/>
                      <a:pt x="37" y="104"/>
                      <a:pt x="27" y="104"/>
                    </a:cubicBezTo>
                    <a:cubicBezTo>
                      <a:pt x="24" y="104"/>
                      <a:pt x="22" y="102"/>
                      <a:pt x="22" y="95"/>
                    </a:cubicBezTo>
                    <a:cubicBezTo>
                      <a:pt x="22" y="94"/>
                      <a:pt x="23" y="90"/>
                      <a:pt x="23" y="88"/>
                    </a:cubicBezTo>
                    <a:lnTo>
                      <a:pt x="35" y="39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</p:grpSp>
        <p:grpSp>
          <p:nvGrpSpPr>
            <p:cNvPr id="423" name="Group 85"/>
            <p:cNvGrpSpPr/>
            <p:nvPr/>
          </p:nvGrpSpPr>
          <p:grpSpPr>
            <a:xfrm>
              <a:off x="3211560" y="3413880"/>
              <a:ext cx="106200" cy="99000"/>
              <a:chOff x="3211560" y="3413880"/>
              <a:chExt cx="106200" cy="99000"/>
            </a:xfrm>
          </p:grpSpPr>
          <p:sp>
            <p:nvSpPr>
              <p:cNvPr id="424" name="Freeform 86"/>
              <p:cNvSpPr/>
              <p:nvPr/>
            </p:nvSpPr>
            <p:spPr>
              <a:xfrm>
                <a:off x="3211560" y="3430800"/>
                <a:ext cx="72720" cy="60480"/>
              </a:xfrm>
              <a:custGeom>
                <a:avLst/>
                <a:gdLst/>
                <a:ahLst/>
                <a:cxnLst/>
                <a:rect l="0" t="0" r="r" b="b"/>
                <a:pathLst>
                  <a:path w="202" h="168">
                    <a:moveTo>
                      <a:pt x="112" y="67"/>
                    </a:moveTo>
                    <a:lnTo>
                      <a:pt x="91" y="18"/>
                    </a:lnTo>
                    <a:cubicBezTo>
                      <a:pt x="90" y="16"/>
                      <a:pt x="90" y="16"/>
                      <a:pt x="90" y="15"/>
                    </a:cubicBezTo>
                    <a:cubicBezTo>
                      <a:pt x="90" y="13"/>
                      <a:pt x="94" y="9"/>
                      <a:pt x="104" y="8"/>
                    </a:cubicBezTo>
                    <a:cubicBezTo>
                      <a:pt x="108" y="7"/>
                      <a:pt x="108" y="7"/>
                      <a:pt x="108" y="3"/>
                    </a:cubicBezTo>
                    <a:cubicBezTo>
                      <a:pt x="108" y="0"/>
                      <a:pt x="107" y="0"/>
                      <a:pt x="106" y="0"/>
                    </a:cubicBezTo>
                    <a:cubicBezTo>
                      <a:pt x="96" y="0"/>
                      <a:pt x="86" y="1"/>
                      <a:pt x="75" y="1"/>
                    </a:cubicBezTo>
                    <a:cubicBezTo>
                      <a:pt x="68" y="1"/>
                      <a:pt x="53" y="0"/>
                      <a:pt x="47" y="0"/>
                    </a:cubicBezTo>
                    <a:cubicBezTo>
                      <a:pt x="46" y="0"/>
                      <a:pt x="43" y="0"/>
                      <a:pt x="43" y="5"/>
                    </a:cubicBezTo>
                    <a:cubicBezTo>
                      <a:pt x="43" y="8"/>
                      <a:pt x="46" y="8"/>
                      <a:pt x="49" y="8"/>
                    </a:cubicBezTo>
                    <a:cubicBezTo>
                      <a:pt x="64" y="8"/>
                      <a:pt x="65" y="10"/>
                      <a:pt x="67" y="16"/>
                    </a:cubicBezTo>
                    <a:lnTo>
                      <a:pt x="96" y="84"/>
                    </a:lnTo>
                    <a:lnTo>
                      <a:pt x="44" y="139"/>
                    </a:lnTo>
                    <a:lnTo>
                      <a:pt x="42" y="142"/>
                    </a:lnTo>
                    <a:cubicBezTo>
                      <a:pt x="29" y="155"/>
                      <a:pt x="18" y="159"/>
                      <a:pt x="5" y="159"/>
                    </a:cubicBezTo>
                    <a:cubicBezTo>
                      <a:pt x="2" y="159"/>
                      <a:pt x="0" y="159"/>
                      <a:pt x="0" y="164"/>
                    </a:cubicBezTo>
                    <a:cubicBezTo>
                      <a:pt x="0" y="164"/>
                      <a:pt x="0" y="167"/>
                      <a:pt x="4" y="167"/>
                    </a:cubicBezTo>
                    <a:cubicBezTo>
                      <a:pt x="11" y="167"/>
                      <a:pt x="19" y="167"/>
                      <a:pt x="26" y="167"/>
                    </a:cubicBezTo>
                    <a:cubicBezTo>
                      <a:pt x="35" y="167"/>
                      <a:pt x="46" y="167"/>
                      <a:pt x="53" y="167"/>
                    </a:cubicBezTo>
                    <a:cubicBezTo>
                      <a:pt x="55" y="167"/>
                      <a:pt x="57" y="167"/>
                      <a:pt x="57" y="162"/>
                    </a:cubicBezTo>
                    <a:cubicBezTo>
                      <a:pt x="57" y="159"/>
                      <a:pt x="56" y="159"/>
                      <a:pt x="55" y="159"/>
                    </a:cubicBezTo>
                    <a:cubicBezTo>
                      <a:pt x="53" y="159"/>
                      <a:pt x="46" y="159"/>
                      <a:pt x="46" y="151"/>
                    </a:cubicBezTo>
                    <a:cubicBezTo>
                      <a:pt x="46" y="148"/>
                      <a:pt x="49" y="144"/>
                      <a:pt x="51" y="141"/>
                    </a:cubicBezTo>
                    <a:lnTo>
                      <a:pt x="77" y="114"/>
                    </a:lnTo>
                    <a:lnTo>
                      <a:pt x="98" y="90"/>
                    </a:lnTo>
                    <a:lnTo>
                      <a:pt x="123" y="149"/>
                    </a:lnTo>
                    <a:cubicBezTo>
                      <a:pt x="124" y="151"/>
                      <a:pt x="125" y="151"/>
                      <a:pt x="125" y="152"/>
                    </a:cubicBezTo>
                    <a:cubicBezTo>
                      <a:pt x="125" y="154"/>
                      <a:pt x="119" y="159"/>
                      <a:pt x="111" y="159"/>
                    </a:cubicBezTo>
                    <a:cubicBezTo>
                      <a:pt x="108" y="159"/>
                      <a:pt x="105" y="159"/>
                      <a:pt x="105" y="164"/>
                    </a:cubicBezTo>
                    <a:cubicBezTo>
                      <a:pt x="105" y="167"/>
                      <a:pt x="108" y="167"/>
                      <a:pt x="108" y="167"/>
                    </a:cubicBezTo>
                    <a:cubicBezTo>
                      <a:pt x="116" y="167"/>
                      <a:pt x="133" y="167"/>
                      <a:pt x="139" y="167"/>
                    </a:cubicBezTo>
                    <a:cubicBezTo>
                      <a:pt x="146" y="167"/>
                      <a:pt x="159" y="167"/>
                      <a:pt x="167" y="167"/>
                    </a:cubicBezTo>
                    <a:cubicBezTo>
                      <a:pt x="169" y="167"/>
                      <a:pt x="172" y="167"/>
                      <a:pt x="172" y="163"/>
                    </a:cubicBezTo>
                    <a:cubicBezTo>
                      <a:pt x="172" y="159"/>
                      <a:pt x="169" y="159"/>
                      <a:pt x="167" y="159"/>
                    </a:cubicBezTo>
                    <a:cubicBezTo>
                      <a:pt x="150" y="159"/>
                      <a:pt x="149" y="159"/>
                      <a:pt x="147" y="149"/>
                    </a:cubicBezTo>
                    <a:cubicBezTo>
                      <a:pt x="137" y="126"/>
                      <a:pt x="120" y="88"/>
                      <a:pt x="115" y="73"/>
                    </a:cubicBezTo>
                    <a:cubicBezTo>
                      <a:pt x="131" y="57"/>
                      <a:pt x="157" y="27"/>
                      <a:pt x="164" y="20"/>
                    </a:cubicBezTo>
                    <a:cubicBezTo>
                      <a:pt x="172" y="15"/>
                      <a:pt x="181" y="9"/>
                      <a:pt x="196" y="8"/>
                    </a:cubicBezTo>
                    <a:cubicBezTo>
                      <a:pt x="199" y="7"/>
                      <a:pt x="201" y="7"/>
                      <a:pt x="201" y="3"/>
                    </a:cubicBezTo>
                    <a:cubicBezTo>
                      <a:pt x="201" y="2"/>
                      <a:pt x="201" y="0"/>
                      <a:pt x="198" y="0"/>
                    </a:cubicBezTo>
                    <a:cubicBezTo>
                      <a:pt x="190" y="0"/>
                      <a:pt x="182" y="1"/>
                      <a:pt x="174" y="1"/>
                    </a:cubicBezTo>
                    <a:cubicBezTo>
                      <a:pt x="166" y="1"/>
                      <a:pt x="157" y="0"/>
                      <a:pt x="148" y="0"/>
                    </a:cubicBezTo>
                    <a:cubicBezTo>
                      <a:pt x="147" y="0"/>
                      <a:pt x="143" y="0"/>
                      <a:pt x="143" y="5"/>
                    </a:cubicBezTo>
                    <a:cubicBezTo>
                      <a:pt x="143" y="6"/>
                      <a:pt x="145" y="7"/>
                      <a:pt x="147" y="8"/>
                    </a:cubicBezTo>
                    <a:cubicBezTo>
                      <a:pt x="149" y="8"/>
                      <a:pt x="156" y="9"/>
                      <a:pt x="156" y="16"/>
                    </a:cubicBezTo>
                    <a:cubicBezTo>
                      <a:pt x="156" y="20"/>
                      <a:pt x="153" y="22"/>
                      <a:pt x="151" y="24"/>
                    </a:cubicBezTo>
                    <a:lnTo>
                      <a:pt x="112" y="67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425" name="Freeform 87"/>
              <p:cNvSpPr/>
              <p:nvPr/>
            </p:nvSpPr>
            <p:spPr>
              <a:xfrm>
                <a:off x="3295080" y="3413880"/>
                <a:ext cx="23040" cy="41040"/>
              </a:xfrm>
              <a:custGeom>
                <a:avLst/>
                <a:gdLst/>
                <a:ahLst/>
                <a:cxnLst/>
                <a:rect l="0" t="0" r="r" b="b"/>
                <a:pathLst>
                  <a:path w="64" h="114">
                    <a:moveTo>
                      <a:pt x="38" y="5"/>
                    </a:moveTo>
                    <a:cubicBezTo>
                      <a:pt x="38" y="0"/>
                      <a:pt x="38" y="0"/>
                      <a:pt x="34" y="0"/>
                    </a:cubicBezTo>
                    <a:cubicBezTo>
                      <a:pt x="23" y="11"/>
                      <a:pt x="7" y="11"/>
                      <a:pt x="0" y="11"/>
                    </a:cubicBezTo>
                    <a:lnTo>
                      <a:pt x="0" y="17"/>
                    </a:lnTo>
                    <a:cubicBezTo>
                      <a:pt x="4" y="17"/>
                      <a:pt x="16" y="17"/>
                      <a:pt x="25" y="12"/>
                    </a:cubicBezTo>
                    <a:lnTo>
                      <a:pt x="25" y="99"/>
                    </a:lnTo>
                    <a:cubicBezTo>
                      <a:pt x="25" y="105"/>
                      <a:pt x="25" y="108"/>
                      <a:pt x="8" y="108"/>
                    </a:cubicBezTo>
                    <a:lnTo>
                      <a:pt x="2" y="108"/>
                    </a:lnTo>
                    <a:lnTo>
                      <a:pt x="2" y="113"/>
                    </a:lnTo>
                    <a:cubicBezTo>
                      <a:pt x="5" y="113"/>
                      <a:pt x="26" y="112"/>
                      <a:pt x="32" y="112"/>
                    </a:cubicBezTo>
                    <a:cubicBezTo>
                      <a:pt x="37" y="112"/>
                      <a:pt x="59" y="113"/>
                      <a:pt x="63" y="113"/>
                    </a:cubicBezTo>
                    <a:lnTo>
                      <a:pt x="63" y="108"/>
                    </a:lnTo>
                    <a:lnTo>
                      <a:pt x="57" y="108"/>
                    </a:lnTo>
                    <a:cubicBezTo>
                      <a:pt x="38" y="108"/>
                      <a:pt x="38" y="105"/>
                      <a:pt x="38" y="99"/>
                    </a:cubicBezTo>
                    <a:lnTo>
                      <a:pt x="38" y="5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426" name="Freeform 88"/>
              <p:cNvSpPr/>
              <p:nvPr/>
            </p:nvSpPr>
            <p:spPr>
              <a:xfrm>
                <a:off x="3283920" y="3474000"/>
                <a:ext cx="20880" cy="39240"/>
              </a:xfrm>
              <a:custGeom>
                <a:avLst/>
                <a:gdLst/>
                <a:ahLst/>
                <a:cxnLst/>
                <a:rect l="0" t="0" r="r" b="b"/>
                <a:pathLst>
                  <a:path w="58" h="109">
                    <a:moveTo>
                      <a:pt x="35" y="39"/>
                    </a:moveTo>
                    <a:lnTo>
                      <a:pt x="53" y="39"/>
                    </a:lnTo>
                    <a:cubicBezTo>
                      <a:pt x="57" y="39"/>
                      <a:pt x="57" y="39"/>
                      <a:pt x="57" y="36"/>
                    </a:cubicBezTo>
                    <a:cubicBezTo>
                      <a:pt x="57" y="33"/>
                      <a:pt x="57" y="33"/>
                      <a:pt x="53" y="33"/>
                    </a:cubicBezTo>
                    <a:lnTo>
                      <a:pt x="36" y="33"/>
                    </a:lnTo>
                    <a:lnTo>
                      <a:pt x="43" y="8"/>
                    </a:lnTo>
                    <a:cubicBezTo>
                      <a:pt x="43" y="7"/>
                      <a:pt x="43" y="5"/>
                      <a:pt x="43" y="5"/>
                    </a:cubicBezTo>
                    <a:cubicBezTo>
                      <a:pt x="43" y="2"/>
                      <a:pt x="42" y="0"/>
                      <a:pt x="37" y="0"/>
                    </a:cubicBezTo>
                    <a:cubicBezTo>
                      <a:pt x="33" y="0"/>
                      <a:pt x="31" y="3"/>
                      <a:pt x="29" y="7"/>
                    </a:cubicBezTo>
                    <a:cubicBezTo>
                      <a:pt x="28" y="11"/>
                      <a:pt x="31" y="4"/>
                      <a:pt x="24" y="33"/>
                    </a:cubicBezTo>
                    <a:lnTo>
                      <a:pt x="5" y="33"/>
                    </a:lnTo>
                    <a:cubicBezTo>
                      <a:pt x="2" y="33"/>
                      <a:pt x="0" y="33"/>
                      <a:pt x="0" y="37"/>
                    </a:cubicBezTo>
                    <a:cubicBezTo>
                      <a:pt x="0" y="39"/>
                      <a:pt x="2" y="39"/>
                      <a:pt x="5" y="39"/>
                    </a:cubicBezTo>
                    <a:lnTo>
                      <a:pt x="22" y="39"/>
                    </a:lnTo>
                    <a:lnTo>
                      <a:pt x="11" y="80"/>
                    </a:lnTo>
                    <a:cubicBezTo>
                      <a:pt x="11" y="85"/>
                      <a:pt x="9" y="90"/>
                      <a:pt x="9" y="93"/>
                    </a:cubicBezTo>
                    <a:cubicBezTo>
                      <a:pt x="9" y="103"/>
                      <a:pt x="17" y="108"/>
                      <a:pt x="27" y="108"/>
                    </a:cubicBezTo>
                    <a:cubicBezTo>
                      <a:pt x="46" y="108"/>
                      <a:pt x="57" y="85"/>
                      <a:pt x="57" y="82"/>
                    </a:cubicBezTo>
                    <a:cubicBezTo>
                      <a:pt x="57" y="81"/>
                      <a:pt x="55" y="81"/>
                      <a:pt x="55" y="81"/>
                    </a:cubicBezTo>
                    <a:cubicBezTo>
                      <a:pt x="52" y="81"/>
                      <a:pt x="52" y="81"/>
                      <a:pt x="50" y="84"/>
                    </a:cubicBezTo>
                    <a:cubicBezTo>
                      <a:pt x="46" y="94"/>
                      <a:pt x="37" y="104"/>
                      <a:pt x="27" y="104"/>
                    </a:cubicBezTo>
                    <a:cubicBezTo>
                      <a:pt x="24" y="104"/>
                      <a:pt x="22" y="102"/>
                      <a:pt x="22" y="95"/>
                    </a:cubicBezTo>
                    <a:cubicBezTo>
                      <a:pt x="22" y="94"/>
                      <a:pt x="23" y="90"/>
                      <a:pt x="23" y="88"/>
                    </a:cubicBezTo>
                    <a:lnTo>
                      <a:pt x="35" y="39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</p:grpSp>
        <p:grpSp>
          <p:nvGrpSpPr>
            <p:cNvPr id="427" name="Group 89"/>
            <p:cNvGrpSpPr/>
            <p:nvPr/>
          </p:nvGrpSpPr>
          <p:grpSpPr>
            <a:xfrm>
              <a:off x="3219840" y="3864240"/>
              <a:ext cx="90720" cy="99360"/>
              <a:chOff x="3219840" y="3864240"/>
              <a:chExt cx="90720" cy="99360"/>
            </a:xfrm>
          </p:grpSpPr>
          <p:sp>
            <p:nvSpPr>
              <p:cNvPr id="428" name="Freeform 90"/>
              <p:cNvSpPr/>
              <p:nvPr/>
            </p:nvSpPr>
            <p:spPr>
              <a:xfrm>
                <a:off x="3219840" y="3881520"/>
                <a:ext cx="59040" cy="60480"/>
              </a:xfrm>
              <a:custGeom>
                <a:avLst/>
                <a:gdLst/>
                <a:ahLst/>
                <a:cxnLst/>
                <a:rect l="0" t="0" r="r" b="b"/>
                <a:pathLst>
                  <a:path w="164" h="168">
                    <a:moveTo>
                      <a:pt x="162" y="5"/>
                    </a:moveTo>
                    <a:cubicBezTo>
                      <a:pt x="162" y="5"/>
                      <a:pt x="163" y="4"/>
                      <a:pt x="163" y="2"/>
                    </a:cubicBezTo>
                    <a:cubicBezTo>
                      <a:pt x="163" y="0"/>
                      <a:pt x="161" y="0"/>
                      <a:pt x="157" y="0"/>
                    </a:cubicBezTo>
                    <a:lnTo>
                      <a:pt x="53" y="0"/>
                    </a:lnTo>
                    <a:cubicBezTo>
                      <a:pt x="47" y="0"/>
                      <a:pt x="46" y="0"/>
                      <a:pt x="46" y="5"/>
                    </a:cubicBezTo>
                    <a:lnTo>
                      <a:pt x="33" y="49"/>
                    </a:lnTo>
                    <a:cubicBezTo>
                      <a:pt x="32" y="50"/>
                      <a:pt x="32" y="51"/>
                      <a:pt x="32" y="52"/>
                    </a:cubicBezTo>
                    <a:cubicBezTo>
                      <a:pt x="32" y="53"/>
                      <a:pt x="32" y="55"/>
                      <a:pt x="35" y="55"/>
                    </a:cubicBezTo>
                    <a:cubicBezTo>
                      <a:pt x="36" y="55"/>
                      <a:pt x="37" y="53"/>
                      <a:pt x="37" y="53"/>
                    </a:cubicBezTo>
                    <a:cubicBezTo>
                      <a:pt x="46" y="24"/>
                      <a:pt x="60" y="8"/>
                      <a:pt x="97" y="8"/>
                    </a:cubicBezTo>
                    <a:lnTo>
                      <a:pt x="138" y="8"/>
                    </a:lnTo>
                    <a:lnTo>
                      <a:pt x="2" y="159"/>
                    </a:lnTo>
                    <a:lnTo>
                      <a:pt x="0" y="164"/>
                    </a:lnTo>
                    <a:cubicBezTo>
                      <a:pt x="0" y="167"/>
                      <a:pt x="2" y="167"/>
                      <a:pt x="5" y="167"/>
                    </a:cubicBezTo>
                    <a:lnTo>
                      <a:pt x="112" y="167"/>
                    </a:lnTo>
                    <a:cubicBezTo>
                      <a:pt x="119" y="167"/>
                      <a:pt x="119" y="167"/>
                      <a:pt x="119" y="162"/>
                    </a:cubicBezTo>
                    <a:lnTo>
                      <a:pt x="138" y="108"/>
                    </a:lnTo>
                    <a:cubicBezTo>
                      <a:pt x="138" y="108"/>
                      <a:pt x="139" y="105"/>
                      <a:pt x="139" y="104"/>
                    </a:cubicBezTo>
                    <a:cubicBezTo>
                      <a:pt x="139" y="103"/>
                      <a:pt x="138" y="102"/>
                      <a:pt x="135" y="102"/>
                    </a:cubicBezTo>
                    <a:cubicBezTo>
                      <a:pt x="134" y="102"/>
                      <a:pt x="133" y="103"/>
                      <a:pt x="130" y="108"/>
                    </a:cubicBezTo>
                    <a:cubicBezTo>
                      <a:pt x="120" y="141"/>
                      <a:pt x="108" y="159"/>
                      <a:pt x="67" y="159"/>
                    </a:cubicBezTo>
                    <a:lnTo>
                      <a:pt x="25" y="159"/>
                    </a:lnTo>
                    <a:lnTo>
                      <a:pt x="162" y="5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429" name="Freeform 91"/>
              <p:cNvSpPr/>
              <p:nvPr/>
            </p:nvSpPr>
            <p:spPr>
              <a:xfrm>
                <a:off x="3287520" y="3864240"/>
                <a:ext cx="23400" cy="41040"/>
              </a:xfrm>
              <a:custGeom>
                <a:avLst/>
                <a:gdLst/>
                <a:ahLst/>
                <a:cxnLst/>
                <a:rect l="0" t="0" r="r" b="b"/>
                <a:pathLst>
                  <a:path w="65" h="114">
                    <a:moveTo>
                      <a:pt x="38" y="5"/>
                    </a:moveTo>
                    <a:cubicBezTo>
                      <a:pt x="38" y="0"/>
                      <a:pt x="38" y="0"/>
                      <a:pt x="34" y="0"/>
                    </a:cubicBezTo>
                    <a:cubicBezTo>
                      <a:pt x="23" y="11"/>
                      <a:pt x="7" y="11"/>
                      <a:pt x="0" y="11"/>
                    </a:cubicBezTo>
                    <a:lnTo>
                      <a:pt x="0" y="17"/>
                    </a:lnTo>
                    <a:cubicBezTo>
                      <a:pt x="4" y="17"/>
                      <a:pt x="16" y="17"/>
                      <a:pt x="25" y="12"/>
                    </a:cubicBezTo>
                    <a:lnTo>
                      <a:pt x="25" y="99"/>
                    </a:lnTo>
                    <a:cubicBezTo>
                      <a:pt x="25" y="105"/>
                      <a:pt x="25" y="108"/>
                      <a:pt x="8" y="108"/>
                    </a:cubicBezTo>
                    <a:lnTo>
                      <a:pt x="2" y="108"/>
                    </a:lnTo>
                    <a:lnTo>
                      <a:pt x="2" y="113"/>
                    </a:lnTo>
                    <a:cubicBezTo>
                      <a:pt x="5" y="113"/>
                      <a:pt x="26" y="112"/>
                      <a:pt x="32" y="112"/>
                    </a:cubicBezTo>
                    <a:cubicBezTo>
                      <a:pt x="37" y="112"/>
                      <a:pt x="59" y="113"/>
                      <a:pt x="64" y="113"/>
                    </a:cubicBezTo>
                    <a:lnTo>
                      <a:pt x="64" y="108"/>
                    </a:lnTo>
                    <a:lnTo>
                      <a:pt x="57" y="108"/>
                    </a:lnTo>
                    <a:cubicBezTo>
                      <a:pt x="38" y="108"/>
                      <a:pt x="38" y="105"/>
                      <a:pt x="38" y="99"/>
                    </a:cubicBezTo>
                    <a:lnTo>
                      <a:pt x="38" y="5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430" name="Freeform 92"/>
              <p:cNvSpPr/>
              <p:nvPr/>
            </p:nvSpPr>
            <p:spPr>
              <a:xfrm>
                <a:off x="3277440" y="3924720"/>
                <a:ext cx="21240" cy="39240"/>
              </a:xfrm>
              <a:custGeom>
                <a:avLst/>
                <a:gdLst/>
                <a:ahLst/>
                <a:cxnLst/>
                <a:rect l="0" t="0" r="r" b="b"/>
                <a:pathLst>
                  <a:path w="59" h="109">
                    <a:moveTo>
                      <a:pt x="35" y="39"/>
                    </a:moveTo>
                    <a:lnTo>
                      <a:pt x="53" y="39"/>
                    </a:lnTo>
                    <a:cubicBezTo>
                      <a:pt x="57" y="39"/>
                      <a:pt x="58" y="39"/>
                      <a:pt x="58" y="36"/>
                    </a:cubicBezTo>
                    <a:cubicBezTo>
                      <a:pt x="58" y="33"/>
                      <a:pt x="57" y="33"/>
                      <a:pt x="53" y="33"/>
                    </a:cubicBezTo>
                    <a:lnTo>
                      <a:pt x="36" y="33"/>
                    </a:lnTo>
                    <a:lnTo>
                      <a:pt x="43" y="8"/>
                    </a:lnTo>
                    <a:cubicBezTo>
                      <a:pt x="43" y="7"/>
                      <a:pt x="44" y="5"/>
                      <a:pt x="44" y="5"/>
                    </a:cubicBezTo>
                    <a:cubicBezTo>
                      <a:pt x="44" y="2"/>
                      <a:pt x="42" y="0"/>
                      <a:pt x="37" y="0"/>
                    </a:cubicBezTo>
                    <a:cubicBezTo>
                      <a:pt x="33" y="0"/>
                      <a:pt x="31" y="3"/>
                      <a:pt x="29" y="7"/>
                    </a:cubicBezTo>
                    <a:cubicBezTo>
                      <a:pt x="28" y="11"/>
                      <a:pt x="31" y="4"/>
                      <a:pt x="24" y="33"/>
                    </a:cubicBezTo>
                    <a:lnTo>
                      <a:pt x="5" y="33"/>
                    </a:lnTo>
                    <a:cubicBezTo>
                      <a:pt x="2" y="33"/>
                      <a:pt x="0" y="33"/>
                      <a:pt x="0" y="37"/>
                    </a:cubicBezTo>
                    <a:cubicBezTo>
                      <a:pt x="0" y="39"/>
                      <a:pt x="2" y="39"/>
                      <a:pt x="5" y="39"/>
                    </a:cubicBezTo>
                    <a:lnTo>
                      <a:pt x="22" y="39"/>
                    </a:lnTo>
                    <a:lnTo>
                      <a:pt x="11" y="80"/>
                    </a:lnTo>
                    <a:cubicBezTo>
                      <a:pt x="11" y="85"/>
                      <a:pt x="9" y="90"/>
                      <a:pt x="9" y="93"/>
                    </a:cubicBezTo>
                    <a:cubicBezTo>
                      <a:pt x="9" y="103"/>
                      <a:pt x="17" y="108"/>
                      <a:pt x="27" y="108"/>
                    </a:cubicBezTo>
                    <a:cubicBezTo>
                      <a:pt x="46" y="108"/>
                      <a:pt x="57" y="85"/>
                      <a:pt x="57" y="82"/>
                    </a:cubicBezTo>
                    <a:cubicBezTo>
                      <a:pt x="57" y="81"/>
                      <a:pt x="55" y="81"/>
                      <a:pt x="55" y="81"/>
                    </a:cubicBezTo>
                    <a:cubicBezTo>
                      <a:pt x="52" y="81"/>
                      <a:pt x="52" y="81"/>
                      <a:pt x="50" y="84"/>
                    </a:cubicBezTo>
                    <a:cubicBezTo>
                      <a:pt x="46" y="94"/>
                      <a:pt x="37" y="104"/>
                      <a:pt x="27" y="104"/>
                    </a:cubicBezTo>
                    <a:cubicBezTo>
                      <a:pt x="24" y="104"/>
                      <a:pt x="22" y="102"/>
                      <a:pt x="22" y="95"/>
                    </a:cubicBezTo>
                    <a:cubicBezTo>
                      <a:pt x="22" y="94"/>
                      <a:pt x="23" y="90"/>
                      <a:pt x="23" y="88"/>
                    </a:cubicBezTo>
                    <a:lnTo>
                      <a:pt x="35" y="39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</p:grpSp>
        <p:sp>
          <p:nvSpPr>
            <p:cNvPr id="431" name="CustomShape 93"/>
            <p:cNvSpPr/>
            <p:nvPr/>
          </p:nvSpPr>
          <p:spPr>
            <a:xfrm>
              <a:off x="1811880" y="1244160"/>
              <a:ext cx="267120" cy="238320"/>
            </a:xfrm>
            <a:prstGeom prst="ellipse">
              <a:avLst/>
            </a:prstGeom>
            <a:solidFill>
              <a:srgbClr val="BEE3D3"/>
            </a:solidFill>
            <a:ln w="90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32" name="CustomShape 94"/>
            <p:cNvSpPr/>
            <p:nvPr/>
          </p:nvSpPr>
          <p:spPr>
            <a:xfrm>
              <a:off x="1811880" y="1689120"/>
              <a:ext cx="267120" cy="237960"/>
            </a:xfrm>
            <a:prstGeom prst="ellipse">
              <a:avLst/>
            </a:prstGeom>
            <a:solidFill>
              <a:srgbClr val="BEE3D3"/>
            </a:solidFill>
            <a:ln w="90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33" name="CustomShape 95"/>
            <p:cNvSpPr/>
            <p:nvPr/>
          </p:nvSpPr>
          <p:spPr>
            <a:xfrm>
              <a:off x="1811880" y="2139480"/>
              <a:ext cx="267120" cy="238680"/>
            </a:xfrm>
            <a:prstGeom prst="ellipse">
              <a:avLst/>
            </a:prstGeom>
            <a:solidFill>
              <a:srgbClr val="BEE3D3"/>
            </a:solidFill>
            <a:ln w="90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cxnSp>
          <p:nvCxnSpPr>
            <p:cNvPr id="434" name="Line 96"/>
            <p:cNvCxnSpPr>
              <a:stCxn id="432" idx="0"/>
              <a:endCxn id="431" idx="4"/>
            </p:cNvCxnSpPr>
            <p:nvPr/>
          </p:nvCxnSpPr>
          <p:spPr>
            <a:xfrm flipV="1">
              <a:off x="1945440" y="1482480"/>
              <a:ext cx="360" cy="207000"/>
            </a:xfrm>
            <a:prstGeom prst="straightConnector1">
              <a:avLst/>
            </a:prstGeom>
            <a:ln w="9000">
              <a:solidFill>
                <a:srgbClr val="000000"/>
              </a:solidFill>
              <a:round/>
              <a:tailEnd type="triangle" w="med" len="med"/>
            </a:ln>
          </p:spPr>
        </p:cxnSp>
        <p:cxnSp>
          <p:nvCxnSpPr>
            <p:cNvPr id="435" name="Line 97"/>
            <p:cNvCxnSpPr>
              <a:stCxn id="433" idx="0"/>
              <a:endCxn id="432" idx="4"/>
            </p:cNvCxnSpPr>
            <p:nvPr/>
          </p:nvCxnSpPr>
          <p:spPr>
            <a:xfrm flipV="1">
              <a:off x="1945440" y="1927080"/>
              <a:ext cx="360" cy="212760"/>
            </a:xfrm>
            <a:prstGeom prst="straightConnector1">
              <a:avLst/>
            </a:prstGeom>
            <a:ln w="9000">
              <a:solidFill>
                <a:srgbClr val="000000"/>
              </a:solidFill>
              <a:round/>
              <a:tailEnd type="triangle" w="med" len="med"/>
            </a:ln>
          </p:spPr>
        </p:cxnSp>
        <p:sp>
          <p:nvSpPr>
            <p:cNvPr id="436" name="CustomShape 98"/>
            <p:cNvSpPr/>
            <p:nvPr/>
          </p:nvSpPr>
          <p:spPr>
            <a:xfrm>
              <a:off x="3123720" y="1244520"/>
              <a:ext cx="267120" cy="237960"/>
            </a:xfrm>
            <a:prstGeom prst="ellipse">
              <a:avLst/>
            </a:prstGeom>
            <a:solidFill>
              <a:srgbClr val="BEE3D3"/>
            </a:solidFill>
            <a:ln w="90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37" name="CustomShape 99"/>
            <p:cNvSpPr/>
            <p:nvPr/>
          </p:nvSpPr>
          <p:spPr>
            <a:xfrm>
              <a:off x="3123720" y="1689120"/>
              <a:ext cx="267120" cy="237960"/>
            </a:xfrm>
            <a:prstGeom prst="ellipse">
              <a:avLst/>
            </a:prstGeom>
            <a:solidFill>
              <a:srgbClr val="BEE3D3"/>
            </a:solidFill>
            <a:ln w="90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38" name="CustomShape 100"/>
            <p:cNvSpPr/>
            <p:nvPr/>
          </p:nvSpPr>
          <p:spPr>
            <a:xfrm>
              <a:off x="3123720" y="2140200"/>
              <a:ext cx="267120" cy="237960"/>
            </a:xfrm>
            <a:prstGeom prst="ellipse">
              <a:avLst/>
            </a:prstGeom>
            <a:solidFill>
              <a:srgbClr val="BEE3D3"/>
            </a:solidFill>
            <a:ln w="90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cxnSp>
          <p:nvCxnSpPr>
            <p:cNvPr id="439" name="Line 101"/>
            <p:cNvCxnSpPr>
              <a:stCxn id="437" idx="0"/>
              <a:endCxn id="436" idx="4"/>
            </p:cNvCxnSpPr>
            <p:nvPr/>
          </p:nvCxnSpPr>
          <p:spPr>
            <a:xfrm flipV="1">
              <a:off x="3257280" y="1482480"/>
              <a:ext cx="360" cy="207000"/>
            </a:xfrm>
            <a:prstGeom prst="straightConnector1">
              <a:avLst/>
            </a:prstGeom>
            <a:ln w="9000">
              <a:solidFill>
                <a:srgbClr val="000000"/>
              </a:solidFill>
              <a:round/>
              <a:tailEnd type="triangle" w="med" len="med"/>
            </a:ln>
          </p:spPr>
        </p:cxnSp>
        <p:cxnSp>
          <p:nvCxnSpPr>
            <p:cNvPr id="440" name="Line 102"/>
            <p:cNvCxnSpPr>
              <a:stCxn id="438" idx="0"/>
              <a:endCxn id="437" idx="4"/>
            </p:cNvCxnSpPr>
            <p:nvPr/>
          </p:nvCxnSpPr>
          <p:spPr>
            <a:xfrm flipV="1">
              <a:off x="3257280" y="1927080"/>
              <a:ext cx="360" cy="213480"/>
            </a:xfrm>
            <a:prstGeom prst="straightConnector1">
              <a:avLst/>
            </a:prstGeom>
            <a:ln w="9000">
              <a:solidFill>
                <a:srgbClr val="000000"/>
              </a:solidFill>
              <a:round/>
              <a:tailEnd type="triangle" w="med" len="med"/>
            </a:ln>
          </p:spPr>
        </p:cxnSp>
        <p:cxnSp>
          <p:nvCxnSpPr>
            <p:cNvPr id="441" name="Line 103"/>
            <p:cNvCxnSpPr>
              <a:stCxn id="433" idx="6"/>
              <a:endCxn id="438" idx="2"/>
            </p:cNvCxnSpPr>
            <p:nvPr/>
          </p:nvCxnSpPr>
          <p:spPr>
            <a:xfrm>
              <a:off x="2079000" y="2259000"/>
              <a:ext cx="1045080" cy="720"/>
            </a:xfrm>
            <a:prstGeom prst="straightConnector1">
              <a:avLst/>
            </a:prstGeom>
            <a:ln w="9000">
              <a:solidFill>
                <a:srgbClr val="000000"/>
              </a:solidFill>
              <a:round/>
              <a:tailEnd type="triangle" w="med" len="med"/>
            </a:ln>
          </p:spPr>
        </p:cxnSp>
        <p:cxnSp>
          <p:nvCxnSpPr>
            <p:cNvPr id="442" name="Line 104"/>
            <p:cNvCxnSpPr>
              <a:stCxn id="432" idx="6"/>
              <a:endCxn id="437" idx="2"/>
            </p:cNvCxnSpPr>
            <p:nvPr/>
          </p:nvCxnSpPr>
          <p:spPr>
            <a:xfrm>
              <a:off x="2079000" y="1808280"/>
              <a:ext cx="1045080" cy="360"/>
            </a:xfrm>
            <a:prstGeom prst="straightConnector1">
              <a:avLst/>
            </a:prstGeom>
            <a:ln w="9000">
              <a:solidFill>
                <a:srgbClr val="000000"/>
              </a:solidFill>
              <a:round/>
              <a:tailEnd type="triangle" w="med" len="med"/>
            </a:ln>
          </p:spPr>
        </p:cxnSp>
        <p:grpSp>
          <p:nvGrpSpPr>
            <p:cNvPr id="443" name="Group 105"/>
            <p:cNvGrpSpPr/>
            <p:nvPr/>
          </p:nvGrpSpPr>
          <p:grpSpPr>
            <a:xfrm>
              <a:off x="1855080" y="1753560"/>
              <a:ext cx="181080" cy="99000"/>
              <a:chOff x="1855080" y="1753560"/>
              <a:chExt cx="181080" cy="99000"/>
            </a:xfrm>
          </p:grpSpPr>
          <p:sp>
            <p:nvSpPr>
              <p:cNvPr id="444" name="Freeform 106"/>
              <p:cNvSpPr/>
              <p:nvPr/>
            </p:nvSpPr>
            <p:spPr>
              <a:xfrm>
                <a:off x="1855080" y="1770840"/>
                <a:ext cx="73080" cy="60480"/>
              </a:xfrm>
              <a:custGeom>
                <a:avLst/>
                <a:gdLst/>
                <a:ahLst/>
                <a:cxnLst/>
                <a:rect l="0" t="0" r="r" b="b"/>
                <a:pathLst>
                  <a:path w="203" h="168">
                    <a:moveTo>
                      <a:pt x="112" y="67"/>
                    </a:moveTo>
                    <a:lnTo>
                      <a:pt x="91" y="18"/>
                    </a:lnTo>
                    <a:cubicBezTo>
                      <a:pt x="90" y="16"/>
                      <a:pt x="90" y="16"/>
                      <a:pt x="90" y="15"/>
                    </a:cubicBezTo>
                    <a:cubicBezTo>
                      <a:pt x="90" y="13"/>
                      <a:pt x="94" y="9"/>
                      <a:pt x="105" y="8"/>
                    </a:cubicBezTo>
                    <a:cubicBezTo>
                      <a:pt x="108" y="7"/>
                      <a:pt x="109" y="7"/>
                      <a:pt x="109" y="3"/>
                    </a:cubicBezTo>
                    <a:cubicBezTo>
                      <a:pt x="109" y="0"/>
                      <a:pt x="107" y="0"/>
                      <a:pt x="106" y="0"/>
                    </a:cubicBezTo>
                    <a:cubicBezTo>
                      <a:pt x="96" y="0"/>
                      <a:pt x="86" y="1"/>
                      <a:pt x="75" y="1"/>
                    </a:cubicBezTo>
                    <a:cubicBezTo>
                      <a:pt x="68" y="1"/>
                      <a:pt x="54" y="0"/>
                      <a:pt x="47" y="0"/>
                    </a:cubicBezTo>
                    <a:cubicBezTo>
                      <a:pt x="46" y="0"/>
                      <a:pt x="43" y="0"/>
                      <a:pt x="43" y="5"/>
                    </a:cubicBezTo>
                    <a:cubicBezTo>
                      <a:pt x="43" y="8"/>
                      <a:pt x="46" y="8"/>
                      <a:pt x="49" y="8"/>
                    </a:cubicBezTo>
                    <a:cubicBezTo>
                      <a:pt x="64" y="8"/>
                      <a:pt x="65" y="10"/>
                      <a:pt x="67" y="16"/>
                    </a:cubicBezTo>
                    <a:lnTo>
                      <a:pt x="96" y="84"/>
                    </a:lnTo>
                    <a:lnTo>
                      <a:pt x="45" y="139"/>
                    </a:lnTo>
                    <a:lnTo>
                      <a:pt x="42" y="142"/>
                    </a:lnTo>
                    <a:cubicBezTo>
                      <a:pt x="29" y="155"/>
                      <a:pt x="18" y="159"/>
                      <a:pt x="5" y="159"/>
                    </a:cubicBezTo>
                    <a:cubicBezTo>
                      <a:pt x="2" y="159"/>
                      <a:pt x="0" y="159"/>
                      <a:pt x="0" y="164"/>
                    </a:cubicBezTo>
                    <a:cubicBezTo>
                      <a:pt x="0" y="164"/>
                      <a:pt x="0" y="167"/>
                      <a:pt x="4" y="167"/>
                    </a:cubicBezTo>
                    <a:cubicBezTo>
                      <a:pt x="11" y="167"/>
                      <a:pt x="19" y="167"/>
                      <a:pt x="26" y="167"/>
                    </a:cubicBezTo>
                    <a:cubicBezTo>
                      <a:pt x="35" y="167"/>
                      <a:pt x="46" y="167"/>
                      <a:pt x="53" y="167"/>
                    </a:cubicBezTo>
                    <a:cubicBezTo>
                      <a:pt x="55" y="167"/>
                      <a:pt x="57" y="167"/>
                      <a:pt x="57" y="162"/>
                    </a:cubicBezTo>
                    <a:cubicBezTo>
                      <a:pt x="57" y="159"/>
                      <a:pt x="56" y="159"/>
                      <a:pt x="55" y="159"/>
                    </a:cubicBezTo>
                    <a:cubicBezTo>
                      <a:pt x="53" y="159"/>
                      <a:pt x="46" y="159"/>
                      <a:pt x="46" y="151"/>
                    </a:cubicBezTo>
                    <a:cubicBezTo>
                      <a:pt x="46" y="148"/>
                      <a:pt x="49" y="144"/>
                      <a:pt x="51" y="141"/>
                    </a:cubicBezTo>
                    <a:lnTo>
                      <a:pt x="77" y="114"/>
                    </a:lnTo>
                    <a:lnTo>
                      <a:pt x="98" y="90"/>
                    </a:lnTo>
                    <a:lnTo>
                      <a:pt x="123" y="149"/>
                    </a:lnTo>
                    <a:cubicBezTo>
                      <a:pt x="125" y="151"/>
                      <a:pt x="125" y="151"/>
                      <a:pt x="125" y="152"/>
                    </a:cubicBezTo>
                    <a:cubicBezTo>
                      <a:pt x="125" y="154"/>
                      <a:pt x="119" y="159"/>
                      <a:pt x="111" y="159"/>
                    </a:cubicBezTo>
                    <a:cubicBezTo>
                      <a:pt x="108" y="159"/>
                      <a:pt x="105" y="159"/>
                      <a:pt x="105" y="164"/>
                    </a:cubicBezTo>
                    <a:cubicBezTo>
                      <a:pt x="105" y="167"/>
                      <a:pt x="108" y="167"/>
                      <a:pt x="109" y="167"/>
                    </a:cubicBezTo>
                    <a:cubicBezTo>
                      <a:pt x="116" y="167"/>
                      <a:pt x="134" y="167"/>
                      <a:pt x="139" y="167"/>
                    </a:cubicBezTo>
                    <a:cubicBezTo>
                      <a:pt x="147" y="167"/>
                      <a:pt x="160" y="167"/>
                      <a:pt x="167" y="167"/>
                    </a:cubicBezTo>
                    <a:cubicBezTo>
                      <a:pt x="169" y="167"/>
                      <a:pt x="172" y="167"/>
                      <a:pt x="172" y="163"/>
                    </a:cubicBezTo>
                    <a:cubicBezTo>
                      <a:pt x="172" y="159"/>
                      <a:pt x="170" y="159"/>
                      <a:pt x="167" y="159"/>
                    </a:cubicBezTo>
                    <a:cubicBezTo>
                      <a:pt x="151" y="159"/>
                      <a:pt x="150" y="159"/>
                      <a:pt x="147" y="149"/>
                    </a:cubicBezTo>
                    <a:cubicBezTo>
                      <a:pt x="137" y="126"/>
                      <a:pt x="120" y="88"/>
                      <a:pt x="115" y="73"/>
                    </a:cubicBezTo>
                    <a:cubicBezTo>
                      <a:pt x="132" y="57"/>
                      <a:pt x="157" y="27"/>
                      <a:pt x="165" y="20"/>
                    </a:cubicBezTo>
                    <a:cubicBezTo>
                      <a:pt x="172" y="15"/>
                      <a:pt x="181" y="9"/>
                      <a:pt x="196" y="8"/>
                    </a:cubicBezTo>
                    <a:cubicBezTo>
                      <a:pt x="199" y="7"/>
                      <a:pt x="202" y="7"/>
                      <a:pt x="202" y="3"/>
                    </a:cubicBezTo>
                    <a:cubicBezTo>
                      <a:pt x="202" y="2"/>
                      <a:pt x="202" y="0"/>
                      <a:pt x="199" y="0"/>
                    </a:cubicBezTo>
                    <a:cubicBezTo>
                      <a:pt x="190" y="0"/>
                      <a:pt x="183" y="1"/>
                      <a:pt x="175" y="1"/>
                    </a:cubicBezTo>
                    <a:cubicBezTo>
                      <a:pt x="167" y="1"/>
                      <a:pt x="157" y="0"/>
                      <a:pt x="148" y="0"/>
                    </a:cubicBezTo>
                    <a:cubicBezTo>
                      <a:pt x="147" y="0"/>
                      <a:pt x="143" y="0"/>
                      <a:pt x="143" y="5"/>
                    </a:cubicBezTo>
                    <a:cubicBezTo>
                      <a:pt x="143" y="6"/>
                      <a:pt x="145" y="7"/>
                      <a:pt x="147" y="8"/>
                    </a:cubicBezTo>
                    <a:cubicBezTo>
                      <a:pt x="149" y="8"/>
                      <a:pt x="157" y="9"/>
                      <a:pt x="157" y="16"/>
                    </a:cubicBezTo>
                    <a:cubicBezTo>
                      <a:pt x="157" y="20"/>
                      <a:pt x="153" y="22"/>
                      <a:pt x="151" y="24"/>
                    </a:cubicBezTo>
                    <a:lnTo>
                      <a:pt x="112" y="67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445" name="Freeform 107"/>
              <p:cNvSpPr/>
              <p:nvPr/>
            </p:nvSpPr>
            <p:spPr>
              <a:xfrm>
                <a:off x="1936080" y="1753560"/>
                <a:ext cx="27720" cy="41040"/>
              </a:xfrm>
              <a:custGeom>
                <a:avLst/>
                <a:gdLst/>
                <a:ahLst/>
                <a:cxnLst/>
                <a:rect l="0" t="0" r="r" b="b"/>
                <a:pathLst>
                  <a:path w="77" h="114">
                    <a:moveTo>
                      <a:pt x="76" y="82"/>
                    </a:moveTo>
                    <a:lnTo>
                      <a:pt x="70" y="82"/>
                    </a:lnTo>
                    <a:cubicBezTo>
                      <a:pt x="69" y="86"/>
                      <a:pt x="68" y="97"/>
                      <a:pt x="65" y="98"/>
                    </a:cubicBezTo>
                    <a:cubicBezTo>
                      <a:pt x="64" y="98"/>
                      <a:pt x="50" y="98"/>
                      <a:pt x="49" y="98"/>
                    </a:cubicBezTo>
                    <a:lnTo>
                      <a:pt x="17" y="98"/>
                    </a:lnTo>
                    <a:cubicBezTo>
                      <a:pt x="35" y="83"/>
                      <a:pt x="42" y="79"/>
                      <a:pt x="51" y="71"/>
                    </a:cubicBezTo>
                    <a:cubicBezTo>
                      <a:pt x="64" y="60"/>
                      <a:pt x="76" y="50"/>
                      <a:pt x="76" y="33"/>
                    </a:cubicBezTo>
                    <a:cubicBezTo>
                      <a:pt x="76" y="13"/>
                      <a:pt x="57" y="0"/>
                      <a:pt x="36" y="0"/>
                    </a:cubicBezTo>
                    <a:cubicBezTo>
                      <a:pt x="15" y="0"/>
                      <a:pt x="0" y="16"/>
                      <a:pt x="0" y="31"/>
                    </a:cubicBezTo>
                    <a:cubicBezTo>
                      <a:pt x="0" y="39"/>
                      <a:pt x="7" y="41"/>
                      <a:pt x="9" y="41"/>
                    </a:cubicBezTo>
                    <a:cubicBezTo>
                      <a:pt x="13" y="41"/>
                      <a:pt x="19" y="37"/>
                      <a:pt x="19" y="31"/>
                    </a:cubicBezTo>
                    <a:cubicBezTo>
                      <a:pt x="19" y="28"/>
                      <a:pt x="17" y="23"/>
                      <a:pt x="9" y="23"/>
                    </a:cubicBezTo>
                    <a:cubicBezTo>
                      <a:pt x="13" y="10"/>
                      <a:pt x="25" y="5"/>
                      <a:pt x="33" y="5"/>
                    </a:cubicBezTo>
                    <a:cubicBezTo>
                      <a:pt x="50" y="5"/>
                      <a:pt x="59" y="20"/>
                      <a:pt x="59" y="33"/>
                    </a:cubicBezTo>
                    <a:cubicBezTo>
                      <a:pt x="59" y="48"/>
                      <a:pt x="49" y="60"/>
                      <a:pt x="43" y="67"/>
                    </a:cubicBezTo>
                    <a:lnTo>
                      <a:pt x="2" y="108"/>
                    </a:lnTo>
                    <a:cubicBezTo>
                      <a:pt x="0" y="108"/>
                      <a:pt x="0" y="108"/>
                      <a:pt x="0" y="113"/>
                    </a:cubicBezTo>
                    <a:lnTo>
                      <a:pt x="71" y="113"/>
                    </a:lnTo>
                    <a:lnTo>
                      <a:pt x="76" y="82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446" name="Freeform 108"/>
              <p:cNvSpPr/>
              <p:nvPr/>
            </p:nvSpPr>
            <p:spPr>
              <a:xfrm>
                <a:off x="1928160" y="1813680"/>
                <a:ext cx="21240" cy="39240"/>
              </a:xfrm>
              <a:custGeom>
                <a:avLst/>
                <a:gdLst/>
                <a:ahLst/>
                <a:cxnLst/>
                <a:rect l="0" t="0" r="r" b="b"/>
                <a:pathLst>
                  <a:path w="59" h="109">
                    <a:moveTo>
                      <a:pt x="35" y="39"/>
                    </a:moveTo>
                    <a:lnTo>
                      <a:pt x="53" y="39"/>
                    </a:lnTo>
                    <a:cubicBezTo>
                      <a:pt x="57" y="39"/>
                      <a:pt x="58" y="39"/>
                      <a:pt x="58" y="36"/>
                    </a:cubicBezTo>
                    <a:cubicBezTo>
                      <a:pt x="58" y="33"/>
                      <a:pt x="57" y="33"/>
                      <a:pt x="53" y="33"/>
                    </a:cubicBezTo>
                    <a:lnTo>
                      <a:pt x="36" y="33"/>
                    </a:lnTo>
                    <a:lnTo>
                      <a:pt x="43" y="8"/>
                    </a:lnTo>
                    <a:cubicBezTo>
                      <a:pt x="43" y="7"/>
                      <a:pt x="44" y="5"/>
                      <a:pt x="44" y="5"/>
                    </a:cubicBezTo>
                    <a:cubicBezTo>
                      <a:pt x="44" y="2"/>
                      <a:pt x="42" y="0"/>
                      <a:pt x="37" y="0"/>
                    </a:cubicBezTo>
                    <a:cubicBezTo>
                      <a:pt x="33" y="0"/>
                      <a:pt x="31" y="3"/>
                      <a:pt x="29" y="7"/>
                    </a:cubicBezTo>
                    <a:cubicBezTo>
                      <a:pt x="28" y="11"/>
                      <a:pt x="31" y="4"/>
                      <a:pt x="24" y="33"/>
                    </a:cubicBezTo>
                    <a:lnTo>
                      <a:pt x="5" y="33"/>
                    </a:lnTo>
                    <a:cubicBezTo>
                      <a:pt x="2" y="33"/>
                      <a:pt x="0" y="33"/>
                      <a:pt x="0" y="37"/>
                    </a:cubicBezTo>
                    <a:cubicBezTo>
                      <a:pt x="0" y="39"/>
                      <a:pt x="2" y="39"/>
                      <a:pt x="5" y="39"/>
                    </a:cubicBezTo>
                    <a:lnTo>
                      <a:pt x="22" y="39"/>
                    </a:lnTo>
                    <a:lnTo>
                      <a:pt x="11" y="80"/>
                    </a:lnTo>
                    <a:cubicBezTo>
                      <a:pt x="11" y="85"/>
                      <a:pt x="9" y="90"/>
                      <a:pt x="9" y="93"/>
                    </a:cubicBezTo>
                    <a:cubicBezTo>
                      <a:pt x="9" y="103"/>
                      <a:pt x="17" y="108"/>
                      <a:pt x="27" y="108"/>
                    </a:cubicBezTo>
                    <a:cubicBezTo>
                      <a:pt x="46" y="108"/>
                      <a:pt x="57" y="85"/>
                      <a:pt x="57" y="82"/>
                    </a:cubicBezTo>
                    <a:cubicBezTo>
                      <a:pt x="57" y="81"/>
                      <a:pt x="55" y="81"/>
                      <a:pt x="55" y="81"/>
                    </a:cubicBezTo>
                    <a:cubicBezTo>
                      <a:pt x="52" y="81"/>
                      <a:pt x="52" y="81"/>
                      <a:pt x="50" y="84"/>
                    </a:cubicBezTo>
                    <a:cubicBezTo>
                      <a:pt x="46" y="94"/>
                      <a:pt x="37" y="104"/>
                      <a:pt x="27" y="104"/>
                    </a:cubicBezTo>
                    <a:cubicBezTo>
                      <a:pt x="24" y="104"/>
                      <a:pt x="22" y="102"/>
                      <a:pt x="22" y="95"/>
                    </a:cubicBezTo>
                    <a:cubicBezTo>
                      <a:pt x="22" y="94"/>
                      <a:pt x="23" y="90"/>
                      <a:pt x="23" y="88"/>
                    </a:cubicBezTo>
                    <a:lnTo>
                      <a:pt x="35" y="39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447" name="Freeform 109"/>
              <p:cNvSpPr/>
              <p:nvPr/>
            </p:nvSpPr>
            <p:spPr>
              <a:xfrm>
                <a:off x="1958400" y="1835280"/>
                <a:ext cx="42120" cy="3600"/>
              </a:xfrm>
              <a:custGeom>
                <a:avLst/>
                <a:gdLst/>
                <a:ahLst/>
                <a:cxnLst/>
                <a:rect l="0" t="0" r="r" b="b"/>
                <a:pathLst>
                  <a:path w="117" h="10">
                    <a:moveTo>
                      <a:pt x="109" y="9"/>
                    </a:moveTo>
                    <a:cubicBezTo>
                      <a:pt x="112" y="9"/>
                      <a:pt x="116" y="9"/>
                      <a:pt x="116" y="5"/>
                    </a:cubicBezTo>
                    <a:cubicBezTo>
                      <a:pt x="116" y="0"/>
                      <a:pt x="112" y="0"/>
                      <a:pt x="109" y="0"/>
                    </a:cubicBezTo>
                    <a:lnTo>
                      <a:pt x="6" y="0"/>
                    </a:lnTo>
                    <a:cubicBezTo>
                      <a:pt x="4" y="0"/>
                      <a:pt x="0" y="0"/>
                      <a:pt x="0" y="5"/>
                    </a:cubicBezTo>
                    <a:cubicBezTo>
                      <a:pt x="0" y="9"/>
                      <a:pt x="4" y="9"/>
                      <a:pt x="6" y="9"/>
                    </a:cubicBezTo>
                    <a:lnTo>
                      <a:pt x="109" y="9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448" name="Freeform 110"/>
              <p:cNvSpPr/>
              <p:nvPr/>
            </p:nvSpPr>
            <p:spPr>
              <a:xfrm>
                <a:off x="2013120" y="1811160"/>
                <a:ext cx="23400" cy="41040"/>
              </a:xfrm>
              <a:custGeom>
                <a:avLst/>
                <a:gdLst/>
                <a:ahLst/>
                <a:cxnLst/>
                <a:rect l="0" t="0" r="r" b="b"/>
                <a:pathLst>
                  <a:path w="65" h="114">
                    <a:moveTo>
                      <a:pt x="38" y="5"/>
                    </a:moveTo>
                    <a:cubicBezTo>
                      <a:pt x="38" y="0"/>
                      <a:pt x="38" y="0"/>
                      <a:pt x="34" y="0"/>
                    </a:cubicBezTo>
                    <a:cubicBezTo>
                      <a:pt x="23" y="11"/>
                      <a:pt x="7" y="11"/>
                      <a:pt x="0" y="11"/>
                    </a:cubicBezTo>
                    <a:lnTo>
                      <a:pt x="0" y="17"/>
                    </a:lnTo>
                    <a:cubicBezTo>
                      <a:pt x="4" y="17"/>
                      <a:pt x="16" y="17"/>
                      <a:pt x="25" y="12"/>
                    </a:cubicBezTo>
                    <a:lnTo>
                      <a:pt x="25" y="99"/>
                    </a:lnTo>
                    <a:cubicBezTo>
                      <a:pt x="25" y="105"/>
                      <a:pt x="25" y="108"/>
                      <a:pt x="8" y="108"/>
                    </a:cubicBezTo>
                    <a:lnTo>
                      <a:pt x="2" y="108"/>
                    </a:lnTo>
                    <a:lnTo>
                      <a:pt x="2" y="113"/>
                    </a:lnTo>
                    <a:cubicBezTo>
                      <a:pt x="5" y="113"/>
                      <a:pt x="26" y="112"/>
                      <a:pt x="32" y="112"/>
                    </a:cubicBezTo>
                    <a:cubicBezTo>
                      <a:pt x="37" y="112"/>
                      <a:pt x="59" y="113"/>
                      <a:pt x="64" y="113"/>
                    </a:cubicBezTo>
                    <a:lnTo>
                      <a:pt x="64" y="108"/>
                    </a:lnTo>
                    <a:lnTo>
                      <a:pt x="57" y="108"/>
                    </a:lnTo>
                    <a:cubicBezTo>
                      <a:pt x="38" y="108"/>
                      <a:pt x="38" y="105"/>
                      <a:pt x="38" y="99"/>
                    </a:cubicBezTo>
                    <a:lnTo>
                      <a:pt x="38" y="5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</p:grpSp>
        <p:grpSp>
          <p:nvGrpSpPr>
            <p:cNvPr id="449" name="Group 111"/>
            <p:cNvGrpSpPr/>
            <p:nvPr/>
          </p:nvGrpSpPr>
          <p:grpSpPr>
            <a:xfrm>
              <a:off x="1863000" y="1312920"/>
              <a:ext cx="166320" cy="99360"/>
              <a:chOff x="1863000" y="1312920"/>
              <a:chExt cx="166320" cy="99360"/>
            </a:xfrm>
          </p:grpSpPr>
          <p:sp>
            <p:nvSpPr>
              <p:cNvPr id="450" name="Freeform 112"/>
              <p:cNvSpPr/>
              <p:nvPr/>
            </p:nvSpPr>
            <p:spPr>
              <a:xfrm>
                <a:off x="1863000" y="1329840"/>
                <a:ext cx="59040" cy="60480"/>
              </a:xfrm>
              <a:custGeom>
                <a:avLst/>
                <a:gdLst/>
                <a:ahLst/>
                <a:cxnLst/>
                <a:rect l="0" t="0" r="r" b="b"/>
                <a:pathLst>
                  <a:path w="164" h="168">
                    <a:moveTo>
                      <a:pt x="162" y="5"/>
                    </a:moveTo>
                    <a:cubicBezTo>
                      <a:pt x="162" y="5"/>
                      <a:pt x="163" y="4"/>
                      <a:pt x="163" y="2"/>
                    </a:cubicBezTo>
                    <a:cubicBezTo>
                      <a:pt x="163" y="0"/>
                      <a:pt x="161" y="0"/>
                      <a:pt x="157" y="0"/>
                    </a:cubicBezTo>
                    <a:lnTo>
                      <a:pt x="53" y="0"/>
                    </a:lnTo>
                    <a:cubicBezTo>
                      <a:pt x="47" y="0"/>
                      <a:pt x="46" y="0"/>
                      <a:pt x="46" y="5"/>
                    </a:cubicBezTo>
                    <a:lnTo>
                      <a:pt x="33" y="49"/>
                    </a:lnTo>
                    <a:cubicBezTo>
                      <a:pt x="32" y="50"/>
                      <a:pt x="32" y="51"/>
                      <a:pt x="32" y="52"/>
                    </a:cubicBezTo>
                    <a:cubicBezTo>
                      <a:pt x="32" y="53"/>
                      <a:pt x="32" y="55"/>
                      <a:pt x="35" y="55"/>
                    </a:cubicBezTo>
                    <a:cubicBezTo>
                      <a:pt x="36" y="55"/>
                      <a:pt x="37" y="53"/>
                      <a:pt x="37" y="53"/>
                    </a:cubicBezTo>
                    <a:cubicBezTo>
                      <a:pt x="46" y="24"/>
                      <a:pt x="60" y="8"/>
                      <a:pt x="97" y="8"/>
                    </a:cubicBezTo>
                    <a:lnTo>
                      <a:pt x="138" y="8"/>
                    </a:lnTo>
                    <a:lnTo>
                      <a:pt x="2" y="159"/>
                    </a:lnTo>
                    <a:lnTo>
                      <a:pt x="0" y="164"/>
                    </a:lnTo>
                    <a:cubicBezTo>
                      <a:pt x="0" y="167"/>
                      <a:pt x="2" y="167"/>
                      <a:pt x="5" y="167"/>
                    </a:cubicBezTo>
                    <a:lnTo>
                      <a:pt x="112" y="167"/>
                    </a:lnTo>
                    <a:cubicBezTo>
                      <a:pt x="119" y="167"/>
                      <a:pt x="119" y="167"/>
                      <a:pt x="119" y="162"/>
                    </a:cubicBezTo>
                    <a:lnTo>
                      <a:pt x="138" y="108"/>
                    </a:lnTo>
                    <a:cubicBezTo>
                      <a:pt x="138" y="108"/>
                      <a:pt x="139" y="105"/>
                      <a:pt x="139" y="104"/>
                    </a:cubicBezTo>
                    <a:cubicBezTo>
                      <a:pt x="139" y="103"/>
                      <a:pt x="138" y="102"/>
                      <a:pt x="135" y="102"/>
                    </a:cubicBezTo>
                    <a:cubicBezTo>
                      <a:pt x="134" y="102"/>
                      <a:pt x="133" y="103"/>
                      <a:pt x="130" y="108"/>
                    </a:cubicBezTo>
                    <a:cubicBezTo>
                      <a:pt x="120" y="141"/>
                      <a:pt x="108" y="159"/>
                      <a:pt x="67" y="159"/>
                    </a:cubicBezTo>
                    <a:lnTo>
                      <a:pt x="25" y="159"/>
                    </a:lnTo>
                    <a:lnTo>
                      <a:pt x="162" y="5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451" name="Freeform 113"/>
              <p:cNvSpPr/>
              <p:nvPr/>
            </p:nvSpPr>
            <p:spPr>
              <a:xfrm>
                <a:off x="1928520" y="1312920"/>
                <a:ext cx="27720" cy="41040"/>
              </a:xfrm>
              <a:custGeom>
                <a:avLst/>
                <a:gdLst/>
                <a:ahLst/>
                <a:cxnLst/>
                <a:rect l="0" t="0" r="r" b="b"/>
                <a:pathLst>
                  <a:path w="77" h="114">
                    <a:moveTo>
                      <a:pt x="76" y="82"/>
                    </a:moveTo>
                    <a:lnTo>
                      <a:pt x="70" y="82"/>
                    </a:lnTo>
                    <a:cubicBezTo>
                      <a:pt x="69" y="86"/>
                      <a:pt x="68" y="97"/>
                      <a:pt x="65" y="98"/>
                    </a:cubicBezTo>
                    <a:cubicBezTo>
                      <a:pt x="64" y="98"/>
                      <a:pt x="50" y="98"/>
                      <a:pt x="49" y="98"/>
                    </a:cubicBezTo>
                    <a:lnTo>
                      <a:pt x="17" y="98"/>
                    </a:lnTo>
                    <a:cubicBezTo>
                      <a:pt x="35" y="83"/>
                      <a:pt x="42" y="79"/>
                      <a:pt x="51" y="71"/>
                    </a:cubicBezTo>
                    <a:cubicBezTo>
                      <a:pt x="64" y="60"/>
                      <a:pt x="76" y="50"/>
                      <a:pt x="76" y="33"/>
                    </a:cubicBezTo>
                    <a:cubicBezTo>
                      <a:pt x="76" y="13"/>
                      <a:pt x="57" y="0"/>
                      <a:pt x="36" y="0"/>
                    </a:cubicBezTo>
                    <a:cubicBezTo>
                      <a:pt x="15" y="0"/>
                      <a:pt x="0" y="16"/>
                      <a:pt x="0" y="31"/>
                    </a:cubicBezTo>
                    <a:cubicBezTo>
                      <a:pt x="0" y="39"/>
                      <a:pt x="7" y="41"/>
                      <a:pt x="9" y="41"/>
                    </a:cubicBezTo>
                    <a:cubicBezTo>
                      <a:pt x="13" y="41"/>
                      <a:pt x="19" y="37"/>
                      <a:pt x="19" y="31"/>
                    </a:cubicBezTo>
                    <a:cubicBezTo>
                      <a:pt x="19" y="28"/>
                      <a:pt x="17" y="23"/>
                      <a:pt x="9" y="23"/>
                    </a:cubicBezTo>
                    <a:cubicBezTo>
                      <a:pt x="13" y="10"/>
                      <a:pt x="25" y="5"/>
                      <a:pt x="33" y="5"/>
                    </a:cubicBezTo>
                    <a:cubicBezTo>
                      <a:pt x="50" y="5"/>
                      <a:pt x="59" y="20"/>
                      <a:pt x="59" y="33"/>
                    </a:cubicBezTo>
                    <a:cubicBezTo>
                      <a:pt x="59" y="48"/>
                      <a:pt x="49" y="60"/>
                      <a:pt x="43" y="67"/>
                    </a:cubicBezTo>
                    <a:lnTo>
                      <a:pt x="2" y="108"/>
                    </a:lnTo>
                    <a:cubicBezTo>
                      <a:pt x="0" y="108"/>
                      <a:pt x="0" y="108"/>
                      <a:pt x="0" y="113"/>
                    </a:cubicBezTo>
                    <a:lnTo>
                      <a:pt x="71" y="113"/>
                    </a:lnTo>
                    <a:lnTo>
                      <a:pt x="76" y="82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452" name="Freeform 114"/>
              <p:cNvSpPr/>
              <p:nvPr/>
            </p:nvSpPr>
            <p:spPr>
              <a:xfrm>
                <a:off x="1920600" y="1373400"/>
                <a:ext cx="21240" cy="39240"/>
              </a:xfrm>
              <a:custGeom>
                <a:avLst/>
                <a:gdLst/>
                <a:ahLst/>
                <a:cxnLst/>
                <a:rect l="0" t="0" r="r" b="b"/>
                <a:pathLst>
                  <a:path w="59" h="109">
                    <a:moveTo>
                      <a:pt x="35" y="39"/>
                    </a:moveTo>
                    <a:lnTo>
                      <a:pt x="53" y="39"/>
                    </a:lnTo>
                    <a:cubicBezTo>
                      <a:pt x="57" y="39"/>
                      <a:pt x="58" y="39"/>
                      <a:pt x="58" y="36"/>
                    </a:cubicBezTo>
                    <a:cubicBezTo>
                      <a:pt x="58" y="33"/>
                      <a:pt x="57" y="33"/>
                      <a:pt x="53" y="33"/>
                    </a:cubicBezTo>
                    <a:lnTo>
                      <a:pt x="36" y="33"/>
                    </a:lnTo>
                    <a:lnTo>
                      <a:pt x="43" y="8"/>
                    </a:lnTo>
                    <a:cubicBezTo>
                      <a:pt x="43" y="7"/>
                      <a:pt x="43" y="5"/>
                      <a:pt x="43" y="5"/>
                    </a:cubicBezTo>
                    <a:cubicBezTo>
                      <a:pt x="43" y="2"/>
                      <a:pt x="42" y="0"/>
                      <a:pt x="37" y="0"/>
                    </a:cubicBezTo>
                    <a:cubicBezTo>
                      <a:pt x="33" y="0"/>
                      <a:pt x="31" y="3"/>
                      <a:pt x="29" y="7"/>
                    </a:cubicBezTo>
                    <a:cubicBezTo>
                      <a:pt x="28" y="11"/>
                      <a:pt x="31" y="4"/>
                      <a:pt x="24" y="33"/>
                    </a:cubicBezTo>
                    <a:lnTo>
                      <a:pt x="5" y="33"/>
                    </a:lnTo>
                    <a:cubicBezTo>
                      <a:pt x="2" y="33"/>
                      <a:pt x="0" y="33"/>
                      <a:pt x="0" y="37"/>
                    </a:cubicBezTo>
                    <a:cubicBezTo>
                      <a:pt x="0" y="39"/>
                      <a:pt x="2" y="39"/>
                      <a:pt x="5" y="39"/>
                    </a:cubicBezTo>
                    <a:lnTo>
                      <a:pt x="22" y="39"/>
                    </a:lnTo>
                    <a:lnTo>
                      <a:pt x="11" y="80"/>
                    </a:lnTo>
                    <a:cubicBezTo>
                      <a:pt x="11" y="85"/>
                      <a:pt x="9" y="90"/>
                      <a:pt x="9" y="93"/>
                    </a:cubicBezTo>
                    <a:cubicBezTo>
                      <a:pt x="9" y="103"/>
                      <a:pt x="17" y="108"/>
                      <a:pt x="27" y="108"/>
                    </a:cubicBezTo>
                    <a:cubicBezTo>
                      <a:pt x="46" y="108"/>
                      <a:pt x="57" y="85"/>
                      <a:pt x="57" y="82"/>
                    </a:cubicBezTo>
                    <a:cubicBezTo>
                      <a:pt x="57" y="81"/>
                      <a:pt x="55" y="81"/>
                      <a:pt x="55" y="81"/>
                    </a:cubicBezTo>
                    <a:cubicBezTo>
                      <a:pt x="52" y="81"/>
                      <a:pt x="52" y="81"/>
                      <a:pt x="50" y="84"/>
                    </a:cubicBezTo>
                    <a:cubicBezTo>
                      <a:pt x="46" y="94"/>
                      <a:pt x="37" y="104"/>
                      <a:pt x="27" y="104"/>
                    </a:cubicBezTo>
                    <a:cubicBezTo>
                      <a:pt x="24" y="104"/>
                      <a:pt x="22" y="102"/>
                      <a:pt x="22" y="95"/>
                    </a:cubicBezTo>
                    <a:cubicBezTo>
                      <a:pt x="22" y="94"/>
                      <a:pt x="23" y="90"/>
                      <a:pt x="23" y="88"/>
                    </a:cubicBezTo>
                    <a:lnTo>
                      <a:pt x="35" y="39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453" name="Freeform 115"/>
              <p:cNvSpPr/>
              <p:nvPr/>
            </p:nvSpPr>
            <p:spPr>
              <a:xfrm>
                <a:off x="1951200" y="1394640"/>
                <a:ext cx="42120" cy="3600"/>
              </a:xfrm>
              <a:custGeom>
                <a:avLst/>
                <a:gdLst/>
                <a:ahLst/>
                <a:cxnLst/>
                <a:rect l="0" t="0" r="r" b="b"/>
                <a:pathLst>
                  <a:path w="117" h="10">
                    <a:moveTo>
                      <a:pt x="109" y="9"/>
                    </a:moveTo>
                    <a:cubicBezTo>
                      <a:pt x="112" y="9"/>
                      <a:pt x="116" y="9"/>
                      <a:pt x="116" y="5"/>
                    </a:cubicBezTo>
                    <a:cubicBezTo>
                      <a:pt x="116" y="0"/>
                      <a:pt x="112" y="0"/>
                      <a:pt x="109" y="0"/>
                    </a:cubicBezTo>
                    <a:lnTo>
                      <a:pt x="6" y="0"/>
                    </a:lnTo>
                    <a:cubicBezTo>
                      <a:pt x="4" y="0"/>
                      <a:pt x="0" y="0"/>
                      <a:pt x="0" y="5"/>
                    </a:cubicBezTo>
                    <a:cubicBezTo>
                      <a:pt x="0" y="9"/>
                      <a:pt x="4" y="9"/>
                      <a:pt x="6" y="9"/>
                    </a:cubicBezTo>
                    <a:lnTo>
                      <a:pt x="109" y="9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454" name="Freeform 116"/>
              <p:cNvSpPr/>
              <p:nvPr/>
            </p:nvSpPr>
            <p:spPr>
              <a:xfrm>
                <a:off x="2006280" y="1370520"/>
                <a:ext cx="23400" cy="41040"/>
              </a:xfrm>
              <a:custGeom>
                <a:avLst/>
                <a:gdLst/>
                <a:ahLst/>
                <a:cxnLst/>
                <a:rect l="0" t="0" r="r" b="b"/>
                <a:pathLst>
                  <a:path w="65" h="114">
                    <a:moveTo>
                      <a:pt x="38" y="5"/>
                    </a:moveTo>
                    <a:cubicBezTo>
                      <a:pt x="38" y="0"/>
                      <a:pt x="38" y="0"/>
                      <a:pt x="34" y="0"/>
                    </a:cubicBezTo>
                    <a:cubicBezTo>
                      <a:pt x="23" y="11"/>
                      <a:pt x="7" y="11"/>
                      <a:pt x="0" y="11"/>
                    </a:cubicBezTo>
                    <a:lnTo>
                      <a:pt x="0" y="17"/>
                    </a:lnTo>
                    <a:cubicBezTo>
                      <a:pt x="4" y="17"/>
                      <a:pt x="16" y="17"/>
                      <a:pt x="25" y="12"/>
                    </a:cubicBezTo>
                    <a:lnTo>
                      <a:pt x="25" y="99"/>
                    </a:lnTo>
                    <a:cubicBezTo>
                      <a:pt x="25" y="105"/>
                      <a:pt x="25" y="108"/>
                      <a:pt x="8" y="108"/>
                    </a:cubicBezTo>
                    <a:lnTo>
                      <a:pt x="2" y="108"/>
                    </a:lnTo>
                    <a:lnTo>
                      <a:pt x="2" y="113"/>
                    </a:lnTo>
                    <a:cubicBezTo>
                      <a:pt x="5" y="113"/>
                      <a:pt x="26" y="112"/>
                      <a:pt x="32" y="112"/>
                    </a:cubicBezTo>
                    <a:cubicBezTo>
                      <a:pt x="37" y="112"/>
                      <a:pt x="59" y="113"/>
                      <a:pt x="64" y="113"/>
                    </a:cubicBezTo>
                    <a:lnTo>
                      <a:pt x="64" y="108"/>
                    </a:lnTo>
                    <a:lnTo>
                      <a:pt x="57" y="108"/>
                    </a:lnTo>
                    <a:cubicBezTo>
                      <a:pt x="38" y="108"/>
                      <a:pt x="38" y="105"/>
                      <a:pt x="38" y="99"/>
                    </a:cubicBezTo>
                    <a:lnTo>
                      <a:pt x="38" y="5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</p:grpSp>
        <p:grpSp>
          <p:nvGrpSpPr>
            <p:cNvPr id="455" name="Group 117"/>
            <p:cNvGrpSpPr/>
            <p:nvPr/>
          </p:nvGrpSpPr>
          <p:grpSpPr>
            <a:xfrm>
              <a:off x="3210480" y="1753560"/>
              <a:ext cx="108360" cy="99000"/>
              <a:chOff x="3210480" y="1753560"/>
              <a:chExt cx="108360" cy="99000"/>
            </a:xfrm>
          </p:grpSpPr>
          <p:sp>
            <p:nvSpPr>
              <p:cNvPr id="456" name="Freeform 118"/>
              <p:cNvSpPr/>
              <p:nvPr/>
            </p:nvSpPr>
            <p:spPr>
              <a:xfrm>
                <a:off x="3210480" y="1770840"/>
                <a:ext cx="72720" cy="60480"/>
              </a:xfrm>
              <a:custGeom>
                <a:avLst/>
                <a:gdLst/>
                <a:ahLst/>
                <a:cxnLst/>
                <a:rect l="0" t="0" r="r" b="b"/>
                <a:pathLst>
                  <a:path w="202" h="168">
                    <a:moveTo>
                      <a:pt x="112" y="67"/>
                    </a:moveTo>
                    <a:lnTo>
                      <a:pt x="91" y="18"/>
                    </a:lnTo>
                    <a:cubicBezTo>
                      <a:pt x="90" y="16"/>
                      <a:pt x="90" y="16"/>
                      <a:pt x="90" y="15"/>
                    </a:cubicBezTo>
                    <a:cubicBezTo>
                      <a:pt x="90" y="13"/>
                      <a:pt x="94" y="9"/>
                      <a:pt x="105" y="8"/>
                    </a:cubicBezTo>
                    <a:cubicBezTo>
                      <a:pt x="108" y="7"/>
                      <a:pt x="109" y="7"/>
                      <a:pt x="109" y="3"/>
                    </a:cubicBezTo>
                    <a:cubicBezTo>
                      <a:pt x="109" y="0"/>
                      <a:pt x="107" y="0"/>
                      <a:pt x="106" y="0"/>
                    </a:cubicBezTo>
                    <a:cubicBezTo>
                      <a:pt x="96" y="0"/>
                      <a:pt x="86" y="1"/>
                      <a:pt x="75" y="1"/>
                    </a:cubicBezTo>
                    <a:cubicBezTo>
                      <a:pt x="68" y="1"/>
                      <a:pt x="54" y="0"/>
                      <a:pt x="47" y="0"/>
                    </a:cubicBezTo>
                    <a:cubicBezTo>
                      <a:pt x="46" y="0"/>
                      <a:pt x="43" y="0"/>
                      <a:pt x="43" y="5"/>
                    </a:cubicBezTo>
                    <a:cubicBezTo>
                      <a:pt x="43" y="8"/>
                      <a:pt x="46" y="8"/>
                      <a:pt x="49" y="8"/>
                    </a:cubicBezTo>
                    <a:cubicBezTo>
                      <a:pt x="64" y="8"/>
                      <a:pt x="65" y="10"/>
                      <a:pt x="67" y="16"/>
                    </a:cubicBezTo>
                    <a:lnTo>
                      <a:pt x="96" y="84"/>
                    </a:lnTo>
                    <a:lnTo>
                      <a:pt x="45" y="139"/>
                    </a:lnTo>
                    <a:lnTo>
                      <a:pt x="42" y="142"/>
                    </a:lnTo>
                    <a:cubicBezTo>
                      <a:pt x="29" y="155"/>
                      <a:pt x="18" y="159"/>
                      <a:pt x="5" y="159"/>
                    </a:cubicBezTo>
                    <a:cubicBezTo>
                      <a:pt x="2" y="159"/>
                      <a:pt x="0" y="159"/>
                      <a:pt x="0" y="164"/>
                    </a:cubicBezTo>
                    <a:cubicBezTo>
                      <a:pt x="0" y="164"/>
                      <a:pt x="0" y="167"/>
                      <a:pt x="4" y="167"/>
                    </a:cubicBezTo>
                    <a:cubicBezTo>
                      <a:pt x="11" y="167"/>
                      <a:pt x="19" y="167"/>
                      <a:pt x="26" y="167"/>
                    </a:cubicBezTo>
                    <a:cubicBezTo>
                      <a:pt x="35" y="167"/>
                      <a:pt x="46" y="167"/>
                      <a:pt x="53" y="167"/>
                    </a:cubicBezTo>
                    <a:cubicBezTo>
                      <a:pt x="55" y="167"/>
                      <a:pt x="57" y="167"/>
                      <a:pt x="57" y="162"/>
                    </a:cubicBezTo>
                    <a:cubicBezTo>
                      <a:pt x="57" y="159"/>
                      <a:pt x="56" y="159"/>
                      <a:pt x="55" y="159"/>
                    </a:cubicBezTo>
                    <a:cubicBezTo>
                      <a:pt x="53" y="159"/>
                      <a:pt x="46" y="159"/>
                      <a:pt x="46" y="151"/>
                    </a:cubicBezTo>
                    <a:cubicBezTo>
                      <a:pt x="46" y="148"/>
                      <a:pt x="49" y="144"/>
                      <a:pt x="51" y="141"/>
                    </a:cubicBezTo>
                    <a:lnTo>
                      <a:pt x="77" y="114"/>
                    </a:lnTo>
                    <a:lnTo>
                      <a:pt x="98" y="90"/>
                    </a:lnTo>
                    <a:lnTo>
                      <a:pt x="123" y="149"/>
                    </a:lnTo>
                    <a:cubicBezTo>
                      <a:pt x="125" y="151"/>
                      <a:pt x="125" y="151"/>
                      <a:pt x="125" y="152"/>
                    </a:cubicBezTo>
                    <a:cubicBezTo>
                      <a:pt x="125" y="154"/>
                      <a:pt x="119" y="159"/>
                      <a:pt x="111" y="159"/>
                    </a:cubicBezTo>
                    <a:cubicBezTo>
                      <a:pt x="108" y="159"/>
                      <a:pt x="105" y="159"/>
                      <a:pt x="105" y="164"/>
                    </a:cubicBezTo>
                    <a:cubicBezTo>
                      <a:pt x="105" y="167"/>
                      <a:pt x="108" y="167"/>
                      <a:pt x="109" y="167"/>
                    </a:cubicBezTo>
                    <a:cubicBezTo>
                      <a:pt x="116" y="167"/>
                      <a:pt x="134" y="167"/>
                      <a:pt x="139" y="167"/>
                    </a:cubicBezTo>
                    <a:cubicBezTo>
                      <a:pt x="146" y="167"/>
                      <a:pt x="160" y="167"/>
                      <a:pt x="167" y="167"/>
                    </a:cubicBezTo>
                    <a:cubicBezTo>
                      <a:pt x="169" y="167"/>
                      <a:pt x="172" y="167"/>
                      <a:pt x="172" y="163"/>
                    </a:cubicBezTo>
                    <a:cubicBezTo>
                      <a:pt x="172" y="159"/>
                      <a:pt x="170" y="159"/>
                      <a:pt x="167" y="159"/>
                    </a:cubicBezTo>
                    <a:cubicBezTo>
                      <a:pt x="151" y="159"/>
                      <a:pt x="149" y="159"/>
                      <a:pt x="147" y="149"/>
                    </a:cubicBezTo>
                    <a:cubicBezTo>
                      <a:pt x="137" y="126"/>
                      <a:pt x="120" y="88"/>
                      <a:pt x="115" y="73"/>
                    </a:cubicBezTo>
                    <a:cubicBezTo>
                      <a:pt x="131" y="57"/>
                      <a:pt x="157" y="27"/>
                      <a:pt x="165" y="20"/>
                    </a:cubicBezTo>
                    <a:cubicBezTo>
                      <a:pt x="172" y="15"/>
                      <a:pt x="181" y="9"/>
                      <a:pt x="196" y="8"/>
                    </a:cubicBezTo>
                    <a:cubicBezTo>
                      <a:pt x="199" y="7"/>
                      <a:pt x="201" y="7"/>
                      <a:pt x="201" y="3"/>
                    </a:cubicBezTo>
                    <a:cubicBezTo>
                      <a:pt x="201" y="2"/>
                      <a:pt x="201" y="0"/>
                      <a:pt x="199" y="0"/>
                    </a:cubicBezTo>
                    <a:cubicBezTo>
                      <a:pt x="190" y="0"/>
                      <a:pt x="183" y="1"/>
                      <a:pt x="175" y="1"/>
                    </a:cubicBezTo>
                    <a:cubicBezTo>
                      <a:pt x="167" y="1"/>
                      <a:pt x="157" y="0"/>
                      <a:pt x="148" y="0"/>
                    </a:cubicBezTo>
                    <a:cubicBezTo>
                      <a:pt x="147" y="0"/>
                      <a:pt x="143" y="0"/>
                      <a:pt x="143" y="5"/>
                    </a:cubicBezTo>
                    <a:cubicBezTo>
                      <a:pt x="143" y="6"/>
                      <a:pt x="145" y="7"/>
                      <a:pt x="147" y="8"/>
                    </a:cubicBezTo>
                    <a:cubicBezTo>
                      <a:pt x="149" y="8"/>
                      <a:pt x="157" y="9"/>
                      <a:pt x="157" y="16"/>
                    </a:cubicBezTo>
                    <a:cubicBezTo>
                      <a:pt x="157" y="20"/>
                      <a:pt x="153" y="22"/>
                      <a:pt x="151" y="24"/>
                    </a:cubicBezTo>
                    <a:lnTo>
                      <a:pt x="112" y="67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457" name="Freeform 119"/>
              <p:cNvSpPr/>
              <p:nvPr/>
            </p:nvSpPr>
            <p:spPr>
              <a:xfrm>
                <a:off x="3291480" y="1753560"/>
                <a:ext cx="27720" cy="41040"/>
              </a:xfrm>
              <a:custGeom>
                <a:avLst/>
                <a:gdLst/>
                <a:ahLst/>
                <a:cxnLst/>
                <a:rect l="0" t="0" r="r" b="b"/>
                <a:pathLst>
                  <a:path w="77" h="114">
                    <a:moveTo>
                      <a:pt x="76" y="82"/>
                    </a:moveTo>
                    <a:lnTo>
                      <a:pt x="70" y="82"/>
                    </a:lnTo>
                    <a:cubicBezTo>
                      <a:pt x="69" y="86"/>
                      <a:pt x="68" y="97"/>
                      <a:pt x="65" y="98"/>
                    </a:cubicBezTo>
                    <a:cubicBezTo>
                      <a:pt x="64" y="98"/>
                      <a:pt x="50" y="98"/>
                      <a:pt x="49" y="98"/>
                    </a:cubicBezTo>
                    <a:lnTo>
                      <a:pt x="17" y="98"/>
                    </a:lnTo>
                    <a:cubicBezTo>
                      <a:pt x="35" y="83"/>
                      <a:pt x="42" y="79"/>
                      <a:pt x="51" y="71"/>
                    </a:cubicBezTo>
                    <a:cubicBezTo>
                      <a:pt x="64" y="60"/>
                      <a:pt x="76" y="50"/>
                      <a:pt x="76" y="33"/>
                    </a:cubicBezTo>
                    <a:cubicBezTo>
                      <a:pt x="76" y="13"/>
                      <a:pt x="57" y="0"/>
                      <a:pt x="36" y="0"/>
                    </a:cubicBezTo>
                    <a:cubicBezTo>
                      <a:pt x="15" y="0"/>
                      <a:pt x="0" y="16"/>
                      <a:pt x="0" y="31"/>
                    </a:cubicBezTo>
                    <a:cubicBezTo>
                      <a:pt x="0" y="39"/>
                      <a:pt x="7" y="41"/>
                      <a:pt x="9" y="41"/>
                    </a:cubicBezTo>
                    <a:cubicBezTo>
                      <a:pt x="13" y="41"/>
                      <a:pt x="19" y="37"/>
                      <a:pt x="19" y="31"/>
                    </a:cubicBezTo>
                    <a:cubicBezTo>
                      <a:pt x="19" y="28"/>
                      <a:pt x="17" y="23"/>
                      <a:pt x="9" y="23"/>
                    </a:cubicBezTo>
                    <a:cubicBezTo>
                      <a:pt x="13" y="10"/>
                      <a:pt x="25" y="5"/>
                      <a:pt x="33" y="5"/>
                    </a:cubicBezTo>
                    <a:cubicBezTo>
                      <a:pt x="50" y="5"/>
                      <a:pt x="59" y="20"/>
                      <a:pt x="59" y="33"/>
                    </a:cubicBezTo>
                    <a:cubicBezTo>
                      <a:pt x="59" y="48"/>
                      <a:pt x="49" y="60"/>
                      <a:pt x="43" y="67"/>
                    </a:cubicBezTo>
                    <a:lnTo>
                      <a:pt x="2" y="108"/>
                    </a:lnTo>
                    <a:cubicBezTo>
                      <a:pt x="0" y="108"/>
                      <a:pt x="0" y="108"/>
                      <a:pt x="0" y="113"/>
                    </a:cubicBezTo>
                    <a:lnTo>
                      <a:pt x="71" y="113"/>
                    </a:lnTo>
                    <a:lnTo>
                      <a:pt x="76" y="82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458" name="Freeform 120"/>
              <p:cNvSpPr/>
              <p:nvPr/>
            </p:nvSpPr>
            <p:spPr>
              <a:xfrm>
                <a:off x="3283200" y="1813680"/>
                <a:ext cx="21240" cy="39240"/>
              </a:xfrm>
              <a:custGeom>
                <a:avLst/>
                <a:gdLst/>
                <a:ahLst/>
                <a:cxnLst/>
                <a:rect l="0" t="0" r="r" b="b"/>
                <a:pathLst>
                  <a:path w="59" h="109">
                    <a:moveTo>
                      <a:pt x="35" y="39"/>
                    </a:moveTo>
                    <a:lnTo>
                      <a:pt x="53" y="39"/>
                    </a:lnTo>
                    <a:cubicBezTo>
                      <a:pt x="57" y="39"/>
                      <a:pt x="58" y="39"/>
                      <a:pt x="58" y="36"/>
                    </a:cubicBezTo>
                    <a:cubicBezTo>
                      <a:pt x="58" y="33"/>
                      <a:pt x="57" y="33"/>
                      <a:pt x="53" y="33"/>
                    </a:cubicBezTo>
                    <a:lnTo>
                      <a:pt x="36" y="33"/>
                    </a:lnTo>
                    <a:lnTo>
                      <a:pt x="43" y="8"/>
                    </a:lnTo>
                    <a:cubicBezTo>
                      <a:pt x="43" y="7"/>
                      <a:pt x="43" y="5"/>
                      <a:pt x="43" y="5"/>
                    </a:cubicBezTo>
                    <a:cubicBezTo>
                      <a:pt x="43" y="2"/>
                      <a:pt x="42" y="0"/>
                      <a:pt x="37" y="0"/>
                    </a:cubicBezTo>
                    <a:cubicBezTo>
                      <a:pt x="33" y="0"/>
                      <a:pt x="31" y="3"/>
                      <a:pt x="29" y="7"/>
                    </a:cubicBezTo>
                    <a:cubicBezTo>
                      <a:pt x="28" y="11"/>
                      <a:pt x="31" y="4"/>
                      <a:pt x="24" y="33"/>
                    </a:cubicBezTo>
                    <a:lnTo>
                      <a:pt x="5" y="33"/>
                    </a:lnTo>
                    <a:cubicBezTo>
                      <a:pt x="2" y="33"/>
                      <a:pt x="0" y="33"/>
                      <a:pt x="0" y="37"/>
                    </a:cubicBezTo>
                    <a:cubicBezTo>
                      <a:pt x="0" y="39"/>
                      <a:pt x="2" y="39"/>
                      <a:pt x="5" y="39"/>
                    </a:cubicBezTo>
                    <a:lnTo>
                      <a:pt x="22" y="39"/>
                    </a:lnTo>
                    <a:lnTo>
                      <a:pt x="11" y="80"/>
                    </a:lnTo>
                    <a:cubicBezTo>
                      <a:pt x="11" y="85"/>
                      <a:pt x="9" y="90"/>
                      <a:pt x="9" y="93"/>
                    </a:cubicBezTo>
                    <a:cubicBezTo>
                      <a:pt x="9" y="103"/>
                      <a:pt x="17" y="108"/>
                      <a:pt x="27" y="108"/>
                    </a:cubicBezTo>
                    <a:cubicBezTo>
                      <a:pt x="46" y="108"/>
                      <a:pt x="57" y="85"/>
                      <a:pt x="57" y="82"/>
                    </a:cubicBezTo>
                    <a:cubicBezTo>
                      <a:pt x="57" y="81"/>
                      <a:pt x="55" y="81"/>
                      <a:pt x="55" y="81"/>
                    </a:cubicBezTo>
                    <a:cubicBezTo>
                      <a:pt x="52" y="81"/>
                      <a:pt x="52" y="81"/>
                      <a:pt x="50" y="84"/>
                    </a:cubicBezTo>
                    <a:cubicBezTo>
                      <a:pt x="46" y="94"/>
                      <a:pt x="37" y="104"/>
                      <a:pt x="27" y="104"/>
                    </a:cubicBezTo>
                    <a:cubicBezTo>
                      <a:pt x="24" y="104"/>
                      <a:pt x="22" y="102"/>
                      <a:pt x="22" y="95"/>
                    </a:cubicBezTo>
                    <a:cubicBezTo>
                      <a:pt x="22" y="94"/>
                      <a:pt x="23" y="90"/>
                      <a:pt x="23" y="88"/>
                    </a:cubicBezTo>
                    <a:lnTo>
                      <a:pt x="35" y="39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</p:grpSp>
        <p:grpSp>
          <p:nvGrpSpPr>
            <p:cNvPr id="459" name="Group 121"/>
            <p:cNvGrpSpPr/>
            <p:nvPr/>
          </p:nvGrpSpPr>
          <p:grpSpPr>
            <a:xfrm>
              <a:off x="3218400" y="1312920"/>
              <a:ext cx="92880" cy="99360"/>
              <a:chOff x="3218400" y="1312920"/>
              <a:chExt cx="92880" cy="99360"/>
            </a:xfrm>
          </p:grpSpPr>
          <p:sp>
            <p:nvSpPr>
              <p:cNvPr id="460" name="Freeform 122"/>
              <p:cNvSpPr/>
              <p:nvPr/>
            </p:nvSpPr>
            <p:spPr>
              <a:xfrm>
                <a:off x="3218400" y="1329840"/>
                <a:ext cx="59040" cy="60480"/>
              </a:xfrm>
              <a:custGeom>
                <a:avLst/>
                <a:gdLst/>
                <a:ahLst/>
                <a:cxnLst/>
                <a:rect l="0" t="0" r="r" b="b"/>
                <a:pathLst>
                  <a:path w="164" h="168">
                    <a:moveTo>
                      <a:pt x="162" y="5"/>
                    </a:moveTo>
                    <a:cubicBezTo>
                      <a:pt x="162" y="5"/>
                      <a:pt x="163" y="4"/>
                      <a:pt x="163" y="2"/>
                    </a:cubicBezTo>
                    <a:cubicBezTo>
                      <a:pt x="163" y="0"/>
                      <a:pt x="161" y="0"/>
                      <a:pt x="157" y="0"/>
                    </a:cubicBezTo>
                    <a:lnTo>
                      <a:pt x="53" y="0"/>
                    </a:lnTo>
                    <a:cubicBezTo>
                      <a:pt x="47" y="0"/>
                      <a:pt x="46" y="0"/>
                      <a:pt x="46" y="5"/>
                    </a:cubicBezTo>
                    <a:lnTo>
                      <a:pt x="33" y="49"/>
                    </a:lnTo>
                    <a:cubicBezTo>
                      <a:pt x="32" y="50"/>
                      <a:pt x="32" y="51"/>
                      <a:pt x="32" y="52"/>
                    </a:cubicBezTo>
                    <a:cubicBezTo>
                      <a:pt x="32" y="53"/>
                      <a:pt x="32" y="55"/>
                      <a:pt x="35" y="55"/>
                    </a:cubicBezTo>
                    <a:cubicBezTo>
                      <a:pt x="36" y="55"/>
                      <a:pt x="37" y="53"/>
                      <a:pt x="37" y="53"/>
                    </a:cubicBezTo>
                    <a:cubicBezTo>
                      <a:pt x="46" y="24"/>
                      <a:pt x="60" y="8"/>
                      <a:pt x="97" y="8"/>
                    </a:cubicBezTo>
                    <a:lnTo>
                      <a:pt x="138" y="8"/>
                    </a:lnTo>
                    <a:lnTo>
                      <a:pt x="2" y="159"/>
                    </a:lnTo>
                    <a:lnTo>
                      <a:pt x="0" y="164"/>
                    </a:lnTo>
                    <a:cubicBezTo>
                      <a:pt x="0" y="167"/>
                      <a:pt x="2" y="167"/>
                      <a:pt x="5" y="167"/>
                    </a:cubicBezTo>
                    <a:lnTo>
                      <a:pt x="112" y="167"/>
                    </a:lnTo>
                    <a:cubicBezTo>
                      <a:pt x="119" y="167"/>
                      <a:pt x="119" y="167"/>
                      <a:pt x="119" y="162"/>
                    </a:cubicBezTo>
                    <a:lnTo>
                      <a:pt x="138" y="108"/>
                    </a:lnTo>
                    <a:cubicBezTo>
                      <a:pt x="138" y="108"/>
                      <a:pt x="139" y="105"/>
                      <a:pt x="139" y="104"/>
                    </a:cubicBezTo>
                    <a:cubicBezTo>
                      <a:pt x="139" y="103"/>
                      <a:pt x="138" y="102"/>
                      <a:pt x="135" y="102"/>
                    </a:cubicBezTo>
                    <a:cubicBezTo>
                      <a:pt x="134" y="102"/>
                      <a:pt x="133" y="103"/>
                      <a:pt x="130" y="108"/>
                    </a:cubicBezTo>
                    <a:cubicBezTo>
                      <a:pt x="120" y="141"/>
                      <a:pt x="108" y="159"/>
                      <a:pt x="67" y="159"/>
                    </a:cubicBezTo>
                    <a:lnTo>
                      <a:pt x="25" y="159"/>
                    </a:lnTo>
                    <a:lnTo>
                      <a:pt x="162" y="5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461" name="Freeform 123"/>
              <p:cNvSpPr/>
              <p:nvPr/>
            </p:nvSpPr>
            <p:spPr>
              <a:xfrm>
                <a:off x="3283920" y="1312920"/>
                <a:ext cx="27720" cy="41040"/>
              </a:xfrm>
              <a:custGeom>
                <a:avLst/>
                <a:gdLst/>
                <a:ahLst/>
                <a:cxnLst/>
                <a:rect l="0" t="0" r="r" b="b"/>
                <a:pathLst>
                  <a:path w="77" h="114">
                    <a:moveTo>
                      <a:pt x="76" y="82"/>
                    </a:moveTo>
                    <a:lnTo>
                      <a:pt x="70" y="82"/>
                    </a:lnTo>
                    <a:cubicBezTo>
                      <a:pt x="69" y="86"/>
                      <a:pt x="68" y="97"/>
                      <a:pt x="65" y="98"/>
                    </a:cubicBezTo>
                    <a:cubicBezTo>
                      <a:pt x="64" y="98"/>
                      <a:pt x="50" y="98"/>
                      <a:pt x="49" y="98"/>
                    </a:cubicBezTo>
                    <a:lnTo>
                      <a:pt x="17" y="98"/>
                    </a:lnTo>
                    <a:cubicBezTo>
                      <a:pt x="35" y="83"/>
                      <a:pt x="42" y="79"/>
                      <a:pt x="51" y="71"/>
                    </a:cubicBezTo>
                    <a:cubicBezTo>
                      <a:pt x="64" y="60"/>
                      <a:pt x="76" y="50"/>
                      <a:pt x="76" y="33"/>
                    </a:cubicBezTo>
                    <a:cubicBezTo>
                      <a:pt x="76" y="13"/>
                      <a:pt x="57" y="0"/>
                      <a:pt x="36" y="0"/>
                    </a:cubicBezTo>
                    <a:cubicBezTo>
                      <a:pt x="15" y="0"/>
                      <a:pt x="0" y="16"/>
                      <a:pt x="0" y="31"/>
                    </a:cubicBezTo>
                    <a:cubicBezTo>
                      <a:pt x="0" y="39"/>
                      <a:pt x="7" y="41"/>
                      <a:pt x="9" y="41"/>
                    </a:cubicBezTo>
                    <a:cubicBezTo>
                      <a:pt x="13" y="41"/>
                      <a:pt x="19" y="37"/>
                      <a:pt x="19" y="31"/>
                    </a:cubicBezTo>
                    <a:cubicBezTo>
                      <a:pt x="19" y="28"/>
                      <a:pt x="17" y="23"/>
                      <a:pt x="9" y="23"/>
                    </a:cubicBezTo>
                    <a:cubicBezTo>
                      <a:pt x="13" y="10"/>
                      <a:pt x="25" y="5"/>
                      <a:pt x="33" y="5"/>
                    </a:cubicBezTo>
                    <a:cubicBezTo>
                      <a:pt x="50" y="5"/>
                      <a:pt x="59" y="20"/>
                      <a:pt x="59" y="33"/>
                    </a:cubicBezTo>
                    <a:cubicBezTo>
                      <a:pt x="59" y="48"/>
                      <a:pt x="49" y="60"/>
                      <a:pt x="43" y="67"/>
                    </a:cubicBezTo>
                    <a:lnTo>
                      <a:pt x="2" y="108"/>
                    </a:lnTo>
                    <a:cubicBezTo>
                      <a:pt x="0" y="108"/>
                      <a:pt x="0" y="108"/>
                      <a:pt x="0" y="113"/>
                    </a:cubicBezTo>
                    <a:lnTo>
                      <a:pt x="71" y="113"/>
                    </a:lnTo>
                    <a:lnTo>
                      <a:pt x="76" y="82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462" name="Freeform 124"/>
              <p:cNvSpPr/>
              <p:nvPr/>
            </p:nvSpPr>
            <p:spPr>
              <a:xfrm>
                <a:off x="3276000" y="1373400"/>
                <a:ext cx="21240" cy="39240"/>
              </a:xfrm>
              <a:custGeom>
                <a:avLst/>
                <a:gdLst/>
                <a:ahLst/>
                <a:cxnLst/>
                <a:rect l="0" t="0" r="r" b="b"/>
                <a:pathLst>
                  <a:path w="59" h="109">
                    <a:moveTo>
                      <a:pt x="35" y="39"/>
                    </a:moveTo>
                    <a:lnTo>
                      <a:pt x="53" y="39"/>
                    </a:lnTo>
                    <a:cubicBezTo>
                      <a:pt x="57" y="39"/>
                      <a:pt x="58" y="39"/>
                      <a:pt x="58" y="36"/>
                    </a:cubicBezTo>
                    <a:cubicBezTo>
                      <a:pt x="58" y="33"/>
                      <a:pt x="57" y="33"/>
                      <a:pt x="53" y="33"/>
                    </a:cubicBezTo>
                    <a:lnTo>
                      <a:pt x="36" y="33"/>
                    </a:lnTo>
                    <a:lnTo>
                      <a:pt x="43" y="8"/>
                    </a:lnTo>
                    <a:cubicBezTo>
                      <a:pt x="43" y="7"/>
                      <a:pt x="43" y="5"/>
                      <a:pt x="43" y="5"/>
                    </a:cubicBezTo>
                    <a:cubicBezTo>
                      <a:pt x="43" y="2"/>
                      <a:pt x="42" y="0"/>
                      <a:pt x="37" y="0"/>
                    </a:cubicBezTo>
                    <a:cubicBezTo>
                      <a:pt x="33" y="0"/>
                      <a:pt x="31" y="3"/>
                      <a:pt x="29" y="7"/>
                    </a:cubicBezTo>
                    <a:cubicBezTo>
                      <a:pt x="28" y="11"/>
                      <a:pt x="31" y="4"/>
                      <a:pt x="24" y="33"/>
                    </a:cubicBezTo>
                    <a:lnTo>
                      <a:pt x="5" y="33"/>
                    </a:lnTo>
                    <a:cubicBezTo>
                      <a:pt x="2" y="33"/>
                      <a:pt x="0" y="33"/>
                      <a:pt x="0" y="37"/>
                    </a:cubicBezTo>
                    <a:cubicBezTo>
                      <a:pt x="0" y="39"/>
                      <a:pt x="2" y="39"/>
                      <a:pt x="5" y="39"/>
                    </a:cubicBezTo>
                    <a:lnTo>
                      <a:pt x="22" y="39"/>
                    </a:lnTo>
                    <a:lnTo>
                      <a:pt x="11" y="80"/>
                    </a:lnTo>
                    <a:cubicBezTo>
                      <a:pt x="11" y="85"/>
                      <a:pt x="9" y="90"/>
                      <a:pt x="9" y="93"/>
                    </a:cubicBezTo>
                    <a:cubicBezTo>
                      <a:pt x="9" y="103"/>
                      <a:pt x="17" y="108"/>
                      <a:pt x="27" y="108"/>
                    </a:cubicBezTo>
                    <a:cubicBezTo>
                      <a:pt x="46" y="108"/>
                      <a:pt x="57" y="85"/>
                      <a:pt x="57" y="82"/>
                    </a:cubicBezTo>
                    <a:cubicBezTo>
                      <a:pt x="57" y="81"/>
                      <a:pt x="55" y="81"/>
                      <a:pt x="55" y="81"/>
                    </a:cubicBezTo>
                    <a:cubicBezTo>
                      <a:pt x="52" y="81"/>
                      <a:pt x="52" y="81"/>
                      <a:pt x="50" y="84"/>
                    </a:cubicBezTo>
                    <a:cubicBezTo>
                      <a:pt x="46" y="94"/>
                      <a:pt x="37" y="104"/>
                      <a:pt x="27" y="104"/>
                    </a:cubicBezTo>
                    <a:cubicBezTo>
                      <a:pt x="24" y="104"/>
                      <a:pt x="22" y="102"/>
                      <a:pt x="22" y="95"/>
                    </a:cubicBezTo>
                    <a:cubicBezTo>
                      <a:pt x="22" y="94"/>
                      <a:pt x="23" y="90"/>
                      <a:pt x="23" y="88"/>
                    </a:cubicBezTo>
                    <a:lnTo>
                      <a:pt x="35" y="39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</p:grpSp>
        <p:sp>
          <p:nvSpPr>
            <p:cNvPr id="463" name="CustomShape 125"/>
            <p:cNvSpPr/>
            <p:nvPr/>
          </p:nvSpPr>
          <p:spPr>
            <a:xfrm>
              <a:off x="2169720" y="2512080"/>
              <a:ext cx="267120" cy="238680"/>
            </a:xfrm>
            <a:prstGeom prst="ellipse">
              <a:avLst/>
            </a:prstGeom>
            <a:solidFill>
              <a:srgbClr val="BEE3D3"/>
            </a:solidFill>
            <a:ln w="90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64" name="CustomShape 126"/>
            <p:cNvSpPr/>
            <p:nvPr/>
          </p:nvSpPr>
          <p:spPr>
            <a:xfrm>
              <a:off x="2768040" y="2512440"/>
              <a:ext cx="267480" cy="238320"/>
            </a:xfrm>
            <a:prstGeom prst="ellipse">
              <a:avLst/>
            </a:prstGeom>
            <a:solidFill>
              <a:srgbClr val="BEE3D3"/>
            </a:solidFill>
            <a:ln w="90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cxnSp>
          <p:nvCxnSpPr>
            <p:cNvPr id="465" name="Line 127"/>
            <p:cNvCxnSpPr>
              <a:stCxn id="463" idx="3"/>
              <a:endCxn id="373" idx="0"/>
            </p:cNvCxnSpPr>
            <p:nvPr/>
          </p:nvCxnSpPr>
          <p:spPr>
            <a:xfrm flipH="1">
              <a:off x="1946160" y="2715840"/>
              <a:ext cx="262800" cy="189000"/>
            </a:xfrm>
            <a:prstGeom prst="straightConnector1">
              <a:avLst/>
            </a:prstGeom>
            <a:ln w="9000">
              <a:solidFill>
                <a:srgbClr val="000000"/>
              </a:solidFill>
              <a:round/>
              <a:tailEnd type="triangle" w="med" len="med"/>
            </a:ln>
          </p:spPr>
        </p:cxnSp>
        <p:cxnSp>
          <p:nvCxnSpPr>
            <p:cNvPr id="466" name="Line 128"/>
            <p:cNvCxnSpPr>
              <a:stCxn id="463" idx="1"/>
              <a:endCxn id="433" idx="4"/>
            </p:cNvCxnSpPr>
            <p:nvPr/>
          </p:nvCxnSpPr>
          <p:spPr>
            <a:xfrm flipH="1" flipV="1">
              <a:off x="1945440" y="2378160"/>
              <a:ext cx="263520" cy="169200"/>
            </a:xfrm>
            <a:prstGeom prst="straightConnector1">
              <a:avLst/>
            </a:prstGeom>
            <a:ln w="9000">
              <a:solidFill>
                <a:srgbClr val="000000"/>
              </a:solidFill>
              <a:round/>
              <a:tailEnd type="triangle" w="med" len="med"/>
            </a:ln>
          </p:spPr>
        </p:cxnSp>
        <p:cxnSp>
          <p:nvCxnSpPr>
            <p:cNvPr id="467" name="Line 129"/>
            <p:cNvCxnSpPr>
              <a:stCxn id="464" idx="5"/>
              <a:endCxn id="378" idx="1"/>
            </p:cNvCxnSpPr>
            <p:nvPr/>
          </p:nvCxnSpPr>
          <p:spPr>
            <a:xfrm>
              <a:off x="2996640" y="2715840"/>
              <a:ext cx="167400" cy="223920"/>
            </a:xfrm>
            <a:prstGeom prst="straightConnector1">
              <a:avLst/>
            </a:prstGeom>
            <a:ln w="9000">
              <a:solidFill>
                <a:srgbClr val="000000"/>
              </a:solidFill>
              <a:round/>
              <a:tailEnd type="triangle" w="med" len="med"/>
            </a:ln>
          </p:spPr>
        </p:cxnSp>
        <p:cxnSp>
          <p:nvCxnSpPr>
            <p:cNvPr id="468" name="Line 130"/>
            <p:cNvCxnSpPr>
              <a:stCxn id="464" idx="7"/>
              <a:endCxn id="438" idx="3"/>
            </p:cNvCxnSpPr>
            <p:nvPr/>
          </p:nvCxnSpPr>
          <p:spPr>
            <a:xfrm flipV="1">
              <a:off x="2996640" y="2343600"/>
              <a:ext cx="166320" cy="204120"/>
            </a:xfrm>
            <a:prstGeom prst="straightConnector1">
              <a:avLst/>
            </a:prstGeom>
            <a:ln w="9000">
              <a:solidFill>
                <a:srgbClr val="000000"/>
              </a:solidFill>
              <a:round/>
              <a:tailEnd type="triangle" w="med" len="med"/>
            </a:ln>
          </p:spPr>
        </p:cxnSp>
        <p:cxnSp>
          <p:nvCxnSpPr>
            <p:cNvPr id="469" name="Line 131"/>
            <p:cNvCxnSpPr>
              <a:stCxn id="463" idx="6"/>
              <a:endCxn id="464" idx="2"/>
            </p:cNvCxnSpPr>
            <p:nvPr/>
          </p:nvCxnSpPr>
          <p:spPr>
            <a:xfrm>
              <a:off x="2436840" y="2631600"/>
              <a:ext cx="331560" cy="360"/>
            </a:xfrm>
            <a:prstGeom prst="straightConnector1">
              <a:avLst/>
            </a:prstGeom>
            <a:ln w="9000">
              <a:solidFill>
                <a:srgbClr val="000000"/>
              </a:solidFill>
              <a:round/>
              <a:tailEnd type="triangle" w="med" len="med"/>
            </a:ln>
          </p:spPr>
        </p:cxnSp>
        <p:grpSp>
          <p:nvGrpSpPr>
            <p:cNvPr id="470" name="Group 132"/>
            <p:cNvGrpSpPr/>
            <p:nvPr/>
          </p:nvGrpSpPr>
          <p:grpSpPr>
            <a:xfrm>
              <a:off x="2223000" y="2590200"/>
              <a:ext cx="180360" cy="74160"/>
              <a:chOff x="2223000" y="2590200"/>
              <a:chExt cx="180360" cy="74160"/>
            </a:xfrm>
          </p:grpSpPr>
          <p:sp>
            <p:nvSpPr>
              <p:cNvPr id="471" name="Freeform 133"/>
              <p:cNvSpPr/>
              <p:nvPr/>
            </p:nvSpPr>
            <p:spPr>
              <a:xfrm>
                <a:off x="2223000" y="2590200"/>
                <a:ext cx="67680" cy="60480"/>
              </a:xfrm>
              <a:custGeom>
                <a:avLst/>
                <a:gdLst/>
                <a:ahLst/>
                <a:cxnLst/>
                <a:rect l="0" t="0" r="r" b="b"/>
                <a:pathLst>
                  <a:path w="188" h="168">
                    <a:moveTo>
                      <a:pt x="28" y="148"/>
                    </a:moveTo>
                    <a:cubicBezTo>
                      <a:pt x="27" y="158"/>
                      <a:pt x="26" y="159"/>
                      <a:pt x="6" y="159"/>
                    </a:cubicBezTo>
                    <a:cubicBezTo>
                      <a:pt x="3" y="159"/>
                      <a:pt x="0" y="159"/>
                      <a:pt x="0" y="164"/>
                    </a:cubicBezTo>
                    <a:cubicBezTo>
                      <a:pt x="0" y="167"/>
                      <a:pt x="2" y="167"/>
                      <a:pt x="6" y="167"/>
                    </a:cubicBezTo>
                    <a:lnTo>
                      <a:pt x="88" y="167"/>
                    </a:lnTo>
                    <a:cubicBezTo>
                      <a:pt x="139" y="167"/>
                      <a:pt x="187" y="116"/>
                      <a:pt x="187" y="62"/>
                    </a:cubicBezTo>
                    <a:cubicBezTo>
                      <a:pt x="187" y="27"/>
                      <a:pt x="166" y="0"/>
                      <a:pt x="129" y="0"/>
                    </a:cubicBezTo>
                    <a:lnTo>
                      <a:pt x="46" y="0"/>
                    </a:lnTo>
                    <a:cubicBezTo>
                      <a:pt x="42" y="0"/>
                      <a:pt x="40" y="0"/>
                      <a:pt x="40" y="5"/>
                    </a:cubicBezTo>
                    <a:cubicBezTo>
                      <a:pt x="40" y="8"/>
                      <a:pt x="42" y="8"/>
                      <a:pt x="46" y="8"/>
                    </a:cubicBezTo>
                    <a:cubicBezTo>
                      <a:pt x="50" y="8"/>
                      <a:pt x="55" y="8"/>
                      <a:pt x="57" y="9"/>
                    </a:cubicBezTo>
                    <a:cubicBezTo>
                      <a:pt x="61" y="9"/>
                      <a:pt x="64" y="9"/>
                      <a:pt x="64" y="12"/>
                    </a:cubicBezTo>
                    <a:cubicBezTo>
                      <a:pt x="64" y="13"/>
                      <a:pt x="64" y="14"/>
                      <a:pt x="61" y="16"/>
                    </a:cubicBezTo>
                    <a:lnTo>
                      <a:pt x="28" y="148"/>
                    </a:lnTo>
                    <a:moveTo>
                      <a:pt x="82" y="16"/>
                    </a:moveTo>
                    <a:cubicBezTo>
                      <a:pt x="85" y="9"/>
                      <a:pt x="85" y="8"/>
                      <a:pt x="95" y="8"/>
                    </a:cubicBezTo>
                    <a:lnTo>
                      <a:pt x="121" y="8"/>
                    </a:lnTo>
                    <a:cubicBezTo>
                      <a:pt x="145" y="8"/>
                      <a:pt x="165" y="20"/>
                      <a:pt x="165" y="53"/>
                    </a:cubicBezTo>
                    <a:cubicBezTo>
                      <a:pt x="165" y="65"/>
                      <a:pt x="159" y="104"/>
                      <a:pt x="139" y="132"/>
                    </a:cubicBezTo>
                    <a:cubicBezTo>
                      <a:pt x="133" y="141"/>
                      <a:pt x="112" y="159"/>
                      <a:pt x="83" y="159"/>
                    </a:cubicBezTo>
                    <a:lnTo>
                      <a:pt x="56" y="159"/>
                    </a:lnTo>
                    <a:cubicBezTo>
                      <a:pt x="52" y="159"/>
                      <a:pt x="51" y="159"/>
                      <a:pt x="50" y="159"/>
                    </a:cubicBezTo>
                    <a:cubicBezTo>
                      <a:pt x="47" y="159"/>
                      <a:pt x="46" y="159"/>
                      <a:pt x="46" y="157"/>
                    </a:cubicBezTo>
                    <a:cubicBezTo>
                      <a:pt x="46" y="156"/>
                      <a:pt x="46" y="156"/>
                      <a:pt x="48" y="150"/>
                    </a:cubicBezTo>
                    <a:lnTo>
                      <a:pt x="82" y="16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472" name="Freeform 134"/>
              <p:cNvSpPr/>
              <p:nvPr/>
            </p:nvSpPr>
            <p:spPr>
              <a:xfrm>
                <a:off x="2294640" y="2625480"/>
                <a:ext cx="21240" cy="39240"/>
              </a:xfrm>
              <a:custGeom>
                <a:avLst/>
                <a:gdLst/>
                <a:ahLst/>
                <a:cxnLst/>
                <a:rect l="0" t="0" r="r" b="b"/>
                <a:pathLst>
                  <a:path w="59" h="109">
                    <a:moveTo>
                      <a:pt x="35" y="39"/>
                    </a:moveTo>
                    <a:lnTo>
                      <a:pt x="53" y="39"/>
                    </a:lnTo>
                    <a:cubicBezTo>
                      <a:pt x="57" y="39"/>
                      <a:pt x="58" y="39"/>
                      <a:pt x="58" y="36"/>
                    </a:cubicBezTo>
                    <a:cubicBezTo>
                      <a:pt x="58" y="33"/>
                      <a:pt x="57" y="33"/>
                      <a:pt x="53" y="33"/>
                    </a:cubicBezTo>
                    <a:lnTo>
                      <a:pt x="36" y="33"/>
                    </a:lnTo>
                    <a:lnTo>
                      <a:pt x="43" y="8"/>
                    </a:lnTo>
                    <a:cubicBezTo>
                      <a:pt x="43" y="7"/>
                      <a:pt x="43" y="5"/>
                      <a:pt x="43" y="5"/>
                    </a:cubicBezTo>
                    <a:cubicBezTo>
                      <a:pt x="43" y="2"/>
                      <a:pt x="42" y="0"/>
                      <a:pt x="37" y="0"/>
                    </a:cubicBezTo>
                    <a:cubicBezTo>
                      <a:pt x="33" y="0"/>
                      <a:pt x="31" y="3"/>
                      <a:pt x="29" y="7"/>
                    </a:cubicBezTo>
                    <a:cubicBezTo>
                      <a:pt x="28" y="11"/>
                      <a:pt x="31" y="4"/>
                      <a:pt x="24" y="33"/>
                    </a:cubicBezTo>
                    <a:lnTo>
                      <a:pt x="5" y="33"/>
                    </a:lnTo>
                    <a:cubicBezTo>
                      <a:pt x="2" y="33"/>
                      <a:pt x="0" y="33"/>
                      <a:pt x="0" y="37"/>
                    </a:cubicBezTo>
                    <a:cubicBezTo>
                      <a:pt x="0" y="39"/>
                      <a:pt x="2" y="39"/>
                      <a:pt x="5" y="39"/>
                    </a:cubicBezTo>
                    <a:lnTo>
                      <a:pt x="22" y="39"/>
                    </a:lnTo>
                    <a:lnTo>
                      <a:pt x="11" y="80"/>
                    </a:lnTo>
                    <a:cubicBezTo>
                      <a:pt x="11" y="85"/>
                      <a:pt x="9" y="90"/>
                      <a:pt x="9" y="93"/>
                    </a:cubicBezTo>
                    <a:cubicBezTo>
                      <a:pt x="9" y="103"/>
                      <a:pt x="17" y="108"/>
                      <a:pt x="27" y="108"/>
                    </a:cubicBezTo>
                    <a:cubicBezTo>
                      <a:pt x="46" y="108"/>
                      <a:pt x="57" y="85"/>
                      <a:pt x="57" y="82"/>
                    </a:cubicBezTo>
                    <a:cubicBezTo>
                      <a:pt x="57" y="81"/>
                      <a:pt x="55" y="81"/>
                      <a:pt x="55" y="81"/>
                    </a:cubicBezTo>
                    <a:cubicBezTo>
                      <a:pt x="52" y="81"/>
                      <a:pt x="52" y="81"/>
                      <a:pt x="50" y="84"/>
                    </a:cubicBezTo>
                    <a:cubicBezTo>
                      <a:pt x="46" y="94"/>
                      <a:pt x="37" y="104"/>
                      <a:pt x="27" y="104"/>
                    </a:cubicBezTo>
                    <a:cubicBezTo>
                      <a:pt x="24" y="104"/>
                      <a:pt x="22" y="102"/>
                      <a:pt x="22" y="95"/>
                    </a:cubicBezTo>
                    <a:cubicBezTo>
                      <a:pt x="22" y="94"/>
                      <a:pt x="23" y="90"/>
                      <a:pt x="23" y="88"/>
                    </a:cubicBezTo>
                    <a:lnTo>
                      <a:pt x="35" y="39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473" name="Freeform 135"/>
              <p:cNvSpPr/>
              <p:nvPr/>
            </p:nvSpPr>
            <p:spPr>
              <a:xfrm>
                <a:off x="2325600" y="2646360"/>
                <a:ext cx="42120" cy="3600"/>
              </a:xfrm>
              <a:custGeom>
                <a:avLst/>
                <a:gdLst/>
                <a:ahLst/>
                <a:cxnLst/>
                <a:rect l="0" t="0" r="r" b="b"/>
                <a:pathLst>
                  <a:path w="117" h="10">
                    <a:moveTo>
                      <a:pt x="109" y="9"/>
                    </a:moveTo>
                    <a:cubicBezTo>
                      <a:pt x="112" y="9"/>
                      <a:pt x="116" y="9"/>
                      <a:pt x="116" y="5"/>
                    </a:cubicBezTo>
                    <a:cubicBezTo>
                      <a:pt x="116" y="0"/>
                      <a:pt x="112" y="0"/>
                      <a:pt x="109" y="0"/>
                    </a:cubicBezTo>
                    <a:lnTo>
                      <a:pt x="6" y="0"/>
                    </a:lnTo>
                    <a:cubicBezTo>
                      <a:pt x="4" y="0"/>
                      <a:pt x="0" y="0"/>
                      <a:pt x="0" y="5"/>
                    </a:cubicBezTo>
                    <a:cubicBezTo>
                      <a:pt x="0" y="9"/>
                      <a:pt x="4" y="9"/>
                      <a:pt x="6" y="9"/>
                    </a:cubicBezTo>
                    <a:lnTo>
                      <a:pt x="109" y="9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474" name="Freeform 136"/>
              <p:cNvSpPr/>
              <p:nvPr/>
            </p:nvSpPr>
            <p:spPr>
              <a:xfrm>
                <a:off x="2380320" y="2622960"/>
                <a:ext cx="23400" cy="41040"/>
              </a:xfrm>
              <a:custGeom>
                <a:avLst/>
                <a:gdLst/>
                <a:ahLst/>
                <a:cxnLst/>
                <a:rect l="0" t="0" r="r" b="b"/>
                <a:pathLst>
                  <a:path w="65" h="114">
                    <a:moveTo>
                      <a:pt x="38" y="5"/>
                    </a:moveTo>
                    <a:cubicBezTo>
                      <a:pt x="38" y="0"/>
                      <a:pt x="38" y="0"/>
                      <a:pt x="34" y="0"/>
                    </a:cubicBezTo>
                    <a:cubicBezTo>
                      <a:pt x="23" y="11"/>
                      <a:pt x="7" y="11"/>
                      <a:pt x="0" y="11"/>
                    </a:cubicBezTo>
                    <a:lnTo>
                      <a:pt x="0" y="17"/>
                    </a:lnTo>
                    <a:cubicBezTo>
                      <a:pt x="4" y="17"/>
                      <a:pt x="16" y="17"/>
                      <a:pt x="25" y="12"/>
                    </a:cubicBezTo>
                    <a:lnTo>
                      <a:pt x="25" y="99"/>
                    </a:lnTo>
                    <a:cubicBezTo>
                      <a:pt x="25" y="105"/>
                      <a:pt x="25" y="108"/>
                      <a:pt x="8" y="108"/>
                    </a:cubicBezTo>
                    <a:lnTo>
                      <a:pt x="2" y="108"/>
                    </a:lnTo>
                    <a:lnTo>
                      <a:pt x="2" y="113"/>
                    </a:lnTo>
                    <a:cubicBezTo>
                      <a:pt x="5" y="113"/>
                      <a:pt x="26" y="112"/>
                      <a:pt x="32" y="112"/>
                    </a:cubicBezTo>
                    <a:cubicBezTo>
                      <a:pt x="37" y="112"/>
                      <a:pt x="59" y="113"/>
                      <a:pt x="64" y="113"/>
                    </a:cubicBezTo>
                    <a:lnTo>
                      <a:pt x="64" y="108"/>
                    </a:lnTo>
                    <a:lnTo>
                      <a:pt x="57" y="108"/>
                    </a:lnTo>
                    <a:cubicBezTo>
                      <a:pt x="38" y="108"/>
                      <a:pt x="38" y="105"/>
                      <a:pt x="38" y="99"/>
                    </a:cubicBezTo>
                    <a:lnTo>
                      <a:pt x="38" y="5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</p:grpSp>
        <p:grpSp>
          <p:nvGrpSpPr>
            <p:cNvPr id="475" name="Group 137"/>
            <p:cNvGrpSpPr/>
            <p:nvPr/>
          </p:nvGrpSpPr>
          <p:grpSpPr>
            <a:xfrm>
              <a:off x="2847240" y="2590200"/>
              <a:ext cx="92520" cy="74160"/>
              <a:chOff x="2847240" y="2590200"/>
              <a:chExt cx="92520" cy="74160"/>
            </a:xfrm>
          </p:grpSpPr>
          <p:sp>
            <p:nvSpPr>
              <p:cNvPr id="476" name="Freeform 138"/>
              <p:cNvSpPr/>
              <p:nvPr/>
            </p:nvSpPr>
            <p:spPr>
              <a:xfrm>
                <a:off x="2847240" y="2590200"/>
                <a:ext cx="67680" cy="60480"/>
              </a:xfrm>
              <a:custGeom>
                <a:avLst/>
                <a:gdLst/>
                <a:ahLst/>
                <a:cxnLst/>
                <a:rect l="0" t="0" r="r" b="b"/>
                <a:pathLst>
                  <a:path w="188" h="168">
                    <a:moveTo>
                      <a:pt x="28" y="148"/>
                    </a:moveTo>
                    <a:cubicBezTo>
                      <a:pt x="27" y="158"/>
                      <a:pt x="26" y="159"/>
                      <a:pt x="6" y="159"/>
                    </a:cubicBezTo>
                    <a:cubicBezTo>
                      <a:pt x="3" y="159"/>
                      <a:pt x="0" y="159"/>
                      <a:pt x="0" y="164"/>
                    </a:cubicBezTo>
                    <a:cubicBezTo>
                      <a:pt x="0" y="167"/>
                      <a:pt x="2" y="167"/>
                      <a:pt x="6" y="167"/>
                    </a:cubicBezTo>
                    <a:lnTo>
                      <a:pt x="88" y="167"/>
                    </a:lnTo>
                    <a:cubicBezTo>
                      <a:pt x="139" y="167"/>
                      <a:pt x="187" y="116"/>
                      <a:pt x="187" y="62"/>
                    </a:cubicBezTo>
                    <a:cubicBezTo>
                      <a:pt x="187" y="27"/>
                      <a:pt x="165" y="0"/>
                      <a:pt x="129" y="0"/>
                    </a:cubicBezTo>
                    <a:lnTo>
                      <a:pt x="46" y="0"/>
                    </a:lnTo>
                    <a:cubicBezTo>
                      <a:pt x="42" y="0"/>
                      <a:pt x="40" y="0"/>
                      <a:pt x="40" y="5"/>
                    </a:cubicBezTo>
                    <a:cubicBezTo>
                      <a:pt x="40" y="8"/>
                      <a:pt x="42" y="8"/>
                      <a:pt x="46" y="8"/>
                    </a:cubicBezTo>
                    <a:cubicBezTo>
                      <a:pt x="50" y="8"/>
                      <a:pt x="55" y="8"/>
                      <a:pt x="57" y="9"/>
                    </a:cubicBezTo>
                    <a:cubicBezTo>
                      <a:pt x="61" y="9"/>
                      <a:pt x="63" y="9"/>
                      <a:pt x="63" y="12"/>
                    </a:cubicBezTo>
                    <a:cubicBezTo>
                      <a:pt x="63" y="13"/>
                      <a:pt x="63" y="14"/>
                      <a:pt x="61" y="16"/>
                    </a:cubicBezTo>
                    <a:lnTo>
                      <a:pt x="28" y="148"/>
                    </a:lnTo>
                    <a:moveTo>
                      <a:pt x="82" y="16"/>
                    </a:moveTo>
                    <a:cubicBezTo>
                      <a:pt x="85" y="9"/>
                      <a:pt x="85" y="8"/>
                      <a:pt x="95" y="8"/>
                    </a:cubicBezTo>
                    <a:lnTo>
                      <a:pt x="121" y="8"/>
                    </a:lnTo>
                    <a:cubicBezTo>
                      <a:pt x="145" y="8"/>
                      <a:pt x="165" y="20"/>
                      <a:pt x="165" y="53"/>
                    </a:cubicBezTo>
                    <a:cubicBezTo>
                      <a:pt x="165" y="65"/>
                      <a:pt x="159" y="104"/>
                      <a:pt x="139" y="132"/>
                    </a:cubicBezTo>
                    <a:cubicBezTo>
                      <a:pt x="133" y="141"/>
                      <a:pt x="112" y="159"/>
                      <a:pt x="83" y="159"/>
                    </a:cubicBezTo>
                    <a:lnTo>
                      <a:pt x="56" y="159"/>
                    </a:lnTo>
                    <a:cubicBezTo>
                      <a:pt x="52" y="159"/>
                      <a:pt x="51" y="159"/>
                      <a:pt x="50" y="159"/>
                    </a:cubicBezTo>
                    <a:cubicBezTo>
                      <a:pt x="47" y="159"/>
                      <a:pt x="46" y="159"/>
                      <a:pt x="46" y="157"/>
                    </a:cubicBezTo>
                    <a:cubicBezTo>
                      <a:pt x="46" y="156"/>
                      <a:pt x="46" y="156"/>
                      <a:pt x="48" y="150"/>
                    </a:cubicBezTo>
                    <a:lnTo>
                      <a:pt x="82" y="16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477" name="Freeform 139"/>
              <p:cNvSpPr/>
              <p:nvPr/>
            </p:nvSpPr>
            <p:spPr>
              <a:xfrm>
                <a:off x="2919240" y="2625480"/>
                <a:ext cx="20880" cy="39240"/>
              </a:xfrm>
              <a:custGeom>
                <a:avLst/>
                <a:gdLst/>
                <a:ahLst/>
                <a:cxnLst/>
                <a:rect l="0" t="0" r="r" b="b"/>
                <a:pathLst>
                  <a:path w="58" h="109">
                    <a:moveTo>
                      <a:pt x="35" y="39"/>
                    </a:moveTo>
                    <a:lnTo>
                      <a:pt x="53" y="39"/>
                    </a:lnTo>
                    <a:cubicBezTo>
                      <a:pt x="57" y="39"/>
                      <a:pt x="57" y="39"/>
                      <a:pt x="57" y="36"/>
                    </a:cubicBezTo>
                    <a:cubicBezTo>
                      <a:pt x="57" y="33"/>
                      <a:pt x="57" y="33"/>
                      <a:pt x="53" y="33"/>
                    </a:cubicBezTo>
                    <a:lnTo>
                      <a:pt x="36" y="33"/>
                    </a:lnTo>
                    <a:lnTo>
                      <a:pt x="43" y="8"/>
                    </a:lnTo>
                    <a:cubicBezTo>
                      <a:pt x="43" y="7"/>
                      <a:pt x="43" y="5"/>
                      <a:pt x="43" y="5"/>
                    </a:cubicBezTo>
                    <a:cubicBezTo>
                      <a:pt x="43" y="2"/>
                      <a:pt x="42" y="0"/>
                      <a:pt x="37" y="0"/>
                    </a:cubicBezTo>
                    <a:cubicBezTo>
                      <a:pt x="33" y="0"/>
                      <a:pt x="31" y="3"/>
                      <a:pt x="29" y="7"/>
                    </a:cubicBezTo>
                    <a:cubicBezTo>
                      <a:pt x="28" y="11"/>
                      <a:pt x="31" y="4"/>
                      <a:pt x="24" y="33"/>
                    </a:cubicBezTo>
                    <a:lnTo>
                      <a:pt x="5" y="33"/>
                    </a:lnTo>
                    <a:cubicBezTo>
                      <a:pt x="2" y="33"/>
                      <a:pt x="0" y="33"/>
                      <a:pt x="0" y="37"/>
                    </a:cubicBezTo>
                    <a:cubicBezTo>
                      <a:pt x="0" y="39"/>
                      <a:pt x="2" y="39"/>
                      <a:pt x="5" y="39"/>
                    </a:cubicBezTo>
                    <a:lnTo>
                      <a:pt x="22" y="39"/>
                    </a:lnTo>
                    <a:lnTo>
                      <a:pt x="11" y="80"/>
                    </a:lnTo>
                    <a:cubicBezTo>
                      <a:pt x="11" y="85"/>
                      <a:pt x="9" y="90"/>
                      <a:pt x="9" y="93"/>
                    </a:cubicBezTo>
                    <a:cubicBezTo>
                      <a:pt x="9" y="103"/>
                      <a:pt x="17" y="108"/>
                      <a:pt x="27" y="108"/>
                    </a:cubicBezTo>
                    <a:cubicBezTo>
                      <a:pt x="46" y="108"/>
                      <a:pt x="57" y="85"/>
                      <a:pt x="57" y="82"/>
                    </a:cubicBezTo>
                    <a:cubicBezTo>
                      <a:pt x="57" y="81"/>
                      <a:pt x="55" y="81"/>
                      <a:pt x="55" y="81"/>
                    </a:cubicBezTo>
                    <a:cubicBezTo>
                      <a:pt x="52" y="81"/>
                      <a:pt x="52" y="81"/>
                      <a:pt x="50" y="84"/>
                    </a:cubicBezTo>
                    <a:cubicBezTo>
                      <a:pt x="46" y="94"/>
                      <a:pt x="37" y="104"/>
                      <a:pt x="27" y="104"/>
                    </a:cubicBezTo>
                    <a:cubicBezTo>
                      <a:pt x="24" y="104"/>
                      <a:pt x="22" y="102"/>
                      <a:pt x="22" y="95"/>
                    </a:cubicBezTo>
                    <a:cubicBezTo>
                      <a:pt x="22" y="94"/>
                      <a:pt x="23" y="90"/>
                      <a:pt x="23" y="88"/>
                    </a:cubicBezTo>
                    <a:lnTo>
                      <a:pt x="35" y="39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</p:grpSp>
        <p:cxnSp>
          <p:nvCxnSpPr>
            <p:cNvPr id="478" name="Line 140"/>
            <p:cNvCxnSpPr>
              <a:stCxn id="438" idx="6"/>
              <a:endCxn id="379" idx="6"/>
            </p:cNvCxnSpPr>
            <p:nvPr/>
          </p:nvCxnSpPr>
          <p:spPr>
            <a:xfrm>
              <a:off x="3390840" y="2259360"/>
              <a:ext cx="1440" cy="1208880"/>
            </a:xfrm>
            <a:prstGeom prst="curvedConnector3">
              <a:avLst/>
            </a:prstGeom>
            <a:ln w="9000">
              <a:solidFill>
                <a:srgbClr val="000000"/>
              </a:solidFill>
              <a:round/>
              <a:tailEnd type="triangle" w="med" len="med"/>
            </a:ln>
          </p:spPr>
        </p:cxnSp>
        <p:cxnSp>
          <p:nvCxnSpPr>
            <p:cNvPr id="479" name="Line 141"/>
            <p:cNvCxnSpPr>
              <a:stCxn id="378" idx="6"/>
              <a:endCxn id="437" idx="6"/>
            </p:cNvCxnSpPr>
            <p:nvPr/>
          </p:nvCxnSpPr>
          <p:spPr>
            <a:xfrm flipH="1" flipV="1">
              <a:off x="3390840" y="1808280"/>
              <a:ext cx="1440" cy="1215720"/>
            </a:xfrm>
            <a:prstGeom prst="curvedConnector3">
              <a:avLst/>
            </a:prstGeom>
            <a:ln w="9000">
              <a:solidFill>
                <a:srgbClr val="000000"/>
              </a:solidFill>
              <a:round/>
              <a:tailEnd type="triangle" w="med" len="med"/>
            </a:ln>
          </p:spPr>
        </p:cxnSp>
        <p:cxnSp>
          <p:nvCxnSpPr>
            <p:cNvPr id="480" name="Line 142"/>
            <p:cNvCxnSpPr>
              <a:stCxn id="433" idx="2"/>
              <a:endCxn id="374" idx="2"/>
            </p:cNvCxnSpPr>
            <p:nvPr/>
          </p:nvCxnSpPr>
          <p:spPr>
            <a:xfrm>
              <a:off x="1811880" y="2259000"/>
              <a:ext cx="1440" cy="1209600"/>
            </a:xfrm>
            <a:prstGeom prst="curvedConnector3">
              <a:avLst/>
            </a:prstGeom>
            <a:ln w="9000">
              <a:solidFill>
                <a:srgbClr val="000000"/>
              </a:solidFill>
              <a:round/>
              <a:tailEnd type="triangle" w="med" len="med"/>
            </a:ln>
          </p:spPr>
        </p:cxnSp>
        <p:cxnSp>
          <p:nvCxnSpPr>
            <p:cNvPr id="481" name="Line 143"/>
            <p:cNvCxnSpPr>
              <a:stCxn id="373" idx="2"/>
              <a:endCxn id="432" idx="2"/>
            </p:cNvCxnSpPr>
            <p:nvPr/>
          </p:nvCxnSpPr>
          <p:spPr>
            <a:xfrm flipH="1" flipV="1">
              <a:off x="1811880" y="1808280"/>
              <a:ext cx="1440" cy="1215360"/>
            </a:xfrm>
            <a:prstGeom prst="curvedConnector3">
              <a:avLst/>
            </a:prstGeom>
            <a:ln w="9000">
              <a:solidFill>
                <a:srgbClr val="000000"/>
              </a:solidFill>
              <a:round/>
              <a:tailEnd type="triangle" w="med" len="med"/>
            </a:ln>
          </p:spPr>
        </p:cxnSp>
        <p:grpSp>
          <p:nvGrpSpPr>
            <p:cNvPr id="482" name="Group 144"/>
            <p:cNvGrpSpPr/>
            <p:nvPr/>
          </p:nvGrpSpPr>
          <p:grpSpPr>
            <a:xfrm>
              <a:off x="2487960" y="2139840"/>
              <a:ext cx="137520" cy="100080"/>
              <a:chOff x="2487960" y="2139840"/>
              <a:chExt cx="137520" cy="100080"/>
            </a:xfrm>
          </p:grpSpPr>
          <p:sp>
            <p:nvSpPr>
              <p:cNvPr id="483" name="Freeform 145"/>
              <p:cNvSpPr/>
              <p:nvPr/>
            </p:nvSpPr>
            <p:spPr>
              <a:xfrm>
                <a:off x="2487960" y="2178720"/>
                <a:ext cx="48240" cy="39240"/>
              </a:xfrm>
              <a:custGeom>
                <a:avLst/>
                <a:gdLst/>
                <a:ahLst/>
                <a:cxnLst/>
                <a:rect l="0" t="0" r="r" b="b"/>
                <a:pathLst>
                  <a:path w="134" h="109">
                    <a:moveTo>
                      <a:pt x="58" y="15"/>
                    </a:moveTo>
                    <a:lnTo>
                      <a:pt x="86" y="15"/>
                    </a:lnTo>
                    <a:cubicBezTo>
                      <a:pt x="77" y="50"/>
                      <a:pt x="75" y="60"/>
                      <a:pt x="75" y="77"/>
                    </a:cubicBezTo>
                    <a:cubicBezTo>
                      <a:pt x="75" y="81"/>
                      <a:pt x="75" y="88"/>
                      <a:pt x="77" y="96"/>
                    </a:cubicBezTo>
                    <a:cubicBezTo>
                      <a:pt x="80" y="108"/>
                      <a:pt x="82" y="108"/>
                      <a:pt x="87" y="108"/>
                    </a:cubicBezTo>
                    <a:cubicBezTo>
                      <a:pt x="91" y="108"/>
                      <a:pt x="97" y="104"/>
                      <a:pt x="97" y="98"/>
                    </a:cubicBezTo>
                    <a:cubicBezTo>
                      <a:pt x="97" y="97"/>
                      <a:pt x="97" y="97"/>
                      <a:pt x="95" y="94"/>
                    </a:cubicBezTo>
                    <a:cubicBezTo>
                      <a:pt x="88" y="76"/>
                      <a:pt x="88" y="60"/>
                      <a:pt x="88" y="53"/>
                    </a:cubicBezTo>
                    <a:cubicBezTo>
                      <a:pt x="88" y="40"/>
                      <a:pt x="89" y="27"/>
                      <a:pt x="92" y="15"/>
                    </a:cubicBezTo>
                    <a:lnTo>
                      <a:pt x="120" y="15"/>
                    </a:lnTo>
                    <a:cubicBezTo>
                      <a:pt x="123" y="15"/>
                      <a:pt x="133" y="15"/>
                      <a:pt x="133" y="5"/>
                    </a:cubicBezTo>
                    <a:cubicBezTo>
                      <a:pt x="133" y="0"/>
                      <a:pt x="127" y="0"/>
                      <a:pt x="123" y="0"/>
                    </a:cubicBezTo>
                    <a:lnTo>
                      <a:pt x="41" y="0"/>
                    </a:lnTo>
                    <a:cubicBezTo>
                      <a:pt x="35" y="0"/>
                      <a:pt x="26" y="0"/>
                      <a:pt x="16" y="12"/>
                    </a:cubicBezTo>
                    <a:cubicBezTo>
                      <a:pt x="5" y="21"/>
                      <a:pt x="0" y="33"/>
                      <a:pt x="0" y="33"/>
                    </a:cubicBezTo>
                    <a:cubicBezTo>
                      <a:pt x="0" y="34"/>
                      <a:pt x="0" y="36"/>
                      <a:pt x="3" y="36"/>
                    </a:cubicBezTo>
                    <a:cubicBezTo>
                      <a:pt x="5" y="36"/>
                      <a:pt x="5" y="35"/>
                      <a:pt x="6" y="33"/>
                    </a:cubicBezTo>
                    <a:cubicBezTo>
                      <a:pt x="20" y="15"/>
                      <a:pt x="33" y="15"/>
                      <a:pt x="37" y="15"/>
                    </a:cubicBezTo>
                    <a:lnTo>
                      <a:pt x="52" y="15"/>
                    </a:lnTo>
                    <a:cubicBezTo>
                      <a:pt x="44" y="43"/>
                      <a:pt x="31" y="73"/>
                      <a:pt x="20" y="96"/>
                    </a:cubicBezTo>
                    <a:cubicBezTo>
                      <a:pt x="20" y="98"/>
                      <a:pt x="20" y="100"/>
                      <a:pt x="20" y="102"/>
                    </a:cubicBezTo>
                    <a:cubicBezTo>
                      <a:pt x="20" y="107"/>
                      <a:pt x="23" y="108"/>
                      <a:pt x="26" y="108"/>
                    </a:cubicBezTo>
                    <a:cubicBezTo>
                      <a:pt x="33" y="108"/>
                      <a:pt x="35" y="102"/>
                      <a:pt x="37" y="92"/>
                    </a:cubicBezTo>
                    <a:cubicBezTo>
                      <a:pt x="42" y="81"/>
                      <a:pt x="42" y="81"/>
                      <a:pt x="45" y="68"/>
                    </a:cubicBezTo>
                    <a:lnTo>
                      <a:pt x="58" y="15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484" name="Freeform 146"/>
              <p:cNvSpPr/>
              <p:nvPr/>
            </p:nvSpPr>
            <p:spPr>
              <a:xfrm>
                <a:off x="2542680" y="2139840"/>
                <a:ext cx="27720" cy="41400"/>
              </a:xfrm>
              <a:custGeom>
                <a:avLst/>
                <a:gdLst/>
                <a:ahLst/>
                <a:cxnLst/>
                <a:rect l="0" t="0" r="r" b="b"/>
                <a:pathLst>
                  <a:path w="77" h="115">
                    <a:moveTo>
                      <a:pt x="76" y="82"/>
                    </a:moveTo>
                    <a:lnTo>
                      <a:pt x="70" y="82"/>
                    </a:lnTo>
                    <a:cubicBezTo>
                      <a:pt x="69" y="87"/>
                      <a:pt x="68" y="97"/>
                      <a:pt x="65" y="98"/>
                    </a:cubicBezTo>
                    <a:cubicBezTo>
                      <a:pt x="64" y="98"/>
                      <a:pt x="50" y="98"/>
                      <a:pt x="49" y="98"/>
                    </a:cubicBezTo>
                    <a:lnTo>
                      <a:pt x="17" y="98"/>
                    </a:lnTo>
                    <a:cubicBezTo>
                      <a:pt x="35" y="83"/>
                      <a:pt x="42" y="79"/>
                      <a:pt x="51" y="71"/>
                    </a:cubicBezTo>
                    <a:cubicBezTo>
                      <a:pt x="64" y="60"/>
                      <a:pt x="76" y="50"/>
                      <a:pt x="76" y="33"/>
                    </a:cubicBezTo>
                    <a:cubicBezTo>
                      <a:pt x="76" y="13"/>
                      <a:pt x="57" y="0"/>
                      <a:pt x="36" y="0"/>
                    </a:cubicBezTo>
                    <a:cubicBezTo>
                      <a:pt x="15" y="0"/>
                      <a:pt x="0" y="16"/>
                      <a:pt x="0" y="31"/>
                    </a:cubicBezTo>
                    <a:cubicBezTo>
                      <a:pt x="0" y="40"/>
                      <a:pt x="7" y="41"/>
                      <a:pt x="9" y="41"/>
                    </a:cubicBezTo>
                    <a:cubicBezTo>
                      <a:pt x="13" y="41"/>
                      <a:pt x="19" y="37"/>
                      <a:pt x="19" y="31"/>
                    </a:cubicBezTo>
                    <a:cubicBezTo>
                      <a:pt x="19" y="28"/>
                      <a:pt x="17" y="23"/>
                      <a:pt x="9" y="23"/>
                    </a:cubicBezTo>
                    <a:cubicBezTo>
                      <a:pt x="13" y="10"/>
                      <a:pt x="25" y="5"/>
                      <a:pt x="33" y="5"/>
                    </a:cubicBezTo>
                    <a:cubicBezTo>
                      <a:pt x="50" y="5"/>
                      <a:pt x="59" y="20"/>
                      <a:pt x="59" y="33"/>
                    </a:cubicBezTo>
                    <a:cubicBezTo>
                      <a:pt x="59" y="48"/>
                      <a:pt x="49" y="60"/>
                      <a:pt x="43" y="67"/>
                    </a:cubicBezTo>
                    <a:lnTo>
                      <a:pt x="2" y="108"/>
                    </a:lnTo>
                    <a:cubicBezTo>
                      <a:pt x="0" y="108"/>
                      <a:pt x="0" y="109"/>
                      <a:pt x="0" y="114"/>
                    </a:cubicBezTo>
                    <a:lnTo>
                      <a:pt x="71" y="114"/>
                    </a:lnTo>
                    <a:lnTo>
                      <a:pt x="76" y="82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485" name="Freeform 147"/>
              <p:cNvSpPr/>
              <p:nvPr/>
            </p:nvSpPr>
            <p:spPr>
              <a:xfrm>
                <a:off x="2539800" y="2195280"/>
                <a:ext cx="39240" cy="45000"/>
              </a:xfrm>
              <a:custGeom>
                <a:avLst/>
                <a:gdLst/>
                <a:ahLst/>
                <a:cxnLst/>
                <a:rect l="0" t="0" r="r" b="b"/>
                <a:pathLst>
                  <a:path w="109" h="125">
                    <a:moveTo>
                      <a:pt x="108" y="2"/>
                    </a:moveTo>
                    <a:cubicBezTo>
                      <a:pt x="108" y="2"/>
                      <a:pt x="108" y="0"/>
                      <a:pt x="107" y="0"/>
                    </a:cubicBezTo>
                    <a:cubicBezTo>
                      <a:pt x="105" y="0"/>
                      <a:pt x="105" y="0"/>
                      <a:pt x="103" y="2"/>
                    </a:cubicBezTo>
                    <a:lnTo>
                      <a:pt x="95" y="12"/>
                    </a:lnTo>
                    <a:cubicBezTo>
                      <a:pt x="88" y="4"/>
                      <a:pt x="77" y="0"/>
                      <a:pt x="67" y="0"/>
                    </a:cubicBezTo>
                    <a:cubicBezTo>
                      <a:pt x="42" y="0"/>
                      <a:pt x="22" y="20"/>
                      <a:pt x="22" y="40"/>
                    </a:cubicBezTo>
                    <a:cubicBezTo>
                      <a:pt x="22" y="42"/>
                      <a:pt x="23" y="49"/>
                      <a:pt x="27" y="55"/>
                    </a:cubicBezTo>
                    <a:cubicBezTo>
                      <a:pt x="33" y="62"/>
                      <a:pt x="40" y="64"/>
                      <a:pt x="50" y="66"/>
                    </a:cubicBezTo>
                    <a:cubicBezTo>
                      <a:pt x="55" y="67"/>
                      <a:pt x="64" y="68"/>
                      <a:pt x="65" y="69"/>
                    </a:cubicBezTo>
                    <a:cubicBezTo>
                      <a:pt x="71" y="71"/>
                      <a:pt x="81" y="75"/>
                      <a:pt x="81" y="88"/>
                    </a:cubicBezTo>
                    <a:cubicBezTo>
                      <a:pt x="81" y="102"/>
                      <a:pt x="67" y="118"/>
                      <a:pt x="46" y="118"/>
                    </a:cubicBezTo>
                    <a:cubicBezTo>
                      <a:pt x="33" y="118"/>
                      <a:pt x="14" y="112"/>
                      <a:pt x="14" y="93"/>
                    </a:cubicBezTo>
                    <a:cubicBezTo>
                      <a:pt x="14" y="91"/>
                      <a:pt x="15" y="88"/>
                      <a:pt x="16" y="85"/>
                    </a:cubicBezTo>
                    <a:lnTo>
                      <a:pt x="16" y="84"/>
                    </a:lnTo>
                    <a:cubicBezTo>
                      <a:pt x="16" y="81"/>
                      <a:pt x="13" y="81"/>
                      <a:pt x="13" y="81"/>
                    </a:cubicBezTo>
                    <a:cubicBezTo>
                      <a:pt x="10" y="81"/>
                      <a:pt x="10" y="82"/>
                      <a:pt x="9" y="85"/>
                    </a:cubicBezTo>
                    <a:lnTo>
                      <a:pt x="1" y="119"/>
                    </a:lnTo>
                    <a:cubicBezTo>
                      <a:pt x="1" y="119"/>
                      <a:pt x="0" y="120"/>
                      <a:pt x="0" y="122"/>
                    </a:cubicBezTo>
                    <a:cubicBezTo>
                      <a:pt x="0" y="123"/>
                      <a:pt x="1" y="124"/>
                      <a:pt x="2" y="124"/>
                    </a:cubicBezTo>
                    <a:cubicBezTo>
                      <a:pt x="4" y="124"/>
                      <a:pt x="4" y="124"/>
                      <a:pt x="5" y="121"/>
                    </a:cubicBezTo>
                    <a:cubicBezTo>
                      <a:pt x="8" y="119"/>
                      <a:pt x="12" y="114"/>
                      <a:pt x="14" y="112"/>
                    </a:cubicBezTo>
                    <a:cubicBezTo>
                      <a:pt x="24" y="122"/>
                      <a:pt x="36" y="124"/>
                      <a:pt x="46" y="124"/>
                    </a:cubicBezTo>
                    <a:cubicBezTo>
                      <a:pt x="73" y="124"/>
                      <a:pt x="94" y="102"/>
                      <a:pt x="94" y="81"/>
                    </a:cubicBezTo>
                    <a:cubicBezTo>
                      <a:pt x="94" y="74"/>
                      <a:pt x="90" y="67"/>
                      <a:pt x="87" y="64"/>
                    </a:cubicBezTo>
                    <a:cubicBezTo>
                      <a:pt x="81" y="57"/>
                      <a:pt x="78" y="57"/>
                      <a:pt x="57" y="50"/>
                    </a:cubicBezTo>
                    <a:cubicBezTo>
                      <a:pt x="53" y="50"/>
                      <a:pt x="46" y="49"/>
                      <a:pt x="46" y="48"/>
                    </a:cubicBezTo>
                    <a:cubicBezTo>
                      <a:pt x="42" y="46"/>
                      <a:pt x="34" y="42"/>
                      <a:pt x="34" y="33"/>
                    </a:cubicBezTo>
                    <a:cubicBezTo>
                      <a:pt x="34" y="20"/>
                      <a:pt x="49" y="5"/>
                      <a:pt x="67" y="5"/>
                    </a:cubicBezTo>
                    <a:cubicBezTo>
                      <a:pt x="86" y="5"/>
                      <a:pt x="94" y="16"/>
                      <a:pt x="94" y="33"/>
                    </a:cubicBezTo>
                    <a:cubicBezTo>
                      <a:pt x="94" y="35"/>
                      <a:pt x="94" y="38"/>
                      <a:pt x="94" y="40"/>
                    </a:cubicBezTo>
                    <a:cubicBezTo>
                      <a:pt x="94" y="42"/>
                      <a:pt x="96" y="42"/>
                      <a:pt x="97" y="42"/>
                    </a:cubicBezTo>
                    <a:cubicBezTo>
                      <a:pt x="99" y="42"/>
                      <a:pt x="99" y="42"/>
                      <a:pt x="100" y="38"/>
                    </a:cubicBezTo>
                    <a:lnTo>
                      <a:pt x="108" y="2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486" name="Freeform 148"/>
              <p:cNvSpPr/>
              <p:nvPr/>
            </p:nvSpPr>
            <p:spPr>
              <a:xfrm>
                <a:off x="2586600" y="2195280"/>
                <a:ext cx="39240" cy="45000"/>
              </a:xfrm>
              <a:custGeom>
                <a:avLst/>
                <a:gdLst/>
                <a:ahLst/>
                <a:cxnLst/>
                <a:rect l="0" t="0" r="r" b="b"/>
                <a:pathLst>
                  <a:path w="109" h="125">
                    <a:moveTo>
                      <a:pt x="108" y="2"/>
                    </a:moveTo>
                    <a:cubicBezTo>
                      <a:pt x="108" y="2"/>
                      <a:pt x="108" y="0"/>
                      <a:pt x="107" y="0"/>
                    </a:cubicBezTo>
                    <a:cubicBezTo>
                      <a:pt x="105" y="0"/>
                      <a:pt x="105" y="0"/>
                      <a:pt x="103" y="2"/>
                    </a:cubicBezTo>
                    <a:lnTo>
                      <a:pt x="95" y="12"/>
                    </a:lnTo>
                    <a:cubicBezTo>
                      <a:pt x="88" y="4"/>
                      <a:pt x="77" y="0"/>
                      <a:pt x="67" y="0"/>
                    </a:cubicBezTo>
                    <a:cubicBezTo>
                      <a:pt x="42" y="0"/>
                      <a:pt x="22" y="20"/>
                      <a:pt x="22" y="40"/>
                    </a:cubicBezTo>
                    <a:cubicBezTo>
                      <a:pt x="22" y="42"/>
                      <a:pt x="23" y="49"/>
                      <a:pt x="27" y="55"/>
                    </a:cubicBezTo>
                    <a:cubicBezTo>
                      <a:pt x="33" y="62"/>
                      <a:pt x="40" y="64"/>
                      <a:pt x="50" y="66"/>
                    </a:cubicBezTo>
                    <a:cubicBezTo>
                      <a:pt x="55" y="67"/>
                      <a:pt x="64" y="68"/>
                      <a:pt x="65" y="69"/>
                    </a:cubicBezTo>
                    <a:cubicBezTo>
                      <a:pt x="71" y="71"/>
                      <a:pt x="81" y="75"/>
                      <a:pt x="81" y="88"/>
                    </a:cubicBezTo>
                    <a:cubicBezTo>
                      <a:pt x="81" y="102"/>
                      <a:pt x="67" y="118"/>
                      <a:pt x="46" y="118"/>
                    </a:cubicBezTo>
                    <a:cubicBezTo>
                      <a:pt x="33" y="118"/>
                      <a:pt x="14" y="112"/>
                      <a:pt x="14" y="93"/>
                    </a:cubicBezTo>
                    <a:cubicBezTo>
                      <a:pt x="14" y="91"/>
                      <a:pt x="15" y="88"/>
                      <a:pt x="16" y="85"/>
                    </a:cubicBezTo>
                    <a:lnTo>
                      <a:pt x="16" y="84"/>
                    </a:lnTo>
                    <a:cubicBezTo>
                      <a:pt x="16" y="81"/>
                      <a:pt x="13" y="81"/>
                      <a:pt x="13" y="81"/>
                    </a:cubicBezTo>
                    <a:cubicBezTo>
                      <a:pt x="10" y="81"/>
                      <a:pt x="10" y="82"/>
                      <a:pt x="9" y="85"/>
                    </a:cubicBezTo>
                    <a:lnTo>
                      <a:pt x="1" y="119"/>
                    </a:lnTo>
                    <a:cubicBezTo>
                      <a:pt x="1" y="119"/>
                      <a:pt x="0" y="120"/>
                      <a:pt x="0" y="122"/>
                    </a:cubicBezTo>
                    <a:cubicBezTo>
                      <a:pt x="0" y="123"/>
                      <a:pt x="1" y="124"/>
                      <a:pt x="2" y="124"/>
                    </a:cubicBezTo>
                    <a:cubicBezTo>
                      <a:pt x="4" y="124"/>
                      <a:pt x="4" y="124"/>
                      <a:pt x="5" y="121"/>
                    </a:cubicBezTo>
                    <a:cubicBezTo>
                      <a:pt x="8" y="119"/>
                      <a:pt x="12" y="114"/>
                      <a:pt x="14" y="112"/>
                    </a:cubicBezTo>
                    <a:cubicBezTo>
                      <a:pt x="24" y="122"/>
                      <a:pt x="36" y="124"/>
                      <a:pt x="46" y="124"/>
                    </a:cubicBezTo>
                    <a:cubicBezTo>
                      <a:pt x="73" y="124"/>
                      <a:pt x="94" y="102"/>
                      <a:pt x="94" y="81"/>
                    </a:cubicBezTo>
                    <a:cubicBezTo>
                      <a:pt x="94" y="74"/>
                      <a:pt x="90" y="67"/>
                      <a:pt x="87" y="64"/>
                    </a:cubicBezTo>
                    <a:cubicBezTo>
                      <a:pt x="81" y="57"/>
                      <a:pt x="78" y="57"/>
                      <a:pt x="57" y="50"/>
                    </a:cubicBezTo>
                    <a:cubicBezTo>
                      <a:pt x="53" y="50"/>
                      <a:pt x="46" y="49"/>
                      <a:pt x="46" y="48"/>
                    </a:cubicBezTo>
                    <a:cubicBezTo>
                      <a:pt x="42" y="46"/>
                      <a:pt x="34" y="42"/>
                      <a:pt x="34" y="33"/>
                    </a:cubicBezTo>
                    <a:cubicBezTo>
                      <a:pt x="34" y="20"/>
                      <a:pt x="49" y="5"/>
                      <a:pt x="67" y="5"/>
                    </a:cubicBezTo>
                    <a:cubicBezTo>
                      <a:pt x="86" y="5"/>
                      <a:pt x="94" y="16"/>
                      <a:pt x="94" y="33"/>
                    </a:cubicBezTo>
                    <a:cubicBezTo>
                      <a:pt x="94" y="35"/>
                      <a:pt x="94" y="38"/>
                      <a:pt x="94" y="40"/>
                    </a:cubicBezTo>
                    <a:cubicBezTo>
                      <a:pt x="94" y="42"/>
                      <a:pt x="96" y="42"/>
                      <a:pt x="97" y="42"/>
                    </a:cubicBezTo>
                    <a:cubicBezTo>
                      <a:pt x="99" y="42"/>
                      <a:pt x="99" y="42"/>
                      <a:pt x="100" y="38"/>
                    </a:cubicBezTo>
                    <a:lnTo>
                      <a:pt x="108" y="2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</p:grpSp>
        <p:grpSp>
          <p:nvGrpSpPr>
            <p:cNvPr id="487" name="Group 149"/>
            <p:cNvGrpSpPr/>
            <p:nvPr/>
          </p:nvGrpSpPr>
          <p:grpSpPr>
            <a:xfrm>
              <a:off x="2487960" y="1694160"/>
              <a:ext cx="167040" cy="99000"/>
              <a:chOff x="2487960" y="1694160"/>
              <a:chExt cx="167040" cy="99000"/>
            </a:xfrm>
          </p:grpSpPr>
          <p:sp>
            <p:nvSpPr>
              <p:cNvPr id="488" name="Freeform 150"/>
              <p:cNvSpPr/>
              <p:nvPr/>
            </p:nvSpPr>
            <p:spPr>
              <a:xfrm>
                <a:off x="2487960" y="1733040"/>
                <a:ext cx="47880" cy="39240"/>
              </a:xfrm>
              <a:custGeom>
                <a:avLst/>
                <a:gdLst/>
                <a:ahLst/>
                <a:cxnLst/>
                <a:rect l="0" t="0" r="r" b="b"/>
                <a:pathLst>
                  <a:path w="133" h="109">
                    <a:moveTo>
                      <a:pt x="58" y="15"/>
                    </a:moveTo>
                    <a:lnTo>
                      <a:pt x="86" y="15"/>
                    </a:lnTo>
                    <a:cubicBezTo>
                      <a:pt x="77" y="50"/>
                      <a:pt x="75" y="60"/>
                      <a:pt x="75" y="77"/>
                    </a:cubicBezTo>
                    <a:cubicBezTo>
                      <a:pt x="75" y="81"/>
                      <a:pt x="75" y="88"/>
                      <a:pt x="77" y="96"/>
                    </a:cubicBezTo>
                    <a:cubicBezTo>
                      <a:pt x="80" y="108"/>
                      <a:pt x="82" y="108"/>
                      <a:pt x="87" y="108"/>
                    </a:cubicBezTo>
                    <a:cubicBezTo>
                      <a:pt x="91" y="108"/>
                      <a:pt x="97" y="104"/>
                      <a:pt x="97" y="98"/>
                    </a:cubicBezTo>
                    <a:cubicBezTo>
                      <a:pt x="97" y="97"/>
                      <a:pt x="97" y="97"/>
                      <a:pt x="95" y="94"/>
                    </a:cubicBezTo>
                    <a:cubicBezTo>
                      <a:pt x="88" y="76"/>
                      <a:pt x="88" y="60"/>
                      <a:pt x="88" y="53"/>
                    </a:cubicBezTo>
                    <a:cubicBezTo>
                      <a:pt x="88" y="40"/>
                      <a:pt x="89" y="27"/>
                      <a:pt x="92" y="15"/>
                    </a:cubicBezTo>
                    <a:lnTo>
                      <a:pt x="120" y="15"/>
                    </a:lnTo>
                    <a:cubicBezTo>
                      <a:pt x="123" y="15"/>
                      <a:pt x="132" y="15"/>
                      <a:pt x="132" y="5"/>
                    </a:cubicBezTo>
                    <a:cubicBezTo>
                      <a:pt x="132" y="0"/>
                      <a:pt x="127" y="0"/>
                      <a:pt x="123" y="0"/>
                    </a:cubicBezTo>
                    <a:lnTo>
                      <a:pt x="41" y="0"/>
                    </a:lnTo>
                    <a:cubicBezTo>
                      <a:pt x="35" y="0"/>
                      <a:pt x="26" y="0"/>
                      <a:pt x="16" y="12"/>
                    </a:cubicBezTo>
                    <a:cubicBezTo>
                      <a:pt x="5" y="21"/>
                      <a:pt x="0" y="33"/>
                      <a:pt x="0" y="33"/>
                    </a:cubicBezTo>
                    <a:cubicBezTo>
                      <a:pt x="0" y="34"/>
                      <a:pt x="0" y="36"/>
                      <a:pt x="3" y="36"/>
                    </a:cubicBezTo>
                    <a:cubicBezTo>
                      <a:pt x="5" y="36"/>
                      <a:pt x="5" y="35"/>
                      <a:pt x="6" y="33"/>
                    </a:cubicBezTo>
                    <a:cubicBezTo>
                      <a:pt x="20" y="15"/>
                      <a:pt x="33" y="15"/>
                      <a:pt x="37" y="15"/>
                    </a:cubicBezTo>
                    <a:lnTo>
                      <a:pt x="52" y="15"/>
                    </a:lnTo>
                    <a:cubicBezTo>
                      <a:pt x="43" y="43"/>
                      <a:pt x="31" y="73"/>
                      <a:pt x="20" y="96"/>
                    </a:cubicBezTo>
                    <a:cubicBezTo>
                      <a:pt x="20" y="98"/>
                      <a:pt x="20" y="99"/>
                      <a:pt x="20" y="102"/>
                    </a:cubicBezTo>
                    <a:cubicBezTo>
                      <a:pt x="20" y="107"/>
                      <a:pt x="23" y="108"/>
                      <a:pt x="26" y="108"/>
                    </a:cubicBezTo>
                    <a:cubicBezTo>
                      <a:pt x="33" y="108"/>
                      <a:pt x="35" y="102"/>
                      <a:pt x="37" y="92"/>
                    </a:cubicBezTo>
                    <a:cubicBezTo>
                      <a:pt x="42" y="81"/>
                      <a:pt x="42" y="81"/>
                      <a:pt x="45" y="68"/>
                    </a:cubicBezTo>
                    <a:lnTo>
                      <a:pt x="58" y="15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489" name="Freeform 151"/>
              <p:cNvSpPr/>
              <p:nvPr/>
            </p:nvSpPr>
            <p:spPr>
              <a:xfrm>
                <a:off x="2542680" y="1694160"/>
                <a:ext cx="27720" cy="41040"/>
              </a:xfrm>
              <a:custGeom>
                <a:avLst/>
                <a:gdLst/>
                <a:ahLst/>
                <a:cxnLst/>
                <a:rect l="0" t="0" r="r" b="b"/>
                <a:pathLst>
                  <a:path w="77" h="114">
                    <a:moveTo>
                      <a:pt x="76" y="82"/>
                    </a:moveTo>
                    <a:lnTo>
                      <a:pt x="70" y="82"/>
                    </a:lnTo>
                    <a:cubicBezTo>
                      <a:pt x="69" y="87"/>
                      <a:pt x="68" y="97"/>
                      <a:pt x="65" y="98"/>
                    </a:cubicBezTo>
                    <a:cubicBezTo>
                      <a:pt x="64" y="98"/>
                      <a:pt x="50" y="98"/>
                      <a:pt x="49" y="98"/>
                    </a:cubicBezTo>
                    <a:lnTo>
                      <a:pt x="17" y="98"/>
                    </a:lnTo>
                    <a:cubicBezTo>
                      <a:pt x="35" y="83"/>
                      <a:pt x="42" y="79"/>
                      <a:pt x="51" y="71"/>
                    </a:cubicBezTo>
                    <a:cubicBezTo>
                      <a:pt x="64" y="60"/>
                      <a:pt x="76" y="50"/>
                      <a:pt x="76" y="33"/>
                    </a:cubicBezTo>
                    <a:cubicBezTo>
                      <a:pt x="76" y="13"/>
                      <a:pt x="57" y="0"/>
                      <a:pt x="36" y="0"/>
                    </a:cubicBezTo>
                    <a:cubicBezTo>
                      <a:pt x="15" y="0"/>
                      <a:pt x="0" y="16"/>
                      <a:pt x="0" y="31"/>
                    </a:cubicBezTo>
                    <a:cubicBezTo>
                      <a:pt x="0" y="39"/>
                      <a:pt x="7" y="41"/>
                      <a:pt x="9" y="41"/>
                    </a:cubicBezTo>
                    <a:cubicBezTo>
                      <a:pt x="13" y="41"/>
                      <a:pt x="19" y="37"/>
                      <a:pt x="19" y="31"/>
                    </a:cubicBezTo>
                    <a:cubicBezTo>
                      <a:pt x="19" y="28"/>
                      <a:pt x="17" y="23"/>
                      <a:pt x="9" y="23"/>
                    </a:cubicBezTo>
                    <a:cubicBezTo>
                      <a:pt x="13" y="10"/>
                      <a:pt x="25" y="5"/>
                      <a:pt x="33" y="5"/>
                    </a:cubicBezTo>
                    <a:cubicBezTo>
                      <a:pt x="50" y="5"/>
                      <a:pt x="59" y="20"/>
                      <a:pt x="59" y="33"/>
                    </a:cubicBezTo>
                    <a:cubicBezTo>
                      <a:pt x="59" y="48"/>
                      <a:pt x="49" y="60"/>
                      <a:pt x="43" y="67"/>
                    </a:cubicBezTo>
                    <a:lnTo>
                      <a:pt x="2" y="108"/>
                    </a:lnTo>
                    <a:cubicBezTo>
                      <a:pt x="0" y="108"/>
                      <a:pt x="0" y="108"/>
                      <a:pt x="0" y="113"/>
                    </a:cubicBezTo>
                    <a:lnTo>
                      <a:pt x="71" y="113"/>
                    </a:lnTo>
                    <a:lnTo>
                      <a:pt x="76" y="82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490" name="Freeform 152"/>
              <p:cNvSpPr/>
              <p:nvPr/>
            </p:nvSpPr>
            <p:spPr>
              <a:xfrm>
                <a:off x="2538360" y="1751040"/>
                <a:ext cx="54720" cy="42480"/>
              </a:xfrm>
              <a:custGeom>
                <a:avLst/>
                <a:gdLst/>
                <a:ahLst/>
                <a:cxnLst/>
                <a:rect l="0" t="0" r="r" b="b"/>
                <a:pathLst>
                  <a:path w="152" h="118">
                    <a:moveTo>
                      <a:pt x="87" y="51"/>
                    </a:moveTo>
                    <a:lnTo>
                      <a:pt x="103" y="36"/>
                    </a:lnTo>
                    <a:cubicBezTo>
                      <a:pt x="125" y="14"/>
                      <a:pt x="131" y="7"/>
                      <a:pt x="147" y="5"/>
                    </a:cubicBezTo>
                    <a:cubicBezTo>
                      <a:pt x="149" y="5"/>
                      <a:pt x="151" y="5"/>
                      <a:pt x="151" y="3"/>
                    </a:cubicBezTo>
                    <a:cubicBezTo>
                      <a:pt x="151" y="1"/>
                      <a:pt x="149" y="0"/>
                      <a:pt x="149" y="0"/>
                    </a:cubicBezTo>
                    <a:cubicBezTo>
                      <a:pt x="143" y="0"/>
                      <a:pt x="138" y="1"/>
                      <a:pt x="133" y="1"/>
                    </a:cubicBezTo>
                    <a:cubicBezTo>
                      <a:pt x="129" y="1"/>
                      <a:pt x="117" y="0"/>
                      <a:pt x="112" y="0"/>
                    </a:cubicBezTo>
                    <a:cubicBezTo>
                      <a:pt x="112" y="0"/>
                      <a:pt x="108" y="1"/>
                      <a:pt x="108" y="4"/>
                    </a:cubicBezTo>
                    <a:cubicBezTo>
                      <a:pt x="108" y="4"/>
                      <a:pt x="108" y="5"/>
                      <a:pt x="112" y="5"/>
                    </a:cubicBezTo>
                    <a:cubicBezTo>
                      <a:pt x="113" y="5"/>
                      <a:pt x="118" y="6"/>
                      <a:pt x="118" y="11"/>
                    </a:cubicBezTo>
                    <a:cubicBezTo>
                      <a:pt x="118" y="13"/>
                      <a:pt x="116" y="16"/>
                      <a:pt x="113" y="18"/>
                    </a:cubicBezTo>
                    <a:cubicBezTo>
                      <a:pt x="112" y="20"/>
                      <a:pt x="90" y="40"/>
                      <a:pt x="85" y="46"/>
                    </a:cubicBezTo>
                    <a:lnTo>
                      <a:pt x="67" y="13"/>
                    </a:lnTo>
                    <a:cubicBezTo>
                      <a:pt x="67" y="12"/>
                      <a:pt x="66" y="11"/>
                      <a:pt x="66" y="11"/>
                    </a:cubicBezTo>
                    <a:cubicBezTo>
                      <a:pt x="66" y="9"/>
                      <a:pt x="69" y="6"/>
                      <a:pt x="75" y="5"/>
                    </a:cubicBezTo>
                    <a:cubicBezTo>
                      <a:pt x="76" y="5"/>
                      <a:pt x="79" y="5"/>
                      <a:pt x="79" y="2"/>
                    </a:cubicBezTo>
                    <a:cubicBezTo>
                      <a:pt x="79" y="2"/>
                      <a:pt x="78" y="0"/>
                      <a:pt x="75" y="0"/>
                    </a:cubicBezTo>
                    <a:cubicBezTo>
                      <a:pt x="72" y="0"/>
                      <a:pt x="68" y="1"/>
                      <a:pt x="64" y="1"/>
                    </a:cubicBezTo>
                    <a:cubicBezTo>
                      <a:pt x="60" y="1"/>
                      <a:pt x="57" y="1"/>
                      <a:pt x="53" y="1"/>
                    </a:cubicBezTo>
                    <a:cubicBezTo>
                      <a:pt x="50" y="1"/>
                      <a:pt x="46" y="1"/>
                      <a:pt x="42" y="1"/>
                    </a:cubicBezTo>
                    <a:cubicBezTo>
                      <a:pt x="40" y="1"/>
                      <a:pt x="36" y="0"/>
                      <a:pt x="34" y="0"/>
                    </a:cubicBezTo>
                    <a:cubicBezTo>
                      <a:pt x="33" y="0"/>
                      <a:pt x="29" y="0"/>
                      <a:pt x="29" y="4"/>
                    </a:cubicBezTo>
                    <a:cubicBezTo>
                      <a:pt x="29" y="5"/>
                      <a:pt x="33" y="5"/>
                      <a:pt x="35" y="5"/>
                    </a:cubicBezTo>
                    <a:cubicBezTo>
                      <a:pt x="46" y="5"/>
                      <a:pt x="46" y="8"/>
                      <a:pt x="47" y="11"/>
                    </a:cubicBezTo>
                    <a:lnTo>
                      <a:pt x="71" y="59"/>
                    </a:lnTo>
                    <a:lnTo>
                      <a:pt x="62" y="68"/>
                    </a:lnTo>
                    <a:cubicBezTo>
                      <a:pt x="59" y="71"/>
                      <a:pt x="50" y="79"/>
                      <a:pt x="47" y="82"/>
                    </a:cubicBezTo>
                    <a:cubicBezTo>
                      <a:pt x="27" y="103"/>
                      <a:pt x="20" y="111"/>
                      <a:pt x="5" y="112"/>
                    </a:cubicBezTo>
                    <a:cubicBezTo>
                      <a:pt x="2" y="112"/>
                      <a:pt x="0" y="112"/>
                      <a:pt x="0" y="115"/>
                    </a:cubicBezTo>
                    <a:cubicBezTo>
                      <a:pt x="0" y="116"/>
                      <a:pt x="1" y="117"/>
                      <a:pt x="2" y="117"/>
                    </a:cubicBezTo>
                    <a:cubicBezTo>
                      <a:pt x="7" y="117"/>
                      <a:pt x="13" y="116"/>
                      <a:pt x="19" y="116"/>
                    </a:cubicBezTo>
                    <a:cubicBezTo>
                      <a:pt x="21" y="116"/>
                      <a:pt x="26" y="116"/>
                      <a:pt x="28" y="116"/>
                    </a:cubicBezTo>
                    <a:cubicBezTo>
                      <a:pt x="32" y="116"/>
                      <a:pt x="36" y="117"/>
                      <a:pt x="38" y="117"/>
                    </a:cubicBezTo>
                    <a:cubicBezTo>
                      <a:pt x="38" y="117"/>
                      <a:pt x="42" y="117"/>
                      <a:pt x="42" y="113"/>
                    </a:cubicBezTo>
                    <a:cubicBezTo>
                      <a:pt x="42" y="112"/>
                      <a:pt x="40" y="112"/>
                      <a:pt x="38" y="112"/>
                    </a:cubicBezTo>
                    <a:cubicBezTo>
                      <a:pt x="37" y="112"/>
                      <a:pt x="33" y="111"/>
                      <a:pt x="33" y="107"/>
                    </a:cubicBezTo>
                    <a:cubicBezTo>
                      <a:pt x="33" y="104"/>
                      <a:pt x="36" y="102"/>
                      <a:pt x="39" y="97"/>
                    </a:cubicBezTo>
                    <a:lnTo>
                      <a:pt x="74" y="64"/>
                    </a:lnTo>
                    <a:lnTo>
                      <a:pt x="95" y="104"/>
                    </a:lnTo>
                    <a:cubicBezTo>
                      <a:pt x="96" y="106"/>
                      <a:pt x="96" y="107"/>
                      <a:pt x="96" y="107"/>
                    </a:cubicBezTo>
                    <a:cubicBezTo>
                      <a:pt x="96" y="108"/>
                      <a:pt x="93" y="111"/>
                      <a:pt x="87" y="112"/>
                    </a:cubicBezTo>
                    <a:cubicBezTo>
                      <a:pt x="86" y="112"/>
                      <a:pt x="83" y="112"/>
                      <a:pt x="83" y="115"/>
                    </a:cubicBezTo>
                    <a:cubicBezTo>
                      <a:pt x="83" y="115"/>
                      <a:pt x="83" y="117"/>
                      <a:pt x="86" y="117"/>
                    </a:cubicBezTo>
                    <a:cubicBezTo>
                      <a:pt x="89" y="117"/>
                      <a:pt x="94" y="116"/>
                      <a:pt x="97" y="116"/>
                    </a:cubicBezTo>
                    <a:cubicBezTo>
                      <a:pt x="101" y="116"/>
                      <a:pt x="105" y="116"/>
                      <a:pt x="108" y="116"/>
                    </a:cubicBezTo>
                    <a:cubicBezTo>
                      <a:pt x="112" y="116"/>
                      <a:pt x="116" y="116"/>
                      <a:pt x="119" y="116"/>
                    </a:cubicBezTo>
                    <a:cubicBezTo>
                      <a:pt x="121" y="116"/>
                      <a:pt x="126" y="117"/>
                      <a:pt x="129" y="117"/>
                    </a:cubicBezTo>
                    <a:cubicBezTo>
                      <a:pt x="129" y="117"/>
                      <a:pt x="131" y="117"/>
                      <a:pt x="131" y="112"/>
                    </a:cubicBezTo>
                    <a:cubicBezTo>
                      <a:pt x="131" y="112"/>
                      <a:pt x="129" y="112"/>
                      <a:pt x="126" y="112"/>
                    </a:cubicBezTo>
                    <a:cubicBezTo>
                      <a:pt x="116" y="112"/>
                      <a:pt x="116" y="108"/>
                      <a:pt x="115" y="106"/>
                    </a:cubicBezTo>
                    <a:lnTo>
                      <a:pt x="87" y="51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491" name="Freeform 153"/>
              <p:cNvSpPr/>
              <p:nvPr/>
            </p:nvSpPr>
            <p:spPr>
              <a:xfrm>
                <a:off x="2600640" y="1751040"/>
                <a:ext cx="54720" cy="42480"/>
              </a:xfrm>
              <a:custGeom>
                <a:avLst/>
                <a:gdLst/>
                <a:ahLst/>
                <a:cxnLst/>
                <a:rect l="0" t="0" r="r" b="b"/>
                <a:pathLst>
                  <a:path w="152" h="118">
                    <a:moveTo>
                      <a:pt x="87" y="51"/>
                    </a:moveTo>
                    <a:lnTo>
                      <a:pt x="103" y="36"/>
                    </a:lnTo>
                    <a:cubicBezTo>
                      <a:pt x="125" y="14"/>
                      <a:pt x="131" y="7"/>
                      <a:pt x="147" y="5"/>
                    </a:cubicBezTo>
                    <a:cubicBezTo>
                      <a:pt x="149" y="5"/>
                      <a:pt x="151" y="5"/>
                      <a:pt x="151" y="3"/>
                    </a:cubicBezTo>
                    <a:cubicBezTo>
                      <a:pt x="151" y="1"/>
                      <a:pt x="149" y="0"/>
                      <a:pt x="149" y="0"/>
                    </a:cubicBezTo>
                    <a:cubicBezTo>
                      <a:pt x="143" y="0"/>
                      <a:pt x="138" y="1"/>
                      <a:pt x="133" y="1"/>
                    </a:cubicBezTo>
                    <a:cubicBezTo>
                      <a:pt x="129" y="1"/>
                      <a:pt x="117" y="0"/>
                      <a:pt x="112" y="0"/>
                    </a:cubicBezTo>
                    <a:cubicBezTo>
                      <a:pt x="112" y="0"/>
                      <a:pt x="108" y="1"/>
                      <a:pt x="108" y="4"/>
                    </a:cubicBezTo>
                    <a:cubicBezTo>
                      <a:pt x="108" y="4"/>
                      <a:pt x="108" y="5"/>
                      <a:pt x="112" y="5"/>
                    </a:cubicBezTo>
                    <a:cubicBezTo>
                      <a:pt x="113" y="5"/>
                      <a:pt x="118" y="6"/>
                      <a:pt x="118" y="11"/>
                    </a:cubicBezTo>
                    <a:cubicBezTo>
                      <a:pt x="118" y="13"/>
                      <a:pt x="116" y="16"/>
                      <a:pt x="113" y="18"/>
                    </a:cubicBezTo>
                    <a:cubicBezTo>
                      <a:pt x="112" y="20"/>
                      <a:pt x="90" y="40"/>
                      <a:pt x="85" y="46"/>
                    </a:cubicBezTo>
                    <a:lnTo>
                      <a:pt x="67" y="13"/>
                    </a:lnTo>
                    <a:cubicBezTo>
                      <a:pt x="67" y="12"/>
                      <a:pt x="66" y="11"/>
                      <a:pt x="66" y="11"/>
                    </a:cubicBezTo>
                    <a:cubicBezTo>
                      <a:pt x="66" y="9"/>
                      <a:pt x="69" y="6"/>
                      <a:pt x="75" y="5"/>
                    </a:cubicBezTo>
                    <a:cubicBezTo>
                      <a:pt x="76" y="5"/>
                      <a:pt x="79" y="5"/>
                      <a:pt x="79" y="2"/>
                    </a:cubicBezTo>
                    <a:cubicBezTo>
                      <a:pt x="79" y="2"/>
                      <a:pt x="78" y="0"/>
                      <a:pt x="75" y="0"/>
                    </a:cubicBezTo>
                    <a:cubicBezTo>
                      <a:pt x="72" y="0"/>
                      <a:pt x="68" y="1"/>
                      <a:pt x="64" y="1"/>
                    </a:cubicBezTo>
                    <a:cubicBezTo>
                      <a:pt x="60" y="1"/>
                      <a:pt x="57" y="1"/>
                      <a:pt x="53" y="1"/>
                    </a:cubicBezTo>
                    <a:cubicBezTo>
                      <a:pt x="50" y="1"/>
                      <a:pt x="46" y="1"/>
                      <a:pt x="42" y="1"/>
                    </a:cubicBezTo>
                    <a:cubicBezTo>
                      <a:pt x="40" y="1"/>
                      <a:pt x="36" y="0"/>
                      <a:pt x="34" y="0"/>
                    </a:cubicBezTo>
                    <a:cubicBezTo>
                      <a:pt x="33" y="0"/>
                      <a:pt x="29" y="0"/>
                      <a:pt x="29" y="4"/>
                    </a:cubicBezTo>
                    <a:cubicBezTo>
                      <a:pt x="29" y="5"/>
                      <a:pt x="33" y="5"/>
                      <a:pt x="35" y="5"/>
                    </a:cubicBezTo>
                    <a:cubicBezTo>
                      <a:pt x="46" y="5"/>
                      <a:pt x="46" y="8"/>
                      <a:pt x="47" y="11"/>
                    </a:cubicBezTo>
                    <a:lnTo>
                      <a:pt x="71" y="59"/>
                    </a:lnTo>
                    <a:lnTo>
                      <a:pt x="62" y="68"/>
                    </a:lnTo>
                    <a:cubicBezTo>
                      <a:pt x="59" y="71"/>
                      <a:pt x="50" y="79"/>
                      <a:pt x="47" y="82"/>
                    </a:cubicBezTo>
                    <a:cubicBezTo>
                      <a:pt x="27" y="103"/>
                      <a:pt x="20" y="111"/>
                      <a:pt x="5" y="112"/>
                    </a:cubicBezTo>
                    <a:cubicBezTo>
                      <a:pt x="2" y="112"/>
                      <a:pt x="0" y="112"/>
                      <a:pt x="0" y="115"/>
                    </a:cubicBezTo>
                    <a:cubicBezTo>
                      <a:pt x="0" y="116"/>
                      <a:pt x="1" y="117"/>
                      <a:pt x="2" y="117"/>
                    </a:cubicBezTo>
                    <a:cubicBezTo>
                      <a:pt x="7" y="117"/>
                      <a:pt x="13" y="116"/>
                      <a:pt x="19" y="116"/>
                    </a:cubicBezTo>
                    <a:cubicBezTo>
                      <a:pt x="21" y="116"/>
                      <a:pt x="26" y="116"/>
                      <a:pt x="28" y="116"/>
                    </a:cubicBezTo>
                    <a:cubicBezTo>
                      <a:pt x="32" y="116"/>
                      <a:pt x="36" y="117"/>
                      <a:pt x="38" y="117"/>
                    </a:cubicBezTo>
                    <a:cubicBezTo>
                      <a:pt x="38" y="117"/>
                      <a:pt x="42" y="117"/>
                      <a:pt x="42" y="113"/>
                    </a:cubicBezTo>
                    <a:cubicBezTo>
                      <a:pt x="42" y="112"/>
                      <a:pt x="40" y="112"/>
                      <a:pt x="38" y="112"/>
                    </a:cubicBezTo>
                    <a:cubicBezTo>
                      <a:pt x="37" y="112"/>
                      <a:pt x="33" y="111"/>
                      <a:pt x="33" y="107"/>
                    </a:cubicBezTo>
                    <a:cubicBezTo>
                      <a:pt x="33" y="104"/>
                      <a:pt x="36" y="102"/>
                      <a:pt x="39" y="97"/>
                    </a:cubicBezTo>
                    <a:lnTo>
                      <a:pt x="74" y="64"/>
                    </a:lnTo>
                    <a:lnTo>
                      <a:pt x="95" y="104"/>
                    </a:lnTo>
                    <a:cubicBezTo>
                      <a:pt x="96" y="106"/>
                      <a:pt x="96" y="107"/>
                      <a:pt x="96" y="107"/>
                    </a:cubicBezTo>
                    <a:cubicBezTo>
                      <a:pt x="96" y="108"/>
                      <a:pt x="93" y="111"/>
                      <a:pt x="87" y="112"/>
                    </a:cubicBezTo>
                    <a:cubicBezTo>
                      <a:pt x="86" y="112"/>
                      <a:pt x="83" y="112"/>
                      <a:pt x="83" y="115"/>
                    </a:cubicBezTo>
                    <a:cubicBezTo>
                      <a:pt x="83" y="115"/>
                      <a:pt x="83" y="117"/>
                      <a:pt x="86" y="117"/>
                    </a:cubicBezTo>
                    <a:cubicBezTo>
                      <a:pt x="89" y="117"/>
                      <a:pt x="94" y="116"/>
                      <a:pt x="97" y="116"/>
                    </a:cubicBezTo>
                    <a:cubicBezTo>
                      <a:pt x="101" y="116"/>
                      <a:pt x="105" y="116"/>
                      <a:pt x="108" y="116"/>
                    </a:cubicBezTo>
                    <a:cubicBezTo>
                      <a:pt x="112" y="116"/>
                      <a:pt x="116" y="116"/>
                      <a:pt x="119" y="116"/>
                    </a:cubicBezTo>
                    <a:cubicBezTo>
                      <a:pt x="121" y="116"/>
                      <a:pt x="126" y="117"/>
                      <a:pt x="129" y="117"/>
                    </a:cubicBezTo>
                    <a:cubicBezTo>
                      <a:pt x="129" y="117"/>
                      <a:pt x="131" y="117"/>
                      <a:pt x="131" y="112"/>
                    </a:cubicBezTo>
                    <a:cubicBezTo>
                      <a:pt x="131" y="112"/>
                      <a:pt x="129" y="112"/>
                      <a:pt x="126" y="112"/>
                    </a:cubicBezTo>
                    <a:cubicBezTo>
                      <a:pt x="116" y="112"/>
                      <a:pt x="116" y="108"/>
                      <a:pt x="115" y="106"/>
                    </a:cubicBezTo>
                    <a:lnTo>
                      <a:pt x="87" y="51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</p:grpSp>
        <p:grpSp>
          <p:nvGrpSpPr>
            <p:cNvPr id="492" name="Group 154"/>
            <p:cNvGrpSpPr/>
            <p:nvPr/>
          </p:nvGrpSpPr>
          <p:grpSpPr>
            <a:xfrm>
              <a:off x="2488320" y="2550960"/>
              <a:ext cx="162360" cy="51480"/>
              <a:chOff x="2488320" y="2550960"/>
              <a:chExt cx="162360" cy="51480"/>
            </a:xfrm>
          </p:grpSpPr>
          <p:sp>
            <p:nvSpPr>
              <p:cNvPr id="493" name="Freeform 155"/>
              <p:cNvSpPr/>
              <p:nvPr/>
            </p:nvSpPr>
            <p:spPr>
              <a:xfrm>
                <a:off x="2488320" y="2550960"/>
                <a:ext cx="48240" cy="39240"/>
              </a:xfrm>
              <a:custGeom>
                <a:avLst/>
                <a:gdLst/>
                <a:ahLst/>
                <a:cxnLst/>
                <a:rect l="0" t="0" r="r" b="b"/>
                <a:pathLst>
                  <a:path w="134" h="109">
                    <a:moveTo>
                      <a:pt x="58" y="15"/>
                    </a:moveTo>
                    <a:lnTo>
                      <a:pt x="86" y="15"/>
                    </a:lnTo>
                    <a:cubicBezTo>
                      <a:pt x="77" y="50"/>
                      <a:pt x="75" y="60"/>
                      <a:pt x="75" y="77"/>
                    </a:cubicBezTo>
                    <a:cubicBezTo>
                      <a:pt x="75" y="81"/>
                      <a:pt x="75" y="88"/>
                      <a:pt x="77" y="96"/>
                    </a:cubicBezTo>
                    <a:cubicBezTo>
                      <a:pt x="80" y="108"/>
                      <a:pt x="82" y="108"/>
                      <a:pt x="87" y="108"/>
                    </a:cubicBezTo>
                    <a:cubicBezTo>
                      <a:pt x="91" y="108"/>
                      <a:pt x="97" y="104"/>
                      <a:pt x="97" y="98"/>
                    </a:cubicBezTo>
                    <a:cubicBezTo>
                      <a:pt x="97" y="97"/>
                      <a:pt x="97" y="97"/>
                      <a:pt x="95" y="94"/>
                    </a:cubicBezTo>
                    <a:cubicBezTo>
                      <a:pt x="88" y="77"/>
                      <a:pt x="88" y="60"/>
                      <a:pt x="88" y="53"/>
                    </a:cubicBezTo>
                    <a:cubicBezTo>
                      <a:pt x="88" y="40"/>
                      <a:pt x="89" y="27"/>
                      <a:pt x="92" y="15"/>
                    </a:cubicBezTo>
                    <a:lnTo>
                      <a:pt x="120" y="15"/>
                    </a:lnTo>
                    <a:cubicBezTo>
                      <a:pt x="123" y="15"/>
                      <a:pt x="133" y="15"/>
                      <a:pt x="133" y="5"/>
                    </a:cubicBezTo>
                    <a:cubicBezTo>
                      <a:pt x="133" y="0"/>
                      <a:pt x="127" y="0"/>
                      <a:pt x="123" y="0"/>
                    </a:cubicBezTo>
                    <a:lnTo>
                      <a:pt x="41" y="0"/>
                    </a:lnTo>
                    <a:cubicBezTo>
                      <a:pt x="35" y="0"/>
                      <a:pt x="26" y="0"/>
                      <a:pt x="16" y="12"/>
                    </a:cubicBezTo>
                    <a:cubicBezTo>
                      <a:pt x="5" y="21"/>
                      <a:pt x="0" y="33"/>
                      <a:pt x="0" y="33"/>
                    </a:cubicBezTo>
                    <a:cubicBezTo>
                      <a:pt x="0" y="34"/>
                      <a:pt x="0" y="36"/>
                      <a:pt x="3" y="36"/>
                    </a:cubicBezTo>
                    <a:cubicBezTo>
                      <a:pt x="5" y="36"/>
                      <a:pt x="5" y="35"/>
                      <a:pt x="6" y="33"/>
                    </a:cubicBezTo>
                    <a:cubicBezTo>
                      <a:pt x="20" y="15"/>
                      <a:pt x="33" y="15"/>
                      <a:pt x="37" y="15"/>
                    </a:cubicBezTo>
                    <a:lnTo>
                      <a:pt x="52" y="15"/>
                    </a:lnTo>
                    <a:cubicBezTo>
                      <a:pt x="44" y="44"/>
                      <a:pt x="31" y="73"/>
                      <a:pt x="20" y="96"/>
                    </a:cubicBezTo>
                    <a:cubicBezTo>
                      <a:pt x="20" y="99"/>
                      <a:pt x="20" y="100"/>
                      <a:pt x="20" y="102"/>
                    </a:cubicBezTo>
                    <a:cubicBezTo>
                      <a:pt x="20" y="107"/>
                      <a:pt x="23" y="108"/>
                      <a:pt x="26" y="108"/>
                    </a:cubicBezTo>
                    <a:cubicBezTo>
                      <a:pt x="33" y="108"/>
                      <a:pt x="35" y="102"/>
                      <a:pt x="37" y="92"/>
                    </a:cubicBezTo>
                    <a:cubicBezTo>
                      <a:pt x="42" y="81"/>
                      <a:pt x="42" y="81"/>
                      <a:pt x="45" y="68"/>
                    </a:cubicBezTo>
                    <a:lnTo>
                      <a:pt x="58" y="15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494" name="Freeform 156"/>
              <p:cNvSpPr/>
              <p:nvPr/>
            </p:nvSpPr>
            <p:spPr>
              <a:xfrm>
                <a:off x="2540160" y="2559960"/>
                <a:ext cx="51120" cy="42840"/>
              </a:xfrm>
              <a:custGeom>
                <a:avLst/>
                <a:gdLst/>
                <a:ahLst/>
                <a:cxnLst/>
                <a:rect l="0" t="0" r="r" b="b"/>
                <a:pathLst>
                  <a:path w="142" h="119">
                    <a:moveTo>
                      <a:pt x="20" y="104"/>
                    </a:moveTo>
                    <a:cubicBezTo>
                      <a:pt x="20" y="109"/>
                      <a:pt x="19" y="112"/>
                      <a:pt x="5" y="112"/>
                    </a:cubicBezTo>
                    <a:cubicBezTo>
                      <a:pt x="2" y="112"/>
                      <a:pt x="0" y="112"/>
                      <a:pt x="0" y="115"/>
                    </a:cubicBezTo>
                    <a:cubicBezTo>
                      <a:pt x="0" y="118"/>
                      <a:pt x="2" y="118"/>
                      <a:pt x="5" y="118"/>
                    </a:cubicBezTo>
                    <a:lnTo>
                      <a:pt x="66" y="118"/>
                    </a:lnTo>
                    <a:cubicBezTo>
                      <a:pt x="104" y="118"/>
                      <a:pt x="141" y="82"/>
                      <a:pt x="141" y="46"/>
                    </a:cubicBezTo>
                    <a:cubicBezTo>
                      <a:pt x="141" y="20"/>
                      <a:pt x="124" y="0"/>
                      <a:pt x="96" y="0"/>
                    </a:cubicBezTo>
                    <a:lnTo>
                      <a:pt x="33" y="0"/>
                    </a:lnTo>
                    <a:cubicBezTo>
                      <a:pt x="30" y="0"/>
                      <a:pt x="27" y="0"/>
                      <a:pt x="27" y="4"/>
                    </a:cubicBezTo>
                    <a:cubicBezTo>
                      <a:pt x="27" y="5"/>
                      <a:pt x="29" y="5"/>
                      <a:pt x="33" y="5"/>
                    </a:cubicBezTo>
                    <a:cubicBezTo>
                      <a:pt x="36" y="5"/>
                      <a:pt x="36" y="5"/>
                      <a:pt x="40" y="6"/>
                    </a:cubicBezTo>
                    <a:cubicBezTo>
                      <a:pt x="43" y="6"/>
                      <a:pt x="44" y="7"/>
                      <a:pt x="44" y="9"/>
                    </a:cubicBezTo>
                    <a:cubicBezTo>
                      <a:pt x="44" y="9"/>
                      <a:pt x="44" y="10"/>
                      <a:pt x="42" y="13"/>
                    </a:cubicBezTo>
                    <a:lnTo>
                      <a:pt x="20" y="104"/>
                    </a:lnTo>
                    <a:moveTo>
                      <a:pt x="59" y="12"/>
                    </a:moveTo>
                    <a:cubicBezTo>
                      <a:pt x="60" y="6"/>
                      <a:pt x="60" y="5"/>
                      <a:pt x="67" y="5"/>
                    </a:cubicBezTo>
                    <a:lnTo>
                      <a:pt x="89" y="5"/>
                    </a:lnTo>
                    <a:cubicBezTo>
                      <a:pt x="108" y="5"/>
                      <a:pt x="125" y="16"/>
                      <a:pt x="125" y="38"/>
                    </a:cubicBezTo>
                    <a:cubicBezTo>
                      <a:pt x="125" y="43"/>
                      <a:pt x="123" y="73"/>
                      <a:pt x="105" y="92"/>
                    </a:cubicBezTo>
                    <a:cubicBezTo>
                      <a:pt x="98" y="100"/>
                      <a:pt x="85" y="112"/>
                      <a:pt x="64" y="112"/>
                    </a:cubicBezTo>
                    <a:lnTo>
                      <a:pt x="40" y="112"/>
                    </a:lnTo>
                    <a:cubicBezTo>
                      <a:pt x="35" y="112"/>
                      <a:pt x="35" y="112"/>
                      <a:pt x="35" y="109"/>
                    </a:cubicBezTo>
                    <a:cubicBezTo>
                      <a:pt x="35" y="109"/>
                      <a:pt x="35" y="108"/>
                      <a:pt x="35" y="105"/>
                    </a:cubicBezTo>
                    <a:lnTo>
                      <a:pt x="59" y="12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495" name="Freeform 157"/>
              <p:cNvSpPr/>
              <p:nvPr/>
            </p:nvSpPr>
            <p:spPr>
              <a:xfrm>
                <a:off x="2599920" y="2559960"/>
                <a:ext cx="51120" cy="42840"/>
              </a:xfrm>
              <a:custGeom>
                <a:avLst/>
                <a:gdLst/>
                <a:ahLst/>
                <a:cxnLst/>
                <a:rect l="0" t="0" r="r" b="b"/>
                <a:pathLst>
                  <a:path w="142" h="119">
                    <a:moveTo>
                      <a:pt x="20" y="104"/>
                    </a:moveTo>
                    <a:cubicBezTo>
                      <a:pt x="20" y="109"/>
                      <a:pt x="19" y="112"/>
                      <a:pt x="5" y="112"/>
                    </a:cubicBezTo>
                    <a:cubicBezTo>
                      <a:pt x="2" y="112"/>
                      <a:pt x="0" y="112"/>
                      <a:pt x="0" y="115"/>
                    </a:cubicBezTo>
                    <a:cubicBezTo>
                      <a:pt x="0" y="118"/>
                      <a:pt x="2" y="118"/>
                      <a:pt x="5" y="118"/>
                    </a:cubicBezTo>
                    <a:lnTo>
                      <a:pt x="66" y="118"/>
                    </a:lnTo>
                    <a:cubicBezTo>
                      <a:pt x="104" y="118"/>
                      <a:pt x="141" y="82"/>
                      <a:pt x="141" y="46"/>
                    </a:cubicBezTo>
                    <a:cubicBezTo>
                      <a:pt x="141" y="20"/>
                      <a:pt x="124" y="0"/>
                      <a:pt x="96" y="0"/>
                    </a:cubicBezTo>
                    <a:lnTo>
                      <a:pt x="33" y="0"/>
                    </a:lnTo>
                    <a:cubicBezTo>
                      <a:pt x="30" y="0"/>
                      <a:pt x="27" y="0"/>
                      <a:pt x="27" y="4"/>
                    </a:cubicBezTo>
                    <a:cubicBezTo>
                      <a:pt x="27" y="5"/>
                      <a:pt x="29" y="5"/>
                      <a:pt x="33" y="5"/>
                    </a:cubicBezTo>
                    <a:cubicBezTo>
                      <a:pt x="36" y="5"/>
                      <a:pt x="36" y="5"/>
                      <a:pt x="40" y="6"/>
                    </a:cubicBezTo>
                    <a:cubicBezTo>
                      <a:pt x="43" y="6"/>
                      <a:pt x="44" y="7"/>
                      <a:pt x="44" y="9"/>
                    </a:cubicBezTo>
                    <a:cubicBezTo>
                      <a:pt x="44" y="9"/>
                      <a:pt x="44" y="10"/>
                      <a:pt x="42" y="13"/>
                    </a:cubicBezTo>
                    <a:lnTo>
                      <a:pt x="20" y="104"/>
                    </a:lnTo>
                    <a:moveTo>
                      <a:pt x="59" y="12"/>
                    </a:moveTo>
                    <a:cubicBezTo>
                      <a:pt x="60" y="6"/>
                      <a:pt x="60" y="5"/>
                      <a:pt x="67" y="5"/>
                    </a:cubicBezTo>
                    <a:lnTo>
                      <a:pt x="89" y="5"/>
                    </a:lnTo>
                    <a:cubicBezTo>
                      <a:pt x="108" y="5"/>
                      <a:pt x="125" y="16"/>
                      <a:pt x="125" y="38"/>
                    </a:cubicBezTo>
                    <a:cubicBezTo>
                      <a:pt x="125" y="43"/>
                      <a:pt x="123" y="73"/>
                      <a:pt x="105" y="92"/>
                    </a:cubicBezTo>
                    <a:cubicBezTo>
                      <a:pt x="98" y="100"/>
                      <a:pt x="85" y="112"/>
                      <a:pt x="64" y="112"/>
                    </a:cubicBezTo>
                    <a:lnTo>
                      <a:pt x="40" y="112"/>
                    </a:lnTo>
                    <a:cubicBezTo>
                      <a:pt x="35" y="112"/>
                      <a:pt x="35" y="112"/>
                      <a:pt x="35" y="109"/>
                    </a:cubicBezTo>
                    <a:cubicBezTo>
                      <a:pt x="35" y="109"/>
                      <a:pt x="35" y="108"/>
                      <a:pt x="35" y="105"/>
                    </a:cubicBezTo>
                    <a:lnTo>
                      <a:pt x="59" y="12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</p:grpSp>
        <p:grpSp>
          <p:nvGrpSpPr>
            <p:cNvPr id="496" name="Group 158"/>
            <p:cNvGrpSpPr/>
            <p:nvPr/>
          </p:nvGrpSpPr>
          <p:grpSpPr>
            <a:xfrm>
              <a:off x="1866960" y="2201040"/>
              <a:ext cx="160200" cy="99360"/>
              <a:chOff x="1866960" y="2201040"/>
              <a:chExt cx="160200" cy="99360"/>
            </a:xfrm>
          </p:grpSpPr>
          <p:sp>
            <p:nvSpPr>
              <p:cNvPr id="497" name="Freeform 159"/>
              <p:cNvSpPr/>
              <p:nvPr/>
            </p:nvSpPr>
            <p:spPr>
              <a:xfrm>
                <a:off x="1866960" y="2216880"/>
                <a:ext cx="52560" cy="64440"/>
              </a:xfrm>
              <a:custGeom>
                <a:avLst/>
                <a:gdLst/>
                <a:ahLst/>
                <a:cxnLst/>
                <a:rect l="0" t="0" r="r" b="b"/>
                <a:pathLst>
                  <a:path w="146" h="179">
                    <a:moveTo>
                      <a:pt x="145" y="2"/>
                    </a:moveTo>
                    <a:cubicBezTo>
                      <a:pt x="145" y="2"/>
                      <a:pt x="145" y="0"/>
                      <a:pt x="142" y="0"/>
                    </a:cubicBezTo>
                    <a:cubicBezTo>
                      <a:pt x="141" y="0"/>
                      <a:pt x="141" y="0"/>
                      <a:pt x="138" y="4"/>
                    </a:cubicBezTo>
                    <a:lnTo>
                      <a:pt x="126" y="18"/>
                    </a:lnTo>
                    <a:cubicBezTo>
                      <a:pt x="119" y="5"/>
                      <a:pt x="108" y="0"/>
                      <a:pt x="91" y="0"/>
                    </a:cubicBezTo>
                    <a:cubicBezTo>
                      <a:pt x="60" y="0"/>
                      <a:pt x="31" y="28"/>
                      <a:pt x="31" y="57"/>
                    </a:cubicBezTo>
                    <a:cubicBezTo>
                      <a:pt x="31" y="77"/>
                      <a:pt x="43" y="88"/>
                      <a:pt x="57" y="93"/>
                    </a:cubicBezTo>
                    <a:lnTo>
                      <a:pt x="82" y="98"/>
                    </a:lnTo>
                    <a:cubicBezTo>
                      <a:pt x="91" y="102"/>
                      <a:pt x="105" y="105"/>
                      <a:pt x="105" y="126"/>
                    </a:cubicBezTo>
                    <a:cubicBezTo>
                      <a:pt x="105" y="147"/>
                      <a:pt x="85" y="170"/>
                      <a:pt x="60" y="170"/>
                    </a:cubicBezTo>
                    <a:cubicBezTo>
                      <a:pt x="46" y="170"/>
                      <a:pt x="19" y="164"/>
                      <a:pt x="19" y="134"/>
                    </a:cubicBezTo>
                    <a:cubicBezTo>
                      <a:pt x="19" y="129"/>
                      <a:pt x="20" y="123"/>
                      <a:pt x="20" y="121"/>
                    </a:cubicBezTo>
                    <a:cubicBezTo>
                      <a:pt x="20" y="120"/>
                      <a:pt x="20" y="119"/>
                      <a:pt x="20" y="119"/>
                    </a:cubicBezTo>
                    <a:cubicBezTo>
                      <a:pt x="20" y="117"/>
                      <a:pt x="19" y="117"/>
                      <a:pt x="17" y="117"/>
                    </a:cubicBezTo>
                    <a:cubicBezTo>
                      <a:pt x="16" y="117"/>
                      <a:pt x="16" y="117"/>
                      <a:pt x="15" y="118"/>
                    </a:cubicBezTo>
                    <a:cubicBezTo>
                      <a:pt x="14" y="119"/>
                      <a:pt x="0" y="174"/>
                      <a:pt x="0" y="174"/>
                    </a:cubicBezTo>
                    <a:cubicBezTo>
                      <a:pt x="0" y="177"/>
                      <a:pt x="2" y="178"/>
                      <a:pt x="3" y="178"/>
                    </a:cubicBezTo>
                    <a:cubicBezTo>
                      <a:pt x="4" y="178"/>
                      <a:pt x="4" y="178"/>
                      <a:pt x="7" y="174"/>
                    </a:cubicBezTo>
                    <a:lnTo>
                      <a:pt x="20" y="159"/>
                    </a:lnTo>
                    <a:cubicBezTo>
                      <a:pt x="29" y="174"/>
                      <a:pt x="46" y="178"/>
                      <a:pt x="60" y="178"/>
                    </a:cubicBezTo>
                    <a:cubicBezTo>
                      <a:pt x="94" y="178"/>
                      <a:pt x="123" y="145"/>
                      <a:pt x="123" y="115"/>
                    </a:cubicBezTo>
                    <a:cubicBezTo>
                      <a:pt x="123" y="98"/>
                      <a:pt x="115" y="90"/>
                      <a:pt x="111" y="86"/>
                    </a:cubicBezTo>
                    <a:cubicBezTo>
                      <a:pt x="105" y="81"/>
                      <a:pt x="102" y="80"/>
                      <a:pt x="79" y="74"/>
                    </a:cubicBezTo>
                    <a:cubicBezTo>
                      <a:pt x="74" y="73"/>
                      <a:pt x="65" y="70"/>
                      <a:pt x="64" y="70"/>
                    </a:cubicBezTo>
                    <a:cubicBezTo>
                      <a:pt x="57" y="67"/>
                      <a:pt x="48" y="60"/>
                      <a:pt x="48" y="46"/>
                    </a:cubicBezTo>
                    <a:cubicBezTo>
                      <a:pt x="48" y="27"/>
                      <a:pt x="68" y="6"/>
                      <a:pt x="91" y="6"/>
                    </a:cubicBezTo>
                    <a:cubicBezTo>
                      <a:pt x="112" y="6"/>
                      <a:pt x="126" y="17"/>
                      <a:pt x="126" y="46"/>
                    </a:cubicBezTo>
                    <a:cubicBezTo>
                      <a:pt x="126" y="53"/>
                      <a:pt x="126" y="57"/>
                      <a:pt x="126" y="57"/>
                    </a:cubicBezTo>
                    <a:cubicBezTo>
                      <a:pt x="126" y="59"/>
                      <a:pt x="126" y="60"/>
                      <a:pt x="129" y="60"/>
                    </a:cubicBezTo>
                    <a:cubicBezTo>
                      <a:pt x="130" y="60"/>
                      <a:pt x="130" y="60"/>
                      <a:pt x="133" y="57"/>
                    </a:cubicBezTo>
                    <a:lnTo>
                      <a:pt x="145" y="2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498" name="Freeform 160"/>
              <p:cNvSpPr/>
              <p:nvPr/>
            </p:nvSpPr>
            <p:spPr>
              <a:xfrm>
                <a:off x="1924920" y="2201040"/>
                <a:ext cx="27720" cy="41040"/>
              </a:xfrm>
              <a:custGeom>
                <a:avLst/>
                <a:gdLst/>
                <a:ahLst/>
                <a:cxnLst/>
                <a:rect l="0" t="0" r="r" b="b"/>
                <a:pathLst>
                  <a:path w="77" h="114">
                    <a:moveTo>
                      <a:pt x="76" y="82"/>
                    </a:moveTo>
                    <a:lnTo>
                      <a:pt x="70" y="82"/>
                    </a:lnTo>
                    <a:cubicBezTo>
                      <a:pt x="69" y="86"/>
                      <a:pt x="68" y="97"/>
                      <a:pt x="65" y="98"/>
                    </a:cubicBezTo>
                    <a:cubicBezTo>
                      <a:pt x="64" y="98"/>
                      <a:pt x="50" y="98"/>
                      <a:pt x="49" y="98"/>
                    </a:cubicBezTo>
                    <a:lnTo>
                      <a:pt x="17" y="98"/>
                    </a:lnTo>
                    <a:cubicBezTo>
                      <a:pt x="35" y="83"/>
                      <a:pt x="42" y="79"/>
                      <a:pt x="51" y="71"/>
                    </a:cubicBezTo>
                    <a:cubicBezTo>
                      <a:pt x="64" y="60"/>
                      <a:pt x="76" y="50"/>
                      <a:pt x="76" y="33"/>
                    </a:cubicBezTo>
                    <a:cubicBezTo>
                      <a:pt x="76" y="13"/>
                      <a:pt x="57" y="0"/>
                      <a:pt x="36" y="0"/>
                    </a:cubicBezTo>
                    <a:cubicBezTo>
                      <a:pt x="15" y="0"/>
                      <a:pt x="0" y="16"/>
                      <a:pt x="0" y="31"/>
                    </a:cubicBezTo>
                    <a:cubicBezTo>
                      <a:pt x="0" y="39"/>
                      <a:pt x="7" y="41"/>
                      <a:pt x="9" y="41"/>
                    </a:cubicBezTo>
                    <a:cubicBezTo>
                      <a:pt x="13" y="41"/>
                      <a:pt x="19" y="37"/>
                      <a:pt x="19" y="31"/>
                    </a:cubicBezTo>
                    <a:cubicBezTo>
                      <a:pt x="19" y="28"/>
                      <a:pt x="17" y="23"/>
                      <a:pt x="9" y="23"/>
                    </a:cubicBezTo>
                    <a:cubicBezTo>
                      <a:pt x="13" y="10"/>
                      <a:pt x="25" y="5"/>
                      <a:pt x="33" y="5"/>
                    </a:cubicBezTo>
                    <a:cubicBezTo>
                      <a:pt x="50" y="5"/>
                      <a:pt x="59" y="20"/>
                      <a:pt x="59" y="33"/>
                    </a:cubicBezTo>
                    <a:cubicBezTo>
                      <a:pt x="59" y="48"/>
                      <a:pt x="49" y="60"/>
                      <a:pt x="43" y="67"/>
                    </a:cubicBezTo>
                    <a:lnTo>
                      <a:pt x="2" y="108"/>
                    </a:lnTo>
                    <a:cubicBezTo>
                      <a:pt x="0" y="108"/>
                      <a:pt x="0" y="108"/>
                      <a:pt x="0" y="113"/>
                    </a:cubicBezTo>
                    <a:lnTo>
                      <a:pt x="71" y="113"/>
                    </a:lnTo>
                    <a:lnTo>
                      <a:pt x="76" y="82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499" name="Freeform 161"/>
              <p:cNvSpPr/>
              <p:nvPr/>
            </p:nvSpPr>
            <p:spPr>
              <a:xfrm>
                <a:off x="1918800" y="2261520"/>
                <a:ext cx="21240" cy="39240"/>
              </a:xfrm>
              <a:custGeom>
                <a:avLst/>
                <a:gdLst/>
                <a:ahLst/>
                <a:cxnLst/>
                <a:rect l="0" t="0" r="r" b="b"/>
                <a:pathLst>
                  <a:path w="59" h="109">
                    <a:moveTo>
                      <a:pt x="35" y="39"/>
                    </a:moveTo>
                    <a:lnTo>
                      <a:pt x="53" y="39"/>
                    </a:lnTo>
                    <a:cubicBezTo>
                      <a:pt x="57" y="39"/>
                      <a:pt x="58" y="39"/>
                      <a:pt x="58" y="36"/>
                    </a:cubicBezTo>
                    <a:cubicBezTo>
                      <a:pt x="58" y="33"/>
                      <a:pt x="57" y="33"/>
                      <a:pt x="53" y="33"/>
                    </a:cubicBezTo>
                    <a:lnTo>
                      <a:pt x="36" y="33"/>
                    </a:lnTo>
                    <a:lnTo>
                      <a:pt x="43" y="8"/>
                    </a:lnTo>
                    <a:cubicBezTo>
                      <a:pt x="43" y="7"/>
                      <a:pt x="43" y="5"/>
                      <a:pt x="43" y="5"/>
                    </a:cubicBezTo>
                    <a:cubicBezTo>
                      <a:pt x="43" y="2"/>
                      <a:pt x="42" y="0"/>
                      <a:pt x="37" y="0"/>
                    </a:cubicBezTo>
                    <a:cubicBezTo>
                      <a:pt x="33" y="0"/>
                      <a:pt x="31" y="3"/>
                      <a:pt x="29" y="7"/>
                    </a:cubicBezTo>
                    <a:cubicBezTo>
                      <a:pt x="28" y="11"/>
                      <a:pt x="31" y="4"/>
                      <a:pt x="24" y="33"/>
                    </a:cubicBezTo>
                    <a:lnTo>
                      <a:pt x="5" y="33"/>
                    </a:lnTo>
                    <a:cubicBezTo>
                      <a:pt x="2" y="33"/>
                      <a:pt x="0" y="33"/>
                      <a:pt x="0" y="37"/>
                    </a:cubicBezTo>
                    <a:cubicBezTo>
                      <a:pt x="0" y="39"/>
                      <a:pt x="2" y="39"/>
                      <a:pt x="5" y="39"/>
                    </a:cubicBezTo>
                    <a:lnTo>
                      <a:pt x="22" y="39"/>
                    </a:lnTo>
                    <a:lnTo>
                      <a:pt x="11" y="80"/>
                    </a:lnTo>
                    <a:cubicBezTo>
                      <a:pt x="11" y="85"/>
                      <a:pt x="9" y="90"/>
                      <a:pt x="9" y="93"/>
                    </a:cubicBezTo>
                    <a:cubicBezTo>
                      <a:pt x="9" y="103"/>
                      <a:pt x="17" y="108"/>
                      <a:pt x="27" y="108"/>
                    </a:cubicBezTo>
                    <a:cubicBezTo>
                      <a:pt x="46" y="108"/>
                      <a:pt x="57" y="85"/>
                      <a:pt x="57" y="82"/>
                    </a:cubicBezTo>
                    <a:cubicBezTo>
                      <a:pt x="57" y="81"/>
                      <a:pt x="55" y="81"/>
                      <a:pt x="55" y="81"/>
                    </a:cubicBezTo>
                    <a:cubicBezTo>
                      <a:pt x="52" y="81"/>
                      <a:pt x="52" y="81"/>
                      <a:pt x="50" y="84"/>
                    </a:cubicBezTo>
                    <a:cubicBezTo>
                      <a:pt x="46" y="94"/>
                      <a:pt x="37" y="104"/>
                      <a:pt x="27" y="104"/>
                    </a:cubicBezTo>
                    <a:cubicBezTo>
                      <a:pt x="24" y="104"/>
                      <a:pt x="22" y="102"/>
                      <a:pt x="22" y="95"/>
                    </a:cubicBezTo>
                    <a:cubicBezTo>
                      <a:pt x="22" y="94"/>
                      <a:pt x="23" y="90"/>
                      <a:pt x="23" y="88"/>
                    </a:cubicBezTo>
                    <a:lnTo>
                      <a:pt x="35" y="39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500" name="Freeform 162"/>
              <p:cNvSpPr/>
              <p:nvPr/>
            </p:nvSpPr>
            <p:spPr>
              <a:xfrm>
                <a:off x="1949040" y="2282760"/>
                <a:ext cx="42120" cy="3600"/>
              </a:xfrm>
              <a:custGeom>
                <a:avLst/>
                <a:gdLst/>
                <a:ahLst/>
                <a:cxnLst/>
                <a:rect l="0" t="0" r="r" b="b"/>
                <a:pathLst>
                  <a:path w="117" h="10">
                    <a:moveTo>
                      <a:pt x="109" y="9"/>
                    </a:moveTo>
                    <a:cubicBezTo>
                      <a:pt x="112" y="9"/>
                      <a:pt x="116" y="9"/>
                      <a:pt x="116" y="5"/>
                    </a:cubicBezTo>
                    <a:cubicBezTo>
                      <a:pt x="116" y="0"/>
                      <a:pt x="112" y="0"/>
                      <a:pt x="109" y="0"/>
                    </a:cubicBezTo>
                    <a:lnTo>
                      <a:pt x="6" y="0"/>
                    </a:lnTo>
                    <a:cubicBezTo>
                      <a:pt x="4" y="0"/>
                      <a:pt x="0" y="0"/>
                      <a:pt x="0" y="5"/>
                    </a:cubicBezTo>
                    <a:cubicBezTo>
                      <a:pt x="0" y="9"/>
                      <a:pt x="4" y="9"/>
                      <a:pt x="6" y="9"/>
                    </a:cubicBezTo>
                    <a:lnTo>
                      <a:pt x="109" y="9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501" name="Freeform 163"/>
              <p:cNvSpPr/>
              <p:nvPr/>
            </p:nvSpPr>
            <p:spPr>
              <a:xfrm>
                <a:off x="2004120" y="2259000"/>
                <a:ext cx="23400" cy="41040"/>
              </a:xfrm>
              <a:custGeom>
                <a:avLst/>
                <a:gdLst/>
                <a:ahLst/>
                <a:cxnLst/>
                <a:rect l="0" t="0" r="r" b="b"/>
                <a:pathLst>
                  <a:path w="65" h="114">
                    <a:moveTo>
                      <a:pt x="38" y="5"/>
                    </a:moveTo>
                    <a:cubicBezTo>
                      <a:pt x="38" y="0"/>
                      <a:pt x="38" y="0"/>
                      <a:pt x="34" y="0"/>
                    </a:cubicBezTo>
                    <a:cubicBezTo>
                      <a:pt x="23" y="11"/>
                      <a:pt x="7" y="11"/>
                      <a:pt x="0" y="11"/>
                    </a:cubicBezTo>
                    <a:lnTo>
                      <a:pt x="0" y="17"/>
                    </a:lnTo>
                    <a:cubicBezTo>
                      <a:pt x="4" y="17"/>
                      <a:pt x="16" y="17"/>
                      <a:pt x="25" y="12"/>
                    </a:cubicBezTo>
                    <a:lnTo>
                      <a:pt x="25" y="99"/>
                    </a:lnTo>
                    <a:cubicBezTo>
                      <a:pt x="25" y="105"/>
                      <a:pt x="25" y="108"/>
                      <a:pt x="8" y="108"/>
                    </a:cubicBezTo>
                    <a:lnTo>
                      <a:pt x="2" y="108"/>
                    </a:lnTo>
                    <a:lnTo>
                      <a:pt x="2" y="113"/>
                    </a:lnTo>
                    <a:cubicBezTo>
                      <a:pt x="5" y="113"/>
                      <a:pt x="26" y="112"/>
                      <a:pt x="32" y="112"/>
                    </a:cubicBezTo>
                    <a:cubicBezTo>
                      <a:pt x="37" y="112"/>
                      <a:pt x="59" y="113"/>
                      <a:pt x="64" y="113"/>
                    </a:cubicBezTo>
                    <a:lnTo>
                      <a:pt x="64" y="108"/>
                    </a:lnTo>
                    <a:lnTo>
                      <a:pt x="57" y="108"/>
                    </a:lnTo>
                    <a:cubicBezTo>
                      <a:pt x="38" y="108"/>
                      <a:pt x="38" y="105"/>
                      <a:pt x="38" y="99"/>
                    </a:cubicBezTo>
                    <a:lnTo>
                      <a:pt x="38" y="5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</p:grpSp>
        <p:grpSp>
          <p:nvGrpSpPr>
            <p:cNvPr id="502" name="Group 164"/>
            <p:cNvGrpSpPr/>
            <p:nvPr/>
          </p:nvGrpSpPr>
          <p:grpSpPr>
            <a:xfrm>
              <a:off x="3222360" y="2202120"/>
              <a:ext cx="85320" cy="99000"/>
              <a:chOff x="3222360" y="2202120"/>
              <a:chExt cx="85320" cy="99000"/>
            </a:xfrm>
          </p:grpSpPr>
          <p:sp>
            <p:nvSpPr>
              <p:cNvPr id="503" name="Freeform 165"/>
              <p:cNvSpPr/>
              <p:nvPr/>
            </p:nvSpPr>
            <p:spPr>
              <a:xfrm>
                <a:off x="3222360" y="2216880"/>
                <a:ext cx="52560" cy="64440"/>
              </a:xfrm>
              <a:custGeom>
                <a:avLst/>
                <a:gdLst/>
                <a:ahLst/>
                <a:cxnLst/>
                <a:rect l="0" t="0" r="r" b="b"/>
                <a:pathLst>
                  <a:path w="146" h="179">
                    <a:moveTo>
                      <a:pt x="145" y="2"/>
                    </a:moveTo>
                    <a:cubicBezTo>
                      <a:pt x="145" y="2"/>
                      <a:pt x="145" y="0"/>
                      <a:pt x="142" y="0"/>
                    </a:cubicBezTo>
                    <a:cubicBezTo>
                      <a:pt x="141" y="0"/>
                      <a:pt x="141" y="0"/>
                      <a:pt x="138" y="4"/>
                    </a:cubicBezTo>
                    <a:lnTo>
                      <a:pt x="126" y="18"/>
                    </a:lnTo>
                    <a:cubicBezTo>
                      <a:pt x="119" y="5"/>
                      <a:pt x="108" y="0"/>
                      <a:pt x="90" y="0"/>
                    </a:cubicBezTo>
                    <a:cubicBezTo>
                      <a:pt x="60" y="0"/>
                      <a:pt x="31" y="28"/>
                      <a:pt x="31" y="57"/>
                    </a:cubicBezTo>
                    <a:cubicBezTo>
                      <a:pt x="31" y="77"/>
                      <a:pt x="43" y="88"/>
                      <a:pt x="57" y="93"/>
                    </a:cubicBezTo>
                    <a:lnTo>
                      <a:pt x="82" y="98"/>
                    </a:lnTo>
                    <a:cubicBezTo>
                      <a:pt x="91" y="102"/>
                      <a:pt x="104" y="105"/>
                      <a:pt x="104" y="126"/>
                    </a:cubicBezTo>
                    <a:cubicBezTo>
                      <a:pt x="104" y="147"/>
                      <a:pt x="85" y="170"/>
                      <a:pt x="60" y="170"/>
                    </a:cubicBezTo>
                    <a:cubicBezTo>
                      <a:pt x="46" y="170"/>
                      <a:pt x="19" y="164"/>
                      <a:pt x="19" y="134"/>
                    </a:cubicBezTo>
                    <a:cubicBezTo>
                      <a:pt x="19" y="129"/>
                      <a:pt x="20" y="123"/>
                      <a:pt x="20" y="121"/>
                    </a:cubicBezTo>
                    <a:cubicBezTo>
                      <a:pt x="20" y="120"/>
                      <a:pt x="20" y="119"/>
                      <a:pt x="20" y="119"/>
                    </a:cubicBezTo>
                    <a:cubicBezTo>
                      <a:pt x="20" y="117"/>
                      <a:pt x="19" y="117"/>
                      <a:pt x="17" y="117"/>
                    </a:cubicBezTo>
                    <a:cubicBezTo>
                      <a:pt x="16" y="117"/>
                      <a:pt x="16" y="117"/>
                      <a:pt x="15" y="118"/>
                    </a:cubicBezTo>
                    <a:cubicBezTo>
                      <a:pt x="14" y="119"/>
                      <a:pt x="0" y="174"/>
                      <a:pt x="0" y="174"/>
                    </a:cubicBezTo>
                    <a:cubicBezTo>
                      <a:pt x="0" y="177"/>
                      <a:pt x="2" y="178"/>
                      <a:pt x="3" y="178"/>
                    </a:cubicBezTo>
                    <a:cubicBezTo>
                      <a:pt x="4" y="178"/>
                      <a:pt x="4" y="178"/>
                      <a:pt x="7" y="174"/>
                    </a:cubicBezTo>
                    <a:lnTo>
                      <a:pt x="20" y="159"/>
                    </a:lnTo>
                    <a:cubicBezTo>
                      <a:pt x="29" y="174"/>
                      <a:pt x="46" y="178"/>
                      <a:pt x="60" y="178"/>
                    </a:cubicBezTo>
                    <a:cubicBezTo>
                      <a:pt x="94" y="178"/>
                      <a:pt x="123" y="145"/>
                      <a:pt x="123" y="115"/>
                    </a:cubicBezTo>
                    <a:cubicBezTo>
                      <a:pt x="123" y="98"/>
                      <a:pt x="114" y="90"/>
                      <a:pt x="111" y="86"/>
                    </a:cubicBezTo>
                    <a:cubicBezTo>
                      <a:pt x="104" y="81"/>
                      <a:pt x="102" y="80"/>
                      <a:pt x="79" y="74"/>
                    </a:cubicBezTo>
                    <a:cubicBezTo>
                      <a:pt x="74" y="73"/>
                      <a:pt x="65" y="70"/>
                      <a:pt x="64" y="70"/>
                    </a:cubicBezTo>
                    <a:cubicBezTo>
                      <a:pt x="57" y="67"/>
                      <a:pt x="48" y="60"/>
                      <a:pt x="48" y="46"/>
                    </a:cubicBezTo>
                    <a:cubicBezTo>
                      <a:pt x="48" y="27"/>
                      <a:pt x="68" y="6"/>
                      <a:pt x="90" y="6"/>
                    </a:cubicBezTo>
                    <a:cubicBezTo>
                      <a:pt x="112" y="6"/>
                      <a:pt x="126" y="17"/>
                      <a:pt x="126" y="46"/>
                    </a:cubicBezTo>
                    <a:cubicBezTo>
                      <a:pt x="126" y="53"/>
                      <a:pt x="126" y="57"/>
                      <a:pt x="126" y="57"/>
                    </a:cubicBezTo>
                    <a:cubicBezTo>
                      <a:pt x="126" y="59"/>
                      <a:pt x="126" y="60"/>
                      <a:pt x="128" y="60"/>
                    </a:cubicBezTo>
                    <a:cubicBezTo>
                      <a:pt x="130" y="60"/>
                      <a:pt x="130" y="60"/>
                      <a:pt x="132" y="57"/>
                    </a:cubicBezTo>
                    <a:lnTo>
                      <a:pt x="145" y="2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504" name="Freeform 166"/>
              <p:cNvSpPr/>
              <p:nvPr/>
            </p:nvSpPr>
            <p:spPr>
              <a:xfrm>
                <a:off x="3280320" y="2202120"/>
                <a:ext cx="27720" cy="41040"/>
              </a:xfrm>
              <a:custGeom>
                <a:avLst/>
                <a:gdLst/>
                <a:ahLst/>
                <a:cxnLst/>
                <a:rect l="0" t="0" r="r" b="b"/>
                <a:pathLst>
                  <a:path w="77" h="114">
                    <a:moveTo>
                      <a:pt x="76" y="82"/>
                    </a:moveTo>
                    <a:lnTo>
                      <a:pt x="70" y="82"/>
                    </a:lnTo>
                    <a:cubicBezTo>
                      <a:pt x="69" y="86"/>
                      <a:pt x="68" y="97"/>
                      <a:pt x="65" y="98"/>
                    </a:cubicBezTo>
                    <a:cubicBezTo>
                      <a:pt x="64" y="98"/>
                      <a:pt x="50" y="98"/>
                      <a:pt x="49" y="98"/>
                    </a:cubicBezTo>
                    <a:lnTo>
                      <a:pt x="17" y="98"/>
                    </a:lnTo>
                    <a:cubicBezTo>
                      <a:pt x="35" y="83"/>
                      <a:pt x="42" y="79"/>
                      <a:pt x="51" y="71"/>
                    </a:cubicBezTo>
                    <a:cubicBezTo>
                      <a:pt x="64" y="60"/>
                      <a:pt x="76" y="50"/>
                      <a:pt x="76" y="33"/>
                    </a:cubicBezTo>
                    <a:cubicBezTo>
                      <a:pt x="76" y="13"/>
                      <a:pt x="57" y="0"/>
                      <a:pt x="36" y="0"/>
                    </a:cubicBezTo>
                    <a:cubicBezTo>
                      <a:pt x="15" y="0"/>
                      <a:pt x="0" y="16"/>
                      <a:pt x="0" y="31"/>
                    </a:cubicBezTo>
                    <a:cubicBezTo>
                      <a:pt x="0" y="39"/>
                      <a:pt x="7" y="41"/>
                      <a:pt x="9" y="41"/>
                    </a:cubicBezTo>
                    <a:cubicBezTo>
                      <a:pt x="13" y="41"/>
                      <a:pt x="19" y="37"/>
                      <a:pt x="19" y="31"/>
                    </a:cubicBezTo>
                    <a:cubicBezTo>
                      <a:pt x="19" y="28"/>
                      <a:pt x="17" y="23"/>
                      <a:pt x="9" y="23"/>
                    </a:cubicBezTo>
                    <a:cubicBezTo>
                      <a:pt x="13" y="10"/>
                      <a:pt x="25" y="5"/>
                      <a:pt x="33" y="5"/>
                    </a:cubicBezTo>
                    <a:cubicBezTo>
                      <a:pt x="50" y="5"/>
                      <a:pt x="59" y="20"/>
                      <a:pt x="59" y="33"/>
                    </a:cubicBezTo>
                    <a:cubicBezTo>
                      <a:pt x="59" y="48"/>
                      <a:pt x="49" y="60"/>
                      <a:pt x="43" y="67"/>
                    </a:cubicBezTo>
                    <a:lnTo>
                      <a:pt x="2" y="108"/>
                    </a:lnTo>
                    <a:cubicBezTo>
                      <a:pt x="0" y="108"/>
                      <a:pt x="0" y="108"/>
                      <a:pt x="0" y="113"/>
                    </a:cubicBezTo>
                    <a:lnTo>
                      <a:pt x="71" y="113"/>
                    </a:lnTo>
                    <a:lnTo>
                      <a:pt x="76" y="82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505" name="Freeform 167"/>
              <p:cNvSpPr/>
              <p:nvPr/>
            </p:nvSpPr>
            <p:spPr>
              <a:xfrm>
                <a:off x="3274200" y="2262240"/>
                <a:ext cx="20880" cy="39240"/>
              </a:xfrm>
              <a:custGeom>
                <a:avLst/>
                <a:gdLst/>
                <a:ahLst/>
                <a:cxnLst/>
                <a:rect l="0" t="0" r="r" b="b"/>
                <a:pathLst>
                  <a:path w="58" h="109">
                    <a:moveTo>
                      <a:pt x="35" y="39"/>
                    </a:moveTo>
                    <a:lnTo>
                      <a:pt x="53" y="39"/>
                    </a:lnTo>
                    <a:cubicBezTo>
                      <a:pt x="57" y="39"/>
                      <a:pt x="57" y="39"/>
                      <a:pt x="57" y="36"/>
                    </a:cubicBezTo>
                    <a:cubicBezTo>
                      <a:pt x="57" y="33"/>
                      <a:pt x="57" y="33"/>
                      <a:pt x="53" y="33"/>
                    </a:cubicBezTo>
                    <a:lnTo>
                      <a:pt x="36" y="33"/>
                    </a:lnTo>
                    <a:lnTo>
                      <a:pt x="43" y="8"/>
                    </a:lnTo>
                    <a:cubicBezTo>
                      <a:pt x="43" y="7"/>
                      <a:pt x="43" y="5"/>
                      <a:pt x="43" y="5"/>
                    </a:cubicBezTo>
                    <a:cubicBezTo>
                      <a:pt x="43" y="2"/>
                      <a:pt x="42" y="0"/>
                      <a:pt x="37" y="0"/>
                    </a:cubicBezTo>
                    <a:cubicBezTo>
                      <a:pt x="33" y="0"/>
                      <a:pt x="31" y="3"/>
                      <a:pt x="29" y="7"/>
                    </a:cubicBezTo>
                    <a:cubicBezTo>
                      <a:pt x="28" y="11"/>
                      <a:pt x="31" y="4"/>
                      <a:pt x="24" y="33"/>
                    </a:cubicBezTo>
                    <a:lnTo>
                      <a:pt x="5" y="33"/>
                    </a:lnTo>
                    <a:cubicBezTo>
                      <a:pt x="2" y="33"/>
                      <a:pt x="0" y="33"/>
                      <a:pt x="0" y="37"/>
                    </a:cubicBezTo>
                    <a:cubicBezTo>
                      <a:pt x="0" y="39"/>
                      <a:pt x="2" y="39"/>
                      <a:pt x="5" y="39"/>
                    </a:cubicBezTo>
                    <a:lnTo>
                      <a:pt x="22" y="39"/>
                    </a:lnTo>
                    <a:lnTo>
                      <a:pt x="11" y="80"/>
                    </a:lnTo>
                    <a:cubicBezTo>
                      <a:pt x="11" y="85"/>
                      <a:pt x="9" y="90"/>
                      <a:pt x="9" y="93"/>
                    </a:cubicBezTo>
                    <a:cubicBezTo>
                      <a:pt x="9" y="103"/>
                      <a:pt x="17" y="108"/>
                      <a:pt x="27" y="108"/>
                    </a:cubicBezTo>
                    <a:cubicBezTo>
                      <a:pt x="46" y="108"/>
                      <a:pt x="57" y="85"/>
                      <a:pt x="57" y="82"/>
                    </a:cubicBezTo>
                    <a:cubicBezTo>
                      <a:pt x="57" y="81"/>
                      <a:pt x="55" y="81"/>
                      <a:pt x="55" y="81"/>
                    </a:cubicBezTo>
                    <a:cubicBezTo>
                      <a:pt x="52" y="81"/>
                      <a:pt x="52" y="81"/>
                      <a:pt x="50" y="84"/>
                    </a:cubicBezTo>
                    <a:cubicBezTo>
                      <a:pt x="46" y="94"/>
                      <a:pt x="37" y="104"/>
                      <a:pt x="27" y="104"/>
                    </a:cubicBezTo>
                    <a:cubicBezTo>
                      <a:pt x="24" y="104"/>
                      <a:pt x="22" y="102"/>
                      <a:pt x="22" y="95"/>
                    </a:cubicBezTo>
                    <a:cubicBezTo>
                      <a:pt x="22" y="94"/>
                      <a:pt x="23" y="90"/>
                      <a:pt x="23" y="88"/>
                    </a:cubicBezTo>
                    <a:lnTo>
                      <a:pt x="35" y="39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</p:grpSp>
        <p:grpSp>
          <p:nvGrpSpPr>
            <p:cNvPr id="506" name="Group 168"/>
            <p:cNvGrpSpPr/>
            <p:nvPr/>
          </p:nvGrpSpPr>
          <p:grpSpPr>
            <a:xfrm>
              <a:off x="3070440" y="3176280"/>
              <a:ext cx="152280" cy="100440"/>
              <a:chOff x="3070440" y="3176280"/>
              <a:chExt cx="152280" cy="100440"/>
            </a:xfrm>
          </p:grpSpPr>
          <p:sp>
            <p:nvSpPr>
              <p:cNvPr id="507" name="Freeform 169"/>
              <p:cNvSpPr/>
              <p:nvPr/>
            </p:nvSpPr>
            <p:spPr>
              <a:xfrm>
                <a:off x="3070440" y="3192840"/>
                <a:ext cx="43560" cy="62640"/>
              </a:xfrm>
              <a:custGeom>
                <a:avLst/>
                <a:gdLst/>
                <a:ahLst/>
                <a:cxnLst/>
                <a:rect l="0" t="0" r="r" b="b"/>
                <a:pathLst>
                  <a:path w="121" h="174">
                    <a:moveTo>
                      <a:pt x="74" y="98"/>
                    </a:moveTo>
                    <a:cubicBezTo>
                      <a:pt x="85" y="124"/>
                      <a:pt x="96" y="161"/>
                      <a:pt x="101" y="167"/>
                    </a:cubicBezTo>
                    <a:cubicBezTo>
                      <a:pt x="104" y="173"/>
                      <a:pt x="107" y="173"/>
                      <a:pt x="113" y="173"/>
                    </a:cubicBezTo>
                    <a:lnTo>
                      <a:pt x="119" y="173"/>
                    </a:lnTo>
                    <a:cubicBezTo>
                      <a:pt x="120" y="172"/>
                      <a:pt x="120" y="170"/>
                      <a:pt x="120" y="170"/>
                    </a:cubicBezTo>
                    <a:cubicBezTo>
                      <a:pt x="120" y="170"/>
                      <a:pt x="120" y="169"/>
                      <a:pt x="119" y="167"/>
                    </a:cubicBezTo>
                    <a:cubicBezTo>
                      <a:pt x="118" y="165"/>
                      <a:pt x="116" y="161"/>
                      <a:pt x="115" y="157"/>
                    </a:cubicBezTo>
                    <a:lnTo>
                      <a:pt x="64" y="17"/>
                    </a:lnTo>
                    <a:cubicBezTo>
                      <a:pt x="59" y="4"/>
                      <a:pt x="46" y="0"/>
                      <a:pt x="35" y="0"/>
                    </a:cubicBezTo>
                    <a:cubicBezTo>
                      <a:pt x="33" y="0"/>
                      <a:pt x="29" y="0"/>
                      <a:pt x="29" y="3"/>
                    </a:cubicBezTo>
                    <a:cubicBezTo>
                      <a:pt x="29" y="5"/>
                      <a:pt x="33" y="5"/>
                      <a:pt x="33" y="5"/>
                    </a:cubicBezTo>
                    <a:cubicBezTo>
                      <a:pt x="41" y="6"/>
                      <a:pt x="42" y="9"/>
                      <a:pt x="48" y="25"/>
                    </a:cubicBezTo>
                    <a:lnTo>
                      <a:pt x="72" y="91"/>
                    </a:lnTo>
                    <a:lnTo>
                      <a:pt x="5" y="158"/>
                    </a:lnTo>
                    <a:cubicBezTo>
                      <a:pt x="2" y="160"/>
                      <a:pt x="0" y="163"/>
                      <a:pt x="0" y="166"/>
                    </a:cubicBezTo>
                    <a:cubicBezTo>
                      <a:pt x="0" y="170"/>
                      <a:pt x="4" y="173"/>
                      <a:pt x="7" y="173"/>
                    </a:cubicBezTo>
                    <a:cubicBezTo>
                      <a:pt x="11" y="173"/>
                      <a:pt x="13" y="170"/>
                      <a:pt x="16" y="167"/>
                    </a:cubicBezTo>
                    <a:lnTo>
                      <a:pt x="74" y="98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508" name="Freeform 170"/>
              <p:cNvSpPr/>
              <p:nvPr/>
            </p:nvSpPr>
            <p:spPr>
              <a:xfrm>
                <a:off x="3124080" y="3176280"/>
                <a:ext cx="23400" cy="41400"/>
              </a:xfrm>
              <a:custGeom>
                <a:avLst/>
                <a:gdLst/>
                <a:ahLst/>
                <a:cxnLst/>
                <a:rect l="0" t="0" r="r" b="b"/>
                <a:pathLst>
                  <a:path w="65" h="115">
                    <a:moveTo>
                      <a:pt x="38" y="5"/>
                    </a:moveTo>
                    <a:cubicBezTo>
                      <a:pt x="38" y="0"/>
                      <a:pt x="38" y="0"/>
                      <a:pt x="34" y="0"/>
                    </a:cubicBezTo>
                    <a:cubicBezTo>
                      <a:pt x="23" y="11"/>
                      <a:pt x="7" y="11"/>
                      <a:pt x="0" y="11"/>
                    </a:cubicBezTo>
                    <a:lnTo>
                      <a:pt x="0" y="17"/>
                    </a:lnTo>
                    <a:cubicBezTo>
                      <a:pt x="4" y="17"/>
                      <a:pt x="16" y="17"/>
                      <a:pt x="25" y="12"/>
                    </a:cubicBezTo>
                    <a:lnTo>
                      <a:pt x="25" y="100"/>
                    </a:lnTo>
                    <a:cubicBezTo>
                      <a:pt x="25" y="105"/>
                      <a:pt x="25" y="108"/>
                      <a:pt x="8" y="108"/>
                    </a:cubicBezTo>
                    <a:lnTo>
                      <a:pt x="2" y="108"/>
                    </a:lnTo>
                    <a:lnTo>
                      <a:pt x="2" y="114"/>
                    </a:lnTo>
                    <a:cubicBezTo>
                      <a:pt x="5" y="114"/>
                      <a:pt x="26" y="112"/>
                      <a:pt x="32" y="112"/>
                    </a:cubicBezTo>
                    <a:cubicBezTo>
                      <a:pt x="37" y="112"/>
                      <a:pt x="59" y="114"/>
                      <a:pt x="64" y="114"/>
                    </a:cubicBezTo>
                    <a:lnTo>
                      <a:pt x="64" y="108"/>
                    </a:lnTo>
                    <a:lnTo>
                      <a:pt x="57" y="108"/>
                    </a:lnTo>
                    <a:cubicBezTo>
                      <a:pt x="38" y="108"/>
                      <a:pt x="38" y="105"/>
                      <a:pt x="38" y="100"/>
                    </a:cubicBezTo>
                    <a:lnTo>
                      <a:pt x="38" y="5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509" name="Freeform 171"/>
              <p:cNvSpPr/>
              <p:nvPr/>
            </p:nvSpPr>
            <p:spPr>
              <a:xfrm>
                <a:off x="3120120" y="3233520"/>
                <a:ext cx="54720" cy="42480"/>
              </a:xfrm>
              <a:custGeom>
                <a:avLst/>
                <a:gdLst/>
                <a:ahLst/>
                <a:cxnLst/>
                <a:rect l="0" t="0" r="r" b="b"/>
                <a:pathLst>
                  <a:path w="152" h="118">
                    <a:moveTo>
                      <a:pt x="87" y="51"/>
                    </a:moveTo>
                    <a:lnTo>
                      <a:pt x="103" y="36"/>
                    </a:lnTo>
                    <a:cubicBezTo>
                      <a:pt x="125" y="14"/>
                      <a:pt x="132" y="7"/>
                      <a:pt x="147" y="5"/>
                    </a:cubicBezTo>
                    <a:cubicBezTo>
                      <a:pt x="149" y="5"/>
                      <a:pt x="151" y="5"/>
                      <a:pt x="151" y="3"/>
                    </a:cubicBezTo>
                    <a:cubicBezTo>
                      <a:pt x="151" y="1"/>
                      <a:pt x="149" y="0"/>
                      <a:pt x="149" y="0"/>
                    </a:cubicBezTo>
                    <a:cubicBezTo>
                      <a:pt x="143" y="0"/>
                      <a:pt x="138" y="1"/>
                      <a:pt x="133" y="1"/>
                    </a:cubicBezTo>
                    <a:cubicBezTo>
                      <a:pt x="129" y="1"/>
                      <a:pt x="117" y="0"/>
                      <a:pt x="112" y="0"/>
                    </a:cubicBezTo>
                    <a:cubicBezTo>
                      <a:pt x="112" y="0"/>
                      <a:pt x="109" y="1"/>
                      <a:pt x="109" y="4"/>
                    </a:cubicBezTo>
                    <a:cubicBezTo>
                      <a:pt x="109" y="4"/>
                      <a:pt x="109" y="5"/>
                      <a:pt x="112" y="5"/>
                    </a:cubicBezTo>
                    <a:cubicBezTo>
                      <a:pt x="114" y="5"/>
                      <a:pt x="118" y="6"/>
                      <a:pt x="118" y="11"/>
                    </a:cubicBezTo>
                    <a:cubicBezTo>
                      <a:pt x="118" y="13"/>
                      <a:pt x="116" y="16"/>
                      <a:pt x="114" y="18"/>
                    </a:cubicBezTo>
                    <a:cubicBezTo>
                      <a:pt x="112" y="20"/>
                      <a:pt x="90" y="40"/>
                      <a:pt x="85" y="46"/>
                    </a:cubicBezTo>
                    <a:lnTo>
                      <a:pt x="67" y="13"/>
                    </a:lnTo>
                    <a:cubicBezTo>
                      <a:pt x="67" y="12"/>
                      <a:pt x="66" y="11"/>
                      <a:pt x="66" y="11"/>
                    </a:cubicBezTo>
                    <a:cubicBezTo>
                      <a:pt x="66" y="9"/>
                      <a:pt x="69" y="6"/>
                      <a:pt x="75" y="5"/>
                    </a:cubicBezTo>
                    <a:cubicBezTo>
                      <a:pt x="76" y="5"/>
                      <a:pt x="79" y="5"/>
                      <a:pt x="79" y="2"/>
                    </a:cubicBezTo>
                    <a:cubicBezTo>
                      <a:pt x="79" y="2"/>
                      <a:pt x="78" y="0"/>
                      <a:pt x="75" y="0"/>
                    </a:cubicBezTo>
                    <a:cubicBezTo>
                      <a:pt x="72" y="0"/>
                      <a:pt x="68" y="1"/>
                      <a:pt x="64" y="1"/>
                    </a:cubicBezTo>
                    <a:cubicBezTo>
                      <a:pt x="60" y="1"/>
                      <a:pt x="57" y="1"/>
                      <a:pt x="53" y="1"/>
                    </a:cubicBezTo>
                    <a:cubicBezTo>
                      <a:pt x="50" y="1"/>
                      <a:pt x="46" y="1"/>
                      <a:pt x="42" y="1"/>
                    </a:cubicBezTo>
                    <a:cubicBezTo>
                      <a:pt x="40" y="1"/>
                      <a:pt x="36" y="0"/>
                      <a:pt x="34" y="0"/>
                    </a:cubicBezTo>
                    <a:cubicBezTo>
                      <a:pt x="33" y="0"/>
                      <a:pt x="29" y="0"/>
                      <a:pt x="29" y="4"/>
                    </a:cubicBezTo>
                    <a:cubicBezTo>
                      <a:pt x="29" y="5"/>
                      <a:pt x="33" y="5"/>
                      <a:pt x="35" y="5"/>
                    </a:cubicBezTo>
                    <a:cubicBezTo>
                      <a:pt x="46" y="5"/>
                      <a:pt x="46" y="8"/>
                      <a:pt x="47" y="11"/>
                    </a:cubicBezTo>
                    <a:lnTo>
                      <a:pt x="72" y="59"/>
                    </a:lnTo>
                    <a:lnTo>
                      <a:pt x="62" y="68"/>
                    </a:lnTo>
                    <a:cubicBezTo>
                      <a:pt x="59" y="71"/>
                      <a:pt x="50" y="79"/>
                      <a:pt x="47" y="82"/>
                    </a:cubicBezTo>
                    <a:cubicBezTo>
                      <a:pt x="27" y="103"/>
                      <a:pt x="20" y="111"/>
                      <a:pt x="5" y="112"/>
                    </a:cubicBezTo>
                    <a:cubicBezTo>
                      <a:pt x="2" y="112"/>
                      <a:pt x="0" y="112"/>
                      <a:pt x="0" y="115"/>
                    </a:cubicBezTo>
                    <a:cubicBezTo>
                      <a:pt x="0" y="116"/>
                      <a:pt x="1" y="117"/>
                      <a:pt x="2" y="117"/>
                    </a:cubicBezTo>
                    <a:cubicBezTo>
                      <a:pt x="7" y="117"/>
                      <a:pt x="13" y="116"/>
                      <a:pt x="19" y="116"/>
                    </a:cubicBezTo>
                    <a:cubicBezTo>
                      <a:pt x="21" y="116"/>
                      <a:pt x="26" y="116"/>
                      <a:pt x="28" y="116"/>
                    </a:cubicBezTo>
                    <a:cubicBezTo>
                      <a:pt x="32" y="116"/>
                      <a:pt x="36" y="117"/>
                      <a:pt x="38" y="117"/>
                    </a:cubicBezTo>
                    <a:cubicBezTo>
                      <a:pt x="38" y="117"/>
                      <a:pt x="42" y="117"/>
                      <a:pt x="42" y="114"/>
                    </a:cubicBezTo>
                    <a:cubicBezTo>
                      <a:pt x="42" y="112"/>
                      <a:pt x="40" y="112"/>
                      <a:pt x="38" y="112"/>
                    </a:cubicBezTo>
                    <a:cubicBezTo>
                      <a:pt x="37" y="112"/>
                      <a:pt x="33" y="111"/>
                      <a:pt x="33" y="107"/>
                    </a:cubicBezTo>
                    <a:cubicBezTo>
                      <a:pt x="33" y="104"/>
                      <a:pt x="36" y="102"/>
                      <a:pt x="40" y="97"/>
                    </a:cubicBezTo>
                    <a:lnTo>
                      <a:pt x="74" y="64"/>
                    </a:lnTo>
                    <a:lnTo>
                      <a:pt x="95" y="104"/>
                    </a:lnTo>
                    <a:cubicBezTo>
                      <a:pt x="96" y="106"/>
                      <a:pt x="96" y="107"/>
                      <a:pt x="96" y="107"/>
                    </a:cubicBezTo>
                    <a:cubicBezTo>
                      <a:pt x="96" y="108"/>
                      <a:pt x="93" y="111"/>
                      <a:pt x="87" y="112"/>
                    </a:cubicBezTo>
                    <a:cubicBezTo>
                      <a:pt x="86" y="112"/>
                      <a:pt x="83" y="112"/>
                      <a:pt x="83" y="115"/>
                    </a:cubicBezTo>
                    <a:cubicBezTo>
                      <a:pt x="83" y="115"/>
                      <a:pt x="83" y="117"/>
                      <a:pt x="86" y="117"/>
                    </a:cubicBezTo>
                    <a:cubicBezTo>
                      <a:pt x="89" y="117"/>
                      <a:pt x="94" y="116"/>
                      <a:pt x="97" y="116"/>
                    </a:cubicBezTo>
                    <a:cubicBezTo>
                      <a:pt x="101" y="116"/>
                      <a:pt x="105" y="116"/>
                      <a:pt x="108" y="116"/>
                    </a:cubicBezTo>
                    <a:cubicBezTo>
                      <a:pt x="112" y="116"/>
                      <a:pt x="116" y="116"/>
                      <a:pt x="119" y="116"/>
                    </a:cubicBezTo>
                    <a:cubicBezTo>
                      <a:pt x="121" y="116"/>
                      <a:pt x="126" y="117"/>
                      <a:pt x="129" y="117"/>
                    </a:cubicBezTo>
                    <a:cubicBezTo>
                      <a:pt x="129" y="117"/>
                      <a:pt x="132" y="117"/>
                      <a:pt x="132" y="112"/>
                    </a:cubicBezTo>
                    <a:cubicBezTo>
                      <a:pt x="132" y="112"/>
                      <a:pt x="129" y="112"/>
                      <a:pt x="126" y="112"/>
                    </a:cubicBezTo>
                    <a:cubicBezTo>
                      <a:pt x="116" y="112"/>
                      <a:pt x="116" y="109"/>
                      <a:pt x="115" y="106"/>
                    </a:cubicBezTo>
                    <a:lnTo>
                      <a:pt x="87" y="51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510" name="Freeform 172"/>
              <p:cNvSpPr/>
              <p:nvPr/>
            </p:nvSpPr>
            <p:spPr>
              <a:xfrm>
                <a:off x="3183840" y="3232080"/>
                <a:ext cx="39240" cy="45000"/>
              </a:xfrm>
              <a:custGeom>
                <a:avLst/>
                <a:gdLst/>
                <a:ahLst/>
                <a:cxnLst/>
                <a:rect l="0" t="0" r="r" b="b"/>
                <a:pathLst>
                  <a:path w="109" h="125">
                    <a:moveTo>
                      <a:pt x="108" y="2"/>
                    </a:moveTo>
                    <a:cubicBezTo>
                      <a:pt x="108" y="2"/>
                      <a:pt x="108" y="0"/>
                      <a:pt x="107" y="0"/>
                    </a:cubicBezTo>
                    <a:cubicBezTo>
                      <a:pt x="105" y="0"/>
                      <a:pt x="105" y="0"/>
                      <a:pt x="103" y="2"/>
                    </a:cubicBezTo>
                    <a:lnTo>
                      <a:pt x="95" y="12"/>
                    </a:lnTo>
                    <a:cubicBezTo>
                      <a:pt x="88" y="4"/>
                      <a:pt x="77" y="0"/>
                      <a:pt x="67" y="0"/>
                    </a:cubicBezTo>
                    <a:cubicBezTo>
                      <a:pt x="42" y="0"/>
                      <a:pt x="22" y="20"/>
                      <a:pt x="22" y="40"/>
                    </a:cubicBezTo>
                    <a:cubicBezTo>
                      <a:pt x="22" y="42"/>
                      <a:pt x="23" y="49"/>
                      <a:pt x="27" y="55"/>
                    </a:cubicBezTo>
                    <a:cubicBezTo>
                      <a:pt x="33" y="62"/>
                      <a:pt x="40" y="64"/>
                      <a:pt x="50" y="66"/>
                    </a:cubicBezTo>
                    <a:cubicBezTo>
                      <a:pt x="55" y="67"/>
                      <a:pt x="64" y="68"/>
                      <a:pt x="65" y="69"/>
                    </a:cubicBezTo>
                    <a:cubicBezTo>
                      <a:pt x="71" y="71"/>
                      <a:pt x="81" y="75"/>
                      <a:pt x="81" y="88"/>
                    </a:cubicBezTo>
                    <a:cubicBezTo>
                      <a:pt x="81" y="102"/>
                      <a:pt x="67" y="118"/>
                      <a:pt x="46" y="118"/>
                    </a:cubicBezTo>
                    <a:cubicBezTo>
                      <a:pt x="33" y="118"/>
                      <a:pt x="14" y="112"/>
                      <a:pt x="14" y="93"/>
                    </a:cubicBezTo>
                    <a:cubicBezTo>
                      <a:pt x="14" y="91"/>
                      <a:pt x="15" y="88"/>
                      <a:pt x="16" y="85"/>
                    </a:cubicBezTo>
                    <a:lnTo>
                      <a:pt x="16" y="84"/>
                    </a:lnTo>
                    <a:cubicBezTo>
                      <a:pt x="16" y="81"/>
                      <a:pt x="13" y="81"/>
                      <a:pt x="13" y="81"/>
                    </a:cubicBezTo>
                    <a:cubicBezTo>
                      <a:pt x="10" y="81"/>
                      <a:pt x="10" y="82"/>
                      <a:pt x="9" y="85"/>
                    </a:cubicBezTo>
                    <a:lnTo>
                      <a:pt x="1" y="119"/>
                    </a:lnTo>
                    <a:cubicBezTo>
                      <a:pt x="1" y="119"/>
                      <a:pt x="0" y="120"/>
                      <a:pt x="0" y="122"/>
                    </a:cubicBezTo>
                    <a:cubicBezTo>
                      <a:pt x="0" y="123"/>
                      <a:pt x="1" y="124"/>
                      <a:pt x="2" y="124"/>
                    </a:cubicBezTo>
                    <a:cubicBezTo>
                      <a:pt x="4" y="124"/>
                      <a:pt x="4" y="124"/>
                      <a:pt x="5" y="121"/>
                    </a:cubicBezTo>
                    <a:cubicBezTo>
                      <a:pt x="8" y="119"/>
                      <a:pt x="12" y="114"/>
                      <a:pt x="14" y="112"/>
                    </a:cubicBezTo>
                    <a:cubicBezTo>
                      <a:pt x="24" y="122"/>
                      <a:pt x="36" y="124"/>
                      <a:pt x="46" y="124"/>
                    </a:cubicBezTo>
                    <a:cubicBezTo>
                      <a:pt x="73" y="124"/>
                      <a:pt x="94" y="102"/>
                      <a:pt x="94" y="81"/>
                    </a:cubicBezTo>
                    <a:cubicBezTo>
                      <a:pt x="94" y="74"/>
                      <a:pt x="90" y="67"/>
                      <a:pt x="87" y="64"/>
                    </a:cubicBezTo>
                    <a:cubicBezTo>
                      <a:pt x="81" y="57"/>
                      <a:pt x="78" y="57"/>
                      <a:pt x="57" y="50"/>
                    </a:cubicBezTo>
                    <a:cubicBezTo>
                      <a:pt x="53" y="50"/>
                      <a:pt x="46" y="49"/>
                      <a:pt x="46" y="48"/>
                    </a:cubicBezTo>
                    <a:cubicBezTo>
                      <a:pt x="42" y="46"/>
                      <a:pt x="34" y="42"/>
                      <a:pt x="34" y="33"/>
                    </a:cubicBezTo>
                    <a:cubicBezTo>
                      <a:pt x="34" y="20"/>
                      <a:pt x="49" y="5"/>
                      <a:pt x="67" y="5"/>
                    </a:cubicBezTo>
                    <a:cubicBezTo>
                      <a:pt x="86" y="5"/>
                      <a:pt x="94" y="16"/>
                      <a:pt x="94" y="33"/>
                    </a:cubicBezTo>
                    <a:cubicBezTo>
                      <a:pt x="94" y="35"/>
                      <a:pt x="94" y="38"/>
                      <a:pt x="94" y="40"/>
                    </a:cubicBezTo>
                    <a:cubicBezTo>
                      <a:pt x="94" y="42"/>
                      <a:pt x="96" y="42"/>
                      <a:pt x="97" y="42"/>
                    </a:cubicBezTo>
                    <a:cubicBezTo>
                      <a:pt x="99" y="42"/>
                      <a:pt x="99" y="42"/>
                      <a:pt x="100" y="38"/>
                    </a:cubicBezTo>
                    <a:lnTo>
                      <a:pt x="108" y="2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</p:grpSp>
        <p:grpSp>
          <p:nvGrpSpPr>
            <p:cNvPr id="511" name="Group 173"/>
            <p:cNvGrpSpPr/>
            <p:nvPr/>
          </p:nvGrpSpPr>
          <p:grpSpPr>
            <a:xfrm>
              <a:off x="3069720" y="1998000"/>
              <a:ext cx="152280" cy="100080"/>
              <a:chOff x="3069720" y="1998000"/>
              <a:chExt cx="152280" cy="100080"/>
            </a:xfrm>
          </p:grpSpPr>
          <p:sp>
            <p:nvSpPr>
              <p:cNvPr id="512" name="Freeform 174"/>
              <p:cNvSpPr/>
              <p:nvPr/>
            </p:nvSpPr>
            <p:spPr>
              <a:xfrm>
                <a:off x="3069720" y="2014560"/>
                <a:ext cx="43560" cy="62640"/>
              </a:xfrm>
              <a:custGeom>
                <a:avLst/>
                <a:gdLst/>
                <a:ahLst/>
                <a:cxnLst/>
                <a:rect l="0" t="0" r="r" b="b"/>
                <a:pathLst>
                  <a:path w="121" h="174">
                    <a:moveTo>
                      <a:pt x="74" y="98"/>
                    </a:moveTo>
                    <a:cubicBezTo>
                      <a:pt x="85" y="124"/>
                      <a:pt x="96" y="161"/>
                      <a:pt x="101" y="167"/>
                    </a:cubicBezTo>
                    <a:cubicBezTo>
                      <a:pt x="104" y="173"/>
                      <a:pt x="107" y="173"/>
                      <a:pt x="113" y="173"/>
                    </a:cubicBezTo>
                    <a:lnTo>
                      <a:pt x="119" y="173"/>
                    </a:lnTo>
                    <a:cubicBezTo>
                      <a:pt x="120" y="172"/>
                      <a:pt x="120" y="170"/>
                      <a:pt x="120" y="170"/>
                    </a:cubicBezTo>
                    <a:cubicBezTo>
                      <a:pt x="120" y="170"/>
                      <a:pt x="120" y="169"/>
                      <a:pt x="119" y="167"/>
                    </a:cubicBezTo>
                    <a:cubicBezTo>
                      <a:pt x="118" y="165"/>
                      <a:pt x="116" y="161"/>
                      <a:pt x="115" y="157"/>
                    </a:cubicBezTo>
                    <a:lnTo>
                      <a:pt x="64" y="17"/>
                    </a:lnTo>
                    <a:cubicBezTo>
                      <a:pt x="59" y="4"/>
                      <a:pt x="46" y="0"/>
                      <a:pt x="35" y="0"/>
                    </a:cubicBezTo>
                    <a:cubicBezTo>
                      <a:pt x="33" y="0"/>
                      <a:pt x="29" y="0"/>
                      <a:pt x="29" y="3"/>
                    </a:cubicBezTo>
                    <a:cubicBezTo>
                      <a:pt x="29" y="5"/>
                      <a:pt x="33" y="5"/>
                      <a:pt x="33" y="5"/>
                    </a:cubicBezTo>
                    <a:cubicBezTo>
                      <a:pt x="41" y="6"/>
                      <a:pt x="42" y="9"/>
                      <a:pt x="48" y="25"/>
                    </a:cubicBezTo>
                    <a:lnTo>
                      <a:pt x="72" y="91"/>
                    </a:lnTo>
                    <a:lnTo>
                      <a:pt x="5" y="158"/>
                    </a:lnTo>
                    <a:cubicBezTo>
                      <a:pt x="2" y="160"/>
                      <a:pt x="0" y="163"/>
                      <a:pt x="0" y="166"/>
                    </a:cubicBezTo>
                    <a:cubicBezTo>
                      <a:pt x="0" y="170"/>
                      <a:pt x="4" y="173"/>
                      <a:pt x="7" y="173"/>
                    </a:cubicBezTo>
                    <a:cubicBezTo>
                      <a:pt x="11" y="173"/>
                      <a:pt x="13" y="170"/>
                      <a:pt x="16" y="167"/>
                    </a:cubicBezTo>
                    <a:lnTo>
                      <a:pt x="74" y="98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513" name="Freeform 175"/>
              <p:cNvSpPr/>
              <p:nvPr/>
            </p:nvSpPr>
            <p:spPr>
              <a:xfrm>
                <a:off x="3120120" y="1998000"/>
                <a:ext cx="27720" cy="41400"/>
              </a:xfrm>
              <a:custGeom>
                <a:avLst/>
                <a:gdLst/>
                <a:ahLst/>
                <a:cxnLst/>
                <a:rect l="0" t="0" r="r" b="b"/>
                <a:pathLst>
                  <a:path w="77" h="115">
                    <a:moveTo>
                      <a:pt x="76" y="82"/>
                    </a:moveTo>
                    <a:lnTo>
                      <a:pt x="70" y="82"/>
                    </a:lnTo>
                    <a:cubicBezTo>
                      <a:pt x="69" y="87"/>
                      <a:pt x="68" y="97"/>
                      <a:pt x="65" y="98"/>
                    </a:cubicBezTo>
                    <a:cubicBezTo>
                      <a:pt x="64" y="98"/>
                      <a:pt x="50" y="98"/>
                      <a:pt x="49" y="98"/>
                    </a:cubicBezTo>
                    <a:lnTo>
                      <a:pt x="17" y="98"/>
                    </a:lnTo>
                    <a:cubicBezTo>
                      <a:pt x="35" y="83"/>
                      <a:pt x="42" y="79"/>
                      <a:pt x="51" y="71"/>
                    </a:cubicBezTo>
                    <a:cubicBezTo>
                      <a:pt x="64" y="60"/>
                      <a:pt x="76" y="50"/>
                      <a:pt x="76" y="33"/>
                    </a:cubicBezTo>
                    <a:cubicBezTo>
                      <a:pt x="76" y="13"/>
                      <a:pt x="57" y="0"/>
                      <a:pt x="36" y="0"/>
                    </a:cubicBezTo>
                    <a:cubicBezTo>
                      <a:pt x="15" y="0"/>
                      <a:pt x="0" y="16"/>
                      <a:pt x="0" y="31"/>
                    </a:cubicBezTo>
                    <a:cubicBezTo>
                      <a:pt x="0" y="40"/>
                      <a:pt x="7" y="41"/>
                      <a:pt x="9" y="41"/>
                    </a:cubicBezTo>
                    <a:cubicBezTo>
                      <a:pt x="13" y="41"/>
                      <a:pt x="19" y="37"/>
                      <a:pt x="19" y="31"/>
                    </a:cubicBezTo>
                    <a:cubicBezTo>
                      <a:pt x="19" y="28"/>
                      <a:pt x="17" y="23"/>
                      <a:pt x="9" y="23"/>
                    </a:cubicBezTo>
                    <a:cubicBezTo>
                      <a:pt x="13" y="10"/>
                      <a:pt x="25" y="5"/>
                      <a:pt x="33" y="5"/>
                    </a:cubicBezTo>
                    <a:cubicBezTo>
                      <a:pt x="50" y="5"/>
                      <a:pt x="59" y="20"/>
                      <a:pt x="59" y="33"/>
                    </a:cubicBezTo>
                    <a:cubicBezTo>
                      <a:pt x="59" y="48"/>
                      <a:pt x="49" y="60"/>
                      <a:pt x="43" y="67"/>
                    </a:cubicBezTo>
                    <a:lnTo>
                      <a:pt x="2" y="108"/>
                    </a:lnTo>
                    <a:cubicBezTo>
                      <a:pt x="0" y="108"/>
                      <a:pt x="0" y="109"/>
                      <a:pt x="0" y="114"/>
                    </a:cubicBezTo>
                    <a:lnTo>
                      <a:pt x="71" y="114"/>
                    </a:lnTo>
                    <a:lnTo>
                      <a:pt x="76" y="82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514" name="Freeform 176"/>
              <p:cNvSpPr/>
              <p:nvPr/>
            </p:nvSpPr>
            <p:spPr>
              <a:xfrm>
                <a:off x="3119400" y="2054520"/>
                <a:ext cx="54720" cy="42480"/>
              </a:xfrm>
              <a:custGeom>
                <a:avLst/>
                <a:gdLst/>
                <a:ahLst/>
                <a:cxnLst/>
                <a:rect l="0" t="0" r="r" b="b"/>
                <a:pathLst>
                  <a:path w="152" h="118">
                    <a:moveTo>
                      <a:pt x="87" y="51"/>
                    </a:moveTo>
                    <a:lnTo>
                      <a:pt x="103" y="36"/>
                    </a:lnTo>
                    <a:cubicBezTo>
                      <a:pt x="125" y="14"/>
                      <a:pt x="132" y="7"/>
                      <a:pt x="147" y="5"/>
                    </a:cubicBezTo>
                    <a:cubicBezTo>
                      <a:pt x="149" y="5"/>
                      <a:pt x="151" y="5"/>
                      <a:pt x="151" y="3"/>
                    </a:cubicBezTo>
                    <a:cubicBezTo>
                      <a:pt x="151" y="1"/>
                      <a:pt x="149" y="0"/>
                      <a:pt x="149" y="0"/>
                    </a:cubicBezTo>
                    <a:cubicBezTo>
                      <a:pt x="143" y="0"/>
                      <a:pt x="138" y="1"/>
                      <a:pt x="133" y="1"/>
                    </a:cubicBezTo>
                    <a:cubicBezTo>
                      <a:pt x="129" y="1"/>
                      <a:pt x="117" y="0"/>
                      <a:pt x="112" y="0"/>
                    </a:cubicBezTo>
                    <a:cubicBezTo>
                      <a:pt x="112" y="0"/>
                      <a:pt x="109" y="1"/>
                      <a:pt x="109" y="4"/>
                    </a:cubicBezTo>
                    <a:cubicBezTo>
                      <a:pt x="109" y="4"/>
                      <a:pt x="109" y="5"/>
                      <a:pt x="112" y="5"/>
                    </a:cubicBezTo>
                    <a:cubicBezTo>
                      <a:pt x="114" y="5"/>
                      <a:pt x="118" y="6"/>
                      <a:pt x="118" y="11"/>
                    </a:cubicBezTo>
                    <a:cubicBezTo>
                      <a:pt x="118" y="13"/>
                      <a:pt x="116" y="16"/>
                      <a:pt x="114" y="18"/>
                    </a:cubicBezTo>
                    <a:cubicBezTo>
                      <a:pt x="112" y="20"/>
                      <a:pt x="90" y="40"/>
                      <a:pt x="85" y="46"/>
                    </a:cubicBezTo>
                    <a:lnTo>
                      <a:pt x="67" y="13"/>
                    </a:lnTo>
                    <a:cubicBezTo>
                      <a:pt x="67" y="12"/>
                      <a:pt x="66" y="11"/>
                      <a:pt x="66" y="11"/>
                    </a:cubicBezTo>
                    <a:cubicBezTo>
                      <a:pt x="66" y="9"/>
                      <a:pt x="69" y="6"/>
                      <a:pt x="75" y="5"/>
                    </a:cubicBezTo>
                    <a:cubicBezTo>
                      <a:pt x="76" y="5"/>
                      <a:pt x="79" y="5"/>
                      <a:pt x="79" y="2"/>
                    </a:cubicBezTo>
                    <a:cubicBezTo>
                      <a:pt x="79" y="2"/>
                      <a:pt x="78" y="0"/>
                      <a:pt x="75" y="0"/>
                    </a:cubicBezTo>
                    <a:cubicBezTo>
                      <a:pt x="72" y="0"/>
                      <a:pt x="68" y="1"/>
                      <a:pt x="64" y="1"/>
                    </a:cubicBezTo>
                    <a:cubicBezTo>
                      <a:pt x="60" y="1"/>
                      <a:pt x="57" y="1"/>
                      <a:pt x="53" y="1"/>
                    </a:cubicBezTo>
                    <a:cubicBezTo>
                      <a:pt x="50" y="1"/>
                      <a:pt x="46" y="1"/>
                      <a:pt x="42" y="1"/>
                    </a:cubicBezTo>
                    <a:cubicBezTo>
                      <a:pt x="40" y="1"/>
                      <a:pt x="36" y="0"/>
                      <a:pt x="34" y="0"/>
                    </a:cubicBezTo>
                    <a:cubicBezTo>
                      <a:pt x="33" y="0"/>
                      <a:pt x="29" y="0"/>
                      <a:pt x="29" y="4"/>
                    </a:cubicBezTo>
                    <a:cubicBezTo>
                      <a:pt x="29" y="5"/>
                      <a:pt x="33" y="5"/>
                      <a:pt x="35" y="5"/>
                    </a:cubicBezTo>
                    <a:cubicBezTo>
                      <a:pt x="46" y="5"/>
                      <a:pt x="46" y="8"/>
                      <a:pt x="47" y="11"/>
                    </a:cubicBezTo>
                    <a:lnTo>
                      <a:pt x="72" y="59"/>
                    </a:lnTo>
                    <a:lnTo>
                      <a:pt x="62" y="68"/>
                    </a:lnTo>
                    <a:cubicBezTo>
                      <a:pt x="59" y="71"/>
                      <a:pt x="50" y="79"/>
                      <a:pt x="47" y="82"/>
                    </a:cubicBezTo>
                    <a:cubicBezTo>
                      <a:pt x="27" y="103"/>
                      <a:pt x="20" y="111"/>
                      <a:pt x="5" y="112"/>
                    </a:cubicBezTo>
                    <a:cubicBezTo>
                      <a:pt x="2" y="112"/>
                      <a:pt x="0" y="112"/>
                      <a:pt x="0" y="115"/>
                    </a:cubicBezTo>
                    <a:cubicBezTo>
                      <a:pt x="0" y="116"/>
                      <a:pt x="1" y="117"/>
                      <a:pt x="2" y="117"/>
                    </a:cubicBezTo>
                    <a:cubicBezTo>
                      <a:pt x="7" y="117"/>
                      <a:pt x="13" y="116"/>
                      <a:pt x="19" y="116"/>
                    </a:cubicBezTo>
                    <a:cubicBezTo>
                      <a:pt x="21" y="116"/>
                      <a:pt x="26" y="116"/>
                      <a:pt x="28" y="116"/>
                    </a:cubicBezTo>
                    <a:cubicBezTo>
                      <a:pt x="32" y="116"/>
                      <a:pt x="36" y="117"/>
                      <a:pt x="38" y="117"/>
                    </a:cubicBezTo>
                    <a:cubicBezTo>
                      <a:pt x="38" y="117"/>
                      <a:pt x="42" y="117"/>
                      <a:pt x="42" y="114"/>
                    </a:cubicBezTo>
                    <a:cubicBezTo>
                      <a:pt x="42" y="112"/>
                      <a:pt x="40" y="112"/>
                      <a:pt x="38" y="112"/>
                    </a:cubicBezTo>
                    <a:cubicBezTo>
                      <a:pt x="37" y="112"/>
                      <a:pt x="33" y="111"/>
                      <a:pt x="33" y="107"/>
                    </a:cubicBezTo>
                    <a:cubicBezTo>
                      <a:pt x="33" y="104"/>
                      <a:pt x="36" y="102"/>
                      <a:pt x="40" y="97"/>
                    </a:cubicBezTo>
                    <a:lnTo>
                      <a:pt x="74" y="64"/>
                    </a:lnTo>
                    <a:lnTo>
                      <a:pt x="95" y="104"/>
                    </a:lnTo>
                    <a:cubicBezTo>
                      <a:pt x="96" y="106"/>
                      <a:pt x="96" y="107"/>
                      <a:pt x="96" y="107"/>
                    </a:cubicBezTo>
                    <a:cubicBezTo>
                      <a:pt x="96" y="108"/>
                      <a:pt x="93" y="111"/>
                      <a:pt x="87" y="112"/>
                    </a:cubicBezTo>
                    <a:cubicBezTo>
                      <a:pt x="86" y="112"/>
                      <a:pt x="83" y="112"/>
                      <a:pt x="83" y="115"/>
                    </a:cubicBezTo>
                    <a:cubicBezTo>
                      <a:pt x="83" y="115"/>
                      <a:pt x="83" y="117"/>
                      <a:pt x="86" y="117"/>
                    </a:cubicBezTo>
                    <a:cubicBezTo>
                      <a:pt x="89" y="117"/>
                      <a:pt x="94" y="116"/>
                      <a:pt x="97" y="116"/>
                    </a:cubicBezTo>
                    <a:cubicBezTo>
                      <a:pt x="101" y="116"/>
                      <a:pt x="105" y="116"/>
                      <a:pt x="108" y="116"/>
                    </a:cubicBezTo>
                    <a:cubicBezTo>
                      <a:pt x="112" y="116"/>
                      <a:pt x="116" y="116"/>
                      <a:pt x="119" y="116"/>
                    </a:cubicBezTo>
                    <a:cubicBezTo>
                      <a:pt x="121" y="116"/>
                      <a:pt x="126" y="117"/>
                      <a:pt x="129" y="117"/>
                    </a:cubicBezTo>
                    <a:cubicBezTo>
                      <a:pt x="129" y="117"/>
                      <a:pt x="132" y="117"/>
                      <a:pt x="132" y="112"/>
                    </a:cubicBezTo>
                    <a:cubicBezTo>
                      <a:pt x="132" y="112"/>
                      <a:pt x="129" y="112"/>
                      <a:pt x="126" y="112"/>
                    </a:cubicBezTo>
                    <a:cubicBezTo>
                      <a:pt x="116" y="112"/>
                      <a:pt x="116" y="109"/>
                      <a:pt x="115" y="106"/>
                    </a:cubicBezTo>
                    <a:lnTo>
                      <a:pt x="87" y="51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515" name="Freeform 177"/>
              <p:cNvSpPr/>
              <p:nvPr/>
            </p:nvSpPr>
            <p:spPr>
              <a:xfrm>
                <a:off x="3183120" y="2053440"/>
                <a:ext cx="39240" cy="45000"/>
              </a:xfrm>
              <a:custGeom>
                <a:avLst/>
                <a:gdLst/>
                <a:ahLst/>
                <a:cxnLst/>
                <a:rect l="0" t="0" r="r" b="b"/>
                <a:pathLst>
                  <a:path w="109" h="125">
                    <a:moveTo>
                      <a:pt x="108" y="2"/>
                    </a:moveTo>
                    <a:cubicBezTo>
                      <a:pt x="108" y="2"/>
                      <a:pt x="108" y="0"/>
                      <a:pt x="107" y="0"/>
                    </a:cubicBezTo>
                    <a:cubicBezTo>
                      <a:pt x="105" y="0"/>
                      <a:pt x="105" y="0"/>
                      <a:pt x="103" y="2"/>
                    </a:cubicBezTo>
                    <a:lnTo>
                      <a:pt x="95" y="12"/>
                    </a:lnTo>
                    <a:cubicBezTo>
                      <a:pt x="88" y="4"/>
                      <a:pt x="77" y="0"/>
                      <a:pt x="67" y="0"/>
                    </a:cubicBezTo>
                    <a:cubicBezTo>
                      <a:pt x="42" y="0"/>
                      <a:pt x="22" y="20"/>
                      <a:pt x="22" y="40"/>
                    </a:cubicBezTo>
                    <a:cubicBezTo>
                      <a:pt x="22" y="42"/>
                      <a:pt x="23" y="49"/>
                      <a:pt x="27" y="55"/>
                    </a:cubicBezTo>
                    <a:cubicBezTo>
                      <a:pt x="33" y="62"/>
                      <a:pt x="40" y="64"/>
                      <a:pt x="50" y="66"/>
                    </a:cubicBezTo>
                    <a:cubicBezTo>
                      <a:pt x="55" y="67"/>
                      <a:pt x="64" y="68"/>
                      <a:pt x="65" y="69"/>
                    </a:cubicBezTo>
                    <a:cubicBezTo>
                      <a:pt x="71" y="71"/>
                      <a:pt x="81" y="75"/>
                      <a:pt x="81" y="88"/>
                    </a:cubicBezTo>
                    <a:cubicBezTo>
                      <a:pt x="81" y="102"/>
                      <a:pt x="67" y="118"/>
                      <a:pt x="46" y="118"/>
                    </a:cubicBezTo>
                    <a:cubicBezTo>
                      <a:pt x="33" y="118"/>
                      <a:pt x="14" y="112"/>
                      <a:pt x="14" y="93"/>
                    </a:cubicBezTo>
                    <a:cubicBezTo>
                      <a:pt x="14" y="91"/>
                      <a:pt x="15" y="88"/>
                      <a:pt x="16" y="85"/>
                    </a:cubicBezTo>
                    <a:lnTo>
                      <a:pt x="16" y="84"/>
                    </a:lnTo>
                    <a:cubicBezTo>
                      <a:pt x="16" y="81"/>
                      <a:pt x="13" y="81"/>
                      <a:pt x="13" y="81"/>
                    </a:cubicBezTo>
                    <a:cubicBezTo>
                      <a:pt x="10" y="81"/>
                      <a:pt x="10" y="82"/>
                      <a:pt x="9" y="85"/>
                    </a:cubicBezTo>
                    <a:lnTo>
                      <a:pt x="1" y="119"/>
                    </a:lnTo>
                    <a:cubicBezTo>
                      <a:pt x="1" y="119"/>
                      <a:pt x="0" y="120"/>
                      <a:pt x="0" y="122"/>
                    </a:cubicBezTo>
                    <a:cubicBezTo>
                      <a:pt x="0" y="123"/>
                      <a:pt x="1" y="124"/>
                      <a:pt x="2" y="124"/>
                    </a:cubicBezTo>
                    <a:cubicBezTo>
                      <a:pt x="4" y="124"/>
                      <a:pt x="4" y="124"/>
                      <a:pt x="5" y="121"/>
                    </a:cubicBezTo>
                    <a:cubicBezTo>
                      <a:pt x="8" y="119"/>
                      <a:pt x="12" y="114"/>
                      <a:pt x="14" y="112"/>
                    </a:cubicBezTo>
                    <a:cubicBezTo>
                      <a:pt x="24" y="122"/>
                      <a:pt x="36" y="124"/>
                      <a:pt x="46" y="124"/>
                    </a:cubicBezTo>
                    <a:cubicBezTo>
                      <a:pt x="73" y="124"/>
                      <a:pt x="94" y="102"/>
                      <a:pt x="94" y="81"/>
                    </a:cubicBezTo>
                    <a:cubicBezTo>
                      <a:pt x="94" y="74"/>
                      <a:pt x="90" y="67"/>
                      <a:pt x="87" y="64"/>
                    </a:cubicBezTo>
                    <a:cubicBezTo>
                      <a:pt x="81" y="57"/>
                      <a:pt x="78" y="57"/>
                      <a:pt x="57" y="50"/>
                    </a:cubicBezTo>
                    <a:cubicBezTo>
                      <a:pt x="53" y="50"/>
                      <a:pt x="46" y="49"/>
                      <a:pt x="46" y="48"/>
                    </a:cubicBezTo>
                    <a:cubicBezTo>
                      <a:pt x="42" y="46"/>
                      <a:pt x="34" y="42"/>
                      <a:pt x="34" y="33"/>
                    </a:cubicBezTo>
                    <a:cubicBezTo>
                      <a:pt x="34" y="20"/>
                      <a:pt x="49" y="5"/>
                      <a:pt x="67" y="5"/>
                    </a:cubicBezTo>
                    <a:cubicBezTo>
                      <a:pt x="86" y="5"/>
                      <a:pt x="94" y="16"/>
                      <a:pt x="94" y="33"/>
                    </a:cubicBezTo>
                    <a:cubicBezTo>
                      <a:pt x="94" y="35"/>
                      <a:pt x="94" y="38"/>
                      <a:pt x="94" y="40"/>
                    </a:cubicBezTo>
                    <a:cubicBezTo>
                      <a:pt x="94" y="42"/>
                      <a:pt x="96" y="42"/>
                      <a:pt x="97" y="42"/>
                    </a:cubicBezTo>
                    <a:cubicBezTo>
                      <a:pt x="99" y="42"/>
                      <a:pt x="99" y="42"/>
                      <a:pt x="100" y="38"/>
                    </a:cubicBezTo>
                    <a:lnTo>
                      <a:pt x="108" y="2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</p:grpSp>
        <p:grpSp>
          <p:nvGrpSpPr>
            <p:cNvPr id="516" name="Group 178"/>
            <p:cNvGrpSpPr/>
            <p:nvPr/>
          </p:nvGrpSpPr>
          <p:grpSpPr>
            <a:xfrm>
              <a:off x="3517200" y="2000520"/>
              <a:ext cx="213480" cy="77760"/>
              <a:chOff x="3517200" y="2000520"/>
              <a:chExt cx="213480" cy="77760"/>
            </a:xfrm>
          </p:grpSpPr>
          <p:sp>
            <p:nvSpPr>
              <p:cNvPr id="517" name="Freeform 179"/>
              <p:cNvSpPr/>
              <p:nvPr/>
            </p:nvSpPr>
            <p:spPr>
              <a:xfrm>
                <a:off x="3517200" y="2000520"/>
                <a:ext cx="43560" cy="62640"/>
              </a:xfrm>
              <a:custGeom>
                <a:avLst/>
                <a:gdLst/>
                <a:ahLst/>
                <a:cxnLst/>
                <a:rect l="0" t="0" r="r" b="b"/>
                <a:pathLst>
                  <a:path w="121" h="174">
                    <a:moveTo>
                      <a:pt x="74" y="98"/>
                    </a:moveTo>
                    <a:cubicBezTo>
                      <a:pt x="85" y="124"/>
                      <a:pt x="96" y="161"/>
                      <a:pt x="101" y="167"/>
                    </a:cubicBezTo>
                    <a:cubicBezTo>
                      <a:pt x="104" y="173"/>
                      <a:pt x="107" y="173"/>
                      <a:pt x="112" y="173"/>
                    </a:cubicBezTo>
                    <a:lnTo>
                      <a:pt x="119" y="173"/>
                    </a:lnTo>
                    <a:cubicBezTo>
                      <a:pt x="120" y="172"/>
                      <a:pt x="120" y="170"/>
                      <a:pt x="120" y="170"/>
                    </a:cubicBezTo>
                    <a:cubicBezTo>
                      <a:pt x="120" y="170"/>
                      <a:pt x="120" y="169"/>
                      <a:pt x="119" y="167"/>
                    </a:cubicBezTo>
                    <a:cubicBezTo>
                      <a:pt x="118" y="165"/>
                      <a:pt x="116" y="161"/>
                      <a:pt x="115" y="157"/>
                    </a:cubicBezTo>
                    <a:lnTo>
                      <a:pt x="64" y="17"/>
                    </a:lnTo>
                    <a:cubicBezTo>
                      <a:pt x="59" y="4"/>
                      <a:pt x="46" y="0"/>
                      <a:pt x="35" y="0"/>
                    </a:cubicBezTo>
                    <a:cubicBezTo>
                      <a:pt x="33" y="0"/>
                      <a:pt x="29" y="0"/>
                      <a:pt x="29" y="3"/>
                    </a:cubicBezTo>
                    <a:cubicBezTo>
                      <a:pt x="29" y="5"/>
                      <a:pt x="33" y="5"/>
                      <a:pt x="33" y="5"/>
                    </a:cubicBezTo>
                    <a:cubicBezTo>
                      <a:pt x="41" y="6"/>
                      <a:pt x="42" y="9"/>
                      <a:pt x="48" y="25"/>
                    </a:cubicBezTo>
                    <a:lnTo>
                      <a:pt x="72" y="91"/>
                    </a:lnTo>
                    <a:lnTo>
                      <a:pt x="5" y="158"/>
                    </a:lnTo>
                    <a:cubicBezTo>
                      <a:pt x="2" y="160"/>
                      <a:pt x="0" y="163"/>
                      <a:pt x="0" y="166"/>
                    </a:cubicBezTo>
                    <a:cubicBezTo>
                      <a:pt x="0" y="170"/>
                      <a:pt x="4" y="173"/>
                      <a:pt x="7" y="173"/>
                    </a:cubicBezTo>
                    <a:cubicBezTo>
                      <a:pt x="11" y="173"/>
                      <a:pt x="13" y="170"/>
                      <a:pt x="16" y="167"/>
                    </a:cubicBezTo>
                    <a:lnTo>
                      <a:pt x="74" y="98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518" name="Freeform 180"/>
              <p:cNvSpPr/>
              <p:nvPr/>
            </p:nvSpPr>
            <p:spPr>
              <a:xfrm>
                <a:off x="3566880" y="2034720"/>
                <a:ext cx="54720" cy="42480"/>
              </a:xfrm>
              <a:custGeom>
                <a:avLst/>
                <a:gdLst/>
                <a:ahLst/>
                <a:cxnLst/>
                <a:rect l="0" t="0" r="r" b="b"/>
                <a:pathLst>
                  <a:path w="152" h="118">
                    <a:moveTo>
                      <a:pt x="87" y="51"/>
                    </a:moveTo>
                    <a:lnTo>
                      <a:pt x="103" y="36"/>
                    </a:lnTo>
                    <a:cubicBezTo>
                      <a:pt x="125" y="14"/>
                      <a:pt x="131" y="7"/>
                      <a:pt x="147" y="5"/>
                    </a:cubicBezTo>
                    <a:cubicBezTo>
                      <a:pt x="149" y="5"/>
                      <a:pt x="151" y="5"/>
                      <a:pt x="151" y="3"/>
                    </a:cubicBezTo>
                    <a:cubicBezTo>
                      <a:pt x="151" y="1"/>
                      <a:pt x="149" y="0"/>
                      <a:pt x="149" y="0"/>
                    </a:cubicBezTo>
                    <a:cubicBezTo>
                      <a:pt x="143" y="0"/>
                      <a:pt x="138" y="1"/>
                      <a:pt x="133" y="1"/>
                    </a:cubicBezTo>
                    <a:cubicBezTo>
                      <a:pt x="129" y="1"/>
                      <a:pt x="117" y="0"/>
                      <a:pt x="112" y="0"/>
                    </a:cubicBezTo>
                    <a:cubicBezTo>
                      <a:pt x="112" y="0"/>
                      <a:pt x="109" y="1"/>
                      <a:pt x="109" y="4"/>
                    </a:cubicBezTo>
                    <a:cubicBezTo>
                      <a:pt x="109" y="4"/>
                      <a:pt x="109" y="5"/>
                      <a:pt x="112" y="5"/>
                    </a:cubicBezTo>
                    <a:cubicBezTo>
                      <a:pt x="113" y="5"/>
                      <a:pt x="118" y="6"/>
                      <a:pt x="118" y="11"/>
                    </a:cubicBezTo>
                    <a:cubicBezTo>
                      <a:pt x="118" y="13"/>
                      <a:pt x="116" y="16"/>
                      <a:pt x="113" y="18"/>
                    </a:cubicBezTo>
                    <a:cubicBezTo>
                      <a:pt x="112" y="20"/>
                      <a:pt x="90" y="40"/>
                      <a:pt x="85" y="46"/>
                    </a:cubicBezTo>
                    <a:lnTo>
                      <a:pt x="67" y="13"/>
                    </a:lnTo>
                    <a:cubicBezTo>
                      <a:pt x="67" y="12"/>
                      <a:pt x="66" y="11"/>
                      <a:pt x="66" y="11"/>
                    </a:cubicBezTo>
                    <a:cubicBezTo>
                      <a:pt x="66" y="9"/>
                      <a:pt x="69" y="6"/>
                      <a:pt x="75" y="5"/>
                    </a:cubicBezTo>
                    <a:cubicBezTo>
                      <a:pt x="76" y="5"/>
                      <a:pt x="79" y="5"/>
                      <a:pt x="79" y="2"/>
                    </a:cubicBezTo>
                    <a:cubicBezTo>
                      <a:pt x="79" y="2"/>
                      <a:pt x="78" y="0"/>
                      <a:pt x="75" y="0"/>
                    </a:cubicBezTo>
                    <a:cubicBezTo>
                      <a:pt x="72" y="0"/>
                      <a:pt x="68" y="1"/>
                      <a:pt x="64" y="1"/>
                    </a:cubicBezTo>
                    <a:cubicBezTo>
                      <a:pt x="60" y="1"/>
                      <a:pt x="57" y="1"/>
                      <a:pt x="53" y="1"/>
                    </a:cubicBezTo>
                    <a:cubicBezTo>
                      <a:pt x="50" y="1"/>
                      <a:pt x="46" y="1"/>
                      <a:pt x="42" y="1"/>
                    </a:cubicBezTo>
                    <a:cubicBezTo>
                      <a:pt x="40" y="1"/>
                      <a:pt x="36" y="0"/>
                      <a:pt x="34" y="0"/>
                    </a:cubicBezTo>
                    <a:cubicBezTo>
                      <a:pt x="33" y="0"/>
                      <a:pt x="29" y="0"/>
                      <a:pt x="29" y="4"/>
                    </a:cubicBezTo>
                    <a:cubicBezTo>
                      <a:pt x="29" y="5"/>
                      <a:pt x="33" y="5"/>
                      <a:pt x="35" y="5"/>
                    </a:cubicBezTo>
                    <a:cubicBezTo>
                      <a:pt x="46" y="5"/>
                      <a:pt x="46" y="8"/>
                      <a:pt x="47" y="11"/>
                    </a:cubicBezTo>
                    <a:lnTo>
                      <a:pt x="71" y="59"/>
                    </a:lnTo>
                    <a:lnTo>
                      <a:pt x="62" y="68"/>
                    </a:lnTo>
                    <a:cubicBezTo>
                      <a:pt x="59" y="72"/>
                      <a:pt x="50" y="79"/>
                      <a:pt x="47" y="82"/>
                    </a:cubicBezTo>
                    <a:cubicBezTo>
                      <a:pt x="27" y="103"/>
                      <a:pt x="20" y="111"/>
                      <a:pt x="5" y="112"/>
                    </a:cubicBezTo>
                    <a:cubicBezTo>
                      <a:pt x="2" y="112"/>
                      <a:pt x="0" y="112"/>
                      <a:pt x="0" y="115"/>
                    </a:cubicBezTo>
                    <a:cubicBezTo>
                      <a:pt x="0" y="116"/>
                      <a:pt x="1" y="117"/>
                      <a:pt x="2" y="117"/>
                    </a:cubicBezTo>
                    <a:cubicBezTo>
                      <a:pt x="7" y="117"/>
                      <a:pt x="13" y="116"/>
                      <a:pt x="19" y="116"/>
                    </a:cubicBezTo>
                    <a:cubicBezTo>
                      <a:pt x="21" y="116"/>
                      <a:pt x="26" y="116"/>
                      <a:pt x="28" y="116"/>
                    </a:cubicBezTo>
                    <a:cubicBezTo>
                      <a:pt x="32" y="116"/>
                      <a:pt x="36" y="117"/>
                      <a:pt x="38" y="117"/>
                    </a:cubicBezTo>
                    <a:cubicBezTo>
                      <a:pt x="38" y="117"/>
                      <a:pt x="42" y="117"/>
                      <a:pt x="42" y="114"/>
                    </a:cubicBezTo>
                    <a:cubicBezTo>
                      <a:pt x="42" y="112"/>
                      <a:pt x="40" y="112"/>
                      <a:pt x="38" y="112"/>
                    </a:cubicBezTo>
                    <a:cubicBezTo>
                      <a:pt x="37" y="112"/>
                      <a:pt x="33" y="111"/>
                      <a:pt x="33" y="107"/>
                    </a:cubicBezTo>
                    <a:cubicBezTo>
                      <a:pt x="33" y="104"/>
                      <a:pt x="36" y="102"/>
                      <a:pt x="39" y="97"/>
                    </a:cubicBezTo>
                    <a:lnTo>
                      <a:pt x="74" y="64"/>
                    </a:lnTo>
                    <a:lnTo>
                      <a:pt x="95" y="104"/>
                    </a:lnTo>
                    <a:cubicBezTo>
                      <a:pt x="96" y="106"/>
                      <a:pt x="96" y="107"/>
                      <a:pt x="96" y="107"/>
                    </a:cubicBezTo>
                    <a:cubicBezTo>
                      <a:pt x="96" y="108"/>
                      <a:pt x="93" y="111"/>
                      <a:pt x="87" y="112"/>
                    </a:cubicBezTo>
                    <a:cubicBezTo>
                      <a:pt x="86" y="112"/>
                      <a:pt x="83" y="112"/>
                      <a:pt x="83" y="115"/>
                    </a:cubicBezTo>
                    <a:cubicBezTo>
                      <a:pt x="83" y="115"/>
                      <a:pt x="83" y="117"/>
                      <a:pt x="86" y="117"/>
                    </a:cubicBezTo>
                    <a:cubicBezTo>
                      <a:pt x="89" y="117"/>
                      <a:pt x="94" y="116"/>
                      <a:pt x="97" y="116"/>
                    </a:cubicBezTo>
                    <a:cubicBezTo>
                      <a:pt x="101" y="116"/>
                      <a:pt x="105" y="116"/>
                      <a:pt x="108" y="116"/>
                    </a:cubicBezTo>
                    <a:cubicBezTo>
                      <a:pt x="112" y="116"/>
                      <a:pt x="116" y="116"/>
                      <a:pt x="119" y="116"/>
                    </a:cubicBezTo>
                    <a:cubicBezTo>
                      <a:pt x="121" y="116"/>
                      <a:pt x="126" y="117"/>
                      <a:pt x="129" y="117"/>
                    </a:cubicBezTo>
                    <a:cubicBezTo>
                      <a:pt x="129" y="117"/>
                      <a:pt x="131" y="117"/>
                      <a:pt x="131" y="113"/>
                    </a:cubicBezTo>
                    <a:cubicBezTo>
                      <a:pt x="131" y="112"/>
                      <a:pt x="129" y="112"/>
                      <a:pt x="126" y="112"/>
                    </a:cubicBezTo>
                    <a:cubicBezTo>
                      <a:pt x="116" y="112"/>
                      <a:pt x="116" y="109"/>
                      <a:pt x="115" y="106"/>
                    </a:cubicBezTo>
                    <a:lnTo>
                      <a:pt x="87" y="51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519" name="Freeform 181"/>
              <p:cNvSpPr/>
              <p:nvPr/>
            </p:nvSpPr>
            <p:spPr>
              <a:xfrm>
                <a:off x="3629880" y="2030040"/>
                <a:ext cx="21960" cy="29520"/>
              </a:xfrm>
              <a:custGeom>
                <a:avLst/>
                <a:gdLst/>
                <a:ahLst/>
                <a:cxnLst/>
                <a:rect l="0" t="0" r="r" b="b"/>
                <a:pathLst>
                  <a:path w="61" h="82">
                    <a:moveTo>
                      <a:pt x="60" y="58"/>
                    </a:moveTo>
                    <a:lnTo>
                      <a:pt x="57" y="58"/>
                    </a:lnTo>
                    <a:cubicBezTo>
                      <a:pt x="56" y="60"/>
                      <a:pt x="55" y="68"/>
                      <a:pt x="53" y="69"/>
                    </a:cubicBezTo>
                    <a:cubicBezTo>
                      <a:pt x="51" y="70"/>
                      <a:pt x="42" y="70"/>
                      <a:pt x="39" y="70"/>
                    </a:cubicBezTo>
                    <a:lnTo>
                      <a:pt x="16" y="70"/>
                    </a:lnTo>
                    <a:cubicBezTo>
                      <a:pt x="24" y="64"/>
                      <a:pt x="33" y="57"/>
                      <a:pt x="40" y="52"/>
                    </a:cubicBezTo>
                    <a:cubicBezTo>
                      <a:pt x="50" y="45"/>
                      <a:pt x="60" y="37"/>
                      <a:pt x="60" y="24"/>
                    </a:cubicBezTo>
                    <a:cubicBezTo>
                      <a:pt x="60" y="9"/>
                      <a:pt x="46" y="0"/>
                      <a:pt x="28" y="0"/>
                    </a:cubicBezTo>
                    <a:cubicBezTo>
                      <a:pt x="12" y="0"/>
                      <a:pt x="0" y="9"/>
                      <a:pt x="0" y="22"/>
                    </a:cubicBezTo>
                    <a:cubicBezTo>
                      <a:pt x="0" y="27"/>
                      <a:pt x="5" y="28"/>
                      <a:pt x="7" y="28"/>
                    </a:cubicBezTo>
                    <a:cubicBezTo>
                      <a:pt x="11" y="28"/>
                      <a:pt x="15" y="27"/>
                      <a:pt x="15" y="22"/>
                    </a:cubicBezTo>
                    <a:cubicBezTo>
                      <a:pt x="15" y="17"/>
                      <a:pt x="11" y="16"/>
                      <a:pt x="7" y="15"/>
                    </a:cubicBezTo>
                    <a:cubicBezTo>
                      <a:pt x="11" y="9"/>
                      <a:pt x="18" y="5"/>
                      <a:pt x="26" y="5"/>
                    </a:cubicBezTo>
                    <a:cubicBezTo>
                      <a:pt x="38" y="5"/>
                      <a:pt x="48" y="13"/>
                      <a:pt x="48" y="24"/>
                    </a:cubicBezTo>
                    <a:cubicBezTo>
                      <a:pt x="48" y="35"/>
                      <a:pt x="42" y="42"/>
                      <a:pt x="32" y="50"/>
                    </a:cubicBezTo>
                    <a:lnTo>
                      <a:pt x="2" y="77"/>
                    </a:lnTo>
                    <a:cubicBezTo>
                      <a:pt x="0" y="77"/>
                      <a:pt x="0" y="77"/>
                      <a:pt x="0" y="78"/>
                    </a:cubicBezTo>
                    <a:lnTo>
                      <a:pt x="0" y="81"/>
                    </a:lnTo>
                    <a:lnTo>
                      <a:pt x="57" y="81"/>
                    </a:lnTo>
                    <a:lnTo>
                      <a:pt x="60" y="58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520" name="Freeform 182"/>
              <p:cNvSpPr/>
              <p:nvPr/>
            </p:nvSpPr>
            <p:spPr>
              <a:xfrm>
                <a:off x="3664800" y="2033640"/>
                <a:ext cx="39240" cy="45000"/>
              </a:xfrm>
              <a:custGeom>
                <a:avLst/>
                <a:gdLst/>
                <a:ahLst/>
                <a:cxnLst/>
                <a:rect l="0" t="0" r="r" b="b"/>
                <a:pathLst>
                  <a:path w="109" h="125">
                    <a:moveTo>
                      <a:pt x="108" y="2"/>
                    </a:moveTo>
                    <a:cubicBezTo>
                      <a:pt x="108" y="2"/>
                      <a:pt x="108" y="0"/>
                      <a:pt x="107" y="0"/>
                    </a:cubicBezTo>
                    <a:cubicBezTo>
                      <a:pt x="105" y="0"/>
                      <a:pt x="105" y="0"/>
                      <a:pt x="103" y="2"/>
                    </a:cubicBezTo>
                    <a:lnTo>
                      <a:pt x="95" y="12"/>
                    </a:lnTo>
                    <a:cubicBezTo>
                      <a:pt x="88" y="4"/>
                      <a:pt x="77" y="0"/>
                      <a:pt x="67" y="0"/>
                    </a:cubicBezTo>
                    <a:cubicBezTo>
                      <a:pt x="42" y="0"/>
                      <a:pt x="22" y="20"/>
                      <a:pt x="22" y="40"/>
                    </a:cubicBezTo>
                    <a:cubicBezTo>
                      <a:pt x="22" y="42"/>
                      <a:pt x="23" y="49"/>
                      <a:pt x="27" y="55"/>
                    </a:cubicBezTo>
                    <a:cubicBezTo>
                      <a:pt x="33" y="62"/>
                      <a:pt x="39" y="64"/>
                      <a:pt x="50" y="66"/>
                    </a:cubicBezTo>
                    <a:cubicBezTo>
                      <a:pt x="55" y="67"/>
                      <a:pt x="63" y="68"/>
                      <a:pt x="65" y="69"/>
                    </a:cubicBezTo>
                    <a:cubicBezTo>
                      <a:pt x="71" y="71"/>
                      <a:pt x="81" y="75"/>
                      <a:pt x="81" y="88"/>
                    </a:cubicBezTo>
                    <a:cubicBezTo>
                      <a:pt x="81" y="102"/>
                      <a:pt x="67" y="119"/>
                      <a:pt x="46" y="119"/>
                    </a:cubicBezTo>
                    <a:cubicBezTo>
                      <a:pt x="33" y="119"/>
                      <a:pt x="14" y="112"/>
                      <a:pt x="14" y="93"/>
                    </a:cubicBezTo>
                    <a:cubicBezTo>
                      <a:pt x="14" y="91"/>
                      <a:pt x="15" y="88"/>
                      <a:pt x="16" y="85"/>
                    </a:cubicBezTo>
                    <a:lnTo>
                      <a:pt x="16" y="84"/>
                    </a:lnTo>
                    <a:cubicBezTo>
                      <a:pt x="16" y="81"/>
                      <a:pt x="13" y="81"/>
                      <a:pt x="13" y="81"/>
                    </a:cubicBezTo>
                    <a:cubicBezTo>
                      <a:pt x="10" y="81"/>
                      <a:pt x="10" y="82"/>
                      <a:pt x="9" y="85"/>
                    </a:cubicBezTo>
                    <a:lnTo>
                      <a:pt x="1" y="119"/>
                    </a:lnTo>
                    <a:cubicBezTo>
                      <a:pt x="1" y="119"/>
                      <a:pt x="0" y="120"/>
                      <a:pt x="0" y="123"/>
                    </a:cubicBezTo>
                    <a:cubicBezTo>
                      <a:pt x="0" y="123"/>
                      <a:pt x="1" y="124"/>
                      <a:pt x="2" y="124"/>
                    </a:cubicBezTo>
                    <a:cubicBezTo>
                      <a:pt x="4" y="124"/>
                      <a:pt x="4" y="124"/>
                      <a:pt x="5" y="121"/>
                    </a:cubicBezTo>
                    <a:cubicBezTo>
                      <a:pt x="8" y="119"/>
                      <a:pt x="12" y="114"/>
                      <a:pt x="14" y="112"/>
                    </a:cubicBezTo>
                    <a:cubicBezTo>
                      <a:pt x="24" y="123"/>
                      <a:pt x="36" y="124"/>
                      <a:pt x="46" y="124"/>
                    </a:cubicBezTo>
                    <a:cubicBezTo>
                      <a:pt x="73" y="124"/>
                      <a:pt x="94" y="102"/>
                      <a:pt x="94" y="81"/>
                    </a:cubicBezTo>
                    <a:cubicBezTo>
                      <a:pt x="94" y="74"/>
                      <a:pt x="90" y="67"/>
                      <a:pt x="87" y="64"/>
                    </a:cubicBezTo>
                    <a:cubicBezTo>
                      <a:pt x="81" y="57"/>
                      <a:pt x="78" y="57"/>
                      <a:pt x="57" y="50"/>
                    </a:cubicBezTo>
                    <a:cubicBezTo>
                      <a:pt x="53" y="50"/>
                      <a:pt x="46" y="49"/>
                      <a:pt x="46" y="48"/>
                    </a:cubicBezTo>
                    <a:cubicBezTo>
                      <a:pt x="42" y="46"/>
                      <a:pt x="34" y="42"/>
                      <a:pt x="34" y="33"/>
                    </a:cubicBezTo>
                    <a:cubicBezTo>
                      <a:pt x="34" y="20"/>
                      <a:pt x="49" y="5"/>
                      <a:pt x="67" y="5"/>
                    </a:cubicBezTo>
                    <a:cubicBezTo>
                      <a:pt x="86" y="5"/>
                      <a:pt x="94" y="16"/>
                      <a:pt x="94" y="33"/>
                    </a:cubicBezTo>
                    <a:cubicBezTo>
                      <a:pt x="94" y="35"/>
                      <a:pt x="94" y="38"/>
                      <a:pt x="94" y="40"/>
                    </a:cubicBezTo>
                    <a:cubicBezTo>
                      <a:pt x="94" y="42"/>
                      <a:pt x="96" y="42"/>
                      <a:pt x="97" y="42"/>
                    </a:cubicBezTo>
                    <a:cubicBezTo>
                      <a:pt x="98" y="42"/>
                      <a:pt x="98" y="42"/>
                      <a:pt x="99" y="38"/>
                    </a:cubicBezTo>
                    <a:lnTo>
                      <a:pt x="108" y="2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  <p:sp>
            <p:nvSpPr>
              <p:cNvPr id="521" name="Freeform 183"/>
              <p:cNvSpPr/>
              <p:nvPr/>
            </p:nvSpPr>
            <p:spPr>
              <a:xfrm>
                <a:off x="3712680" y="2030040"/>
                <a:ext cx="18360" cy="29520"/>
              </a:xfrm>
              <a:custGeom>
                <a:avLst/>
                <a:gdLst/>
                <a:ahLst/>
                <a:cxnLst/>
                <a:rect l="0" t="0" r="r" b="b"/>
                <a:pathLst>
                  <a:path w="51" h="82">
                    <a:moveTo>
                      <a:pt x="32" y="4"/>
                    </a:moveTo>
                    <a:cubicBezTo>
                      <a:pt x="32" y="0"/>
                      <a:pt x="31" y="0"/>
                      <a:pt x="27" y="0"/>
                    </a:cubicBezTo>
                    <a:cubicBezTo>
                      <a:pt x="19" y="8"/>
                      <a:pt x="5" y="8"/>
                      <a:pt x="2" y="8"/>
                    </a:cubicBezTo>
                    <a:lnTo>
                      <a:pt x="0" y="8"/>
                    </a:lnTo>
                    <a:lnTo>
                      <a:pt x="0" y="13"/>
                    </a:lnTo>
                    <a:lnTo>
                      <a:pt x="2" y="13"/>
                    </a:lnTo>
                    <a:cubicBezTo>
                      <a:pt x="5" y="13"/>
                      <a:pt x="13" y="13"/>
                      <a:pt x="20" y="10"/>
                    </a:cubicBezTo>
                    <a:lnTo>
                      <a:pt x="20" y="71"/>
                    </a:lnTo>
                    <a:cubicBezTo>
                      <a:pt x="20" y="75"/>
                      <a:pt x="20" y="77"/>
                      <a:pt x="7" y="77"/>
                    </a:cubicBezTo>
                    <a:lnTo>
                      <a:pt x="2" y="77"/>
                    </a:lnTo>
                    <a:lnTo>
                      <a:pt x="2" y="81"/>
                    </a:lnTo>
                    <a:cubicBezTo>
                      <a:pt x="8" y="81"/>
                      <a:pt x="20" y="81"/>
                      <a:pt x="26" y="81"/>
                    </a:cubicBezTo>
                    <a:cubicBezTo>
                      <a:pt x="33" y="81"/>
                      <a:pt x="43" y="81"/>
                      <a:pt x="50" y="81"/>
                    </a:cubicBezTo>
                    <a:lnTo>
                      <a:pt x="50" y="77"/>
                    </a:lnTo>
                    <a:lnTo>
                      <a:pt x="45" y="77"/>
                    </a:lnTo>
                    <a:cubicBezTo>
                      <a:pt x="32" y="77"/>
                      <a:pt x="32" y="75"/>
                      <a:pt x="32" y="71"/>
                    </a:cubicBezTo>
                    <a:lnTo>
                      <a:pt x="32" y="4"/>
                    </a:lnTo>
                    <a:close/>
                  </a:path>
                </a:pathLst>
              </a:custGeom>
              <a:solidFill>
                <a:srgbClr val="000000"/>
              </a:solidFill>
              <a:ln w="15840">
                <a:noFill/>
              </a:ln>
            </p:spPr>
          </p:sp>
        </p:grpSp>
        <p:sp>
          <p:nvSpPr>
            <p:cNvPr id="522" name="TextShape 184"/>
            <p:cNvSpPr txBox="1"/>
            <p:nvPr/>
          </p:nvSpPr>
          <p:spPr>
            <a:xfrm rot="16200000">
              <a:off x="3575520" y="3011400"/>
              <a:ext cx="1032480" cy="60228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>
              <a:noAutofit/>
            </a:bodyPr>
            <a:lstStyle/>
            <a:p>
              <a:pPr algn="ctr"/>
              <a:r>
                <a:rPr lang="en-US" sz="1200" b="1" strike="noStrike" spc="-1">
                  <a:solidFill>
                    <a:srgbClr val="00A65D"/>
                  </a:solidFill>
                  <a:latin typeface="Arial"/>
                </a:rPr>
                <a:t>Robot 1</a:t>
              </a:r>
              <a:br/>
              <a:r>
                <a:rPr lang="en-US" sz="1200" b="1" strike="noStrike" spc="-1">
                  <a:solidFill>
                    <a:srgbClr val="00A65D"/>
                  </a:solidFill>
                  <a:latin typeface="Arial"/>
                </a:rPr>
                <a:t>DBN</a:t>
              </a:r>
              <a:endParaRPr lang="en-US" sz="1200" b="0" strike="noStrike" spc="-1">
                <a:latin typeface="Arial"/>
              </a:endParaRPr>
            </a:p>
          </p:txBody>
        </p:sp>
        <p:sp>
          <p:nvSpPr>
            <p:cNvPr id="523" name="TextShape 185"/>
            <p:cNvSpPr txBox="1"/>
            <p:nvPr/>
          </p:nvSpPr>
          <p:spPr>
            <a:xfrm rot="16200000">
              <a:off x="3587400" y="1458720"/>
              <a:ext cx="1032480" cy="60228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>
              <a:noAutofit/>
            </a:bodyPr>
            <a:lstStyle/>
            <a:p>
              <a:pPr algn="ctr"/>
              <a:r>
                <a:rPr lang="en-US" sz="1200" b="1" strike="noStrike" spc="-1">
                  <a:solidFill>
                    <a:srgbClr val="AA55A1"/>
                  </a:solidFill>
                  <a:latin typeface="Arial"/>
                </a:rPr>
                <a:t>Robot 2</a:t>
              </a:r>
              <a:endParaRPr lang="en-US" sz="1200" b="0" strike="noStrike" spc="-1">
                <a:latin typeface="Arial"/>
              </a:endParaRPr>
            </a:p>
            <a:p>
              <a:pPr algn="ctr"/>
              <a:r>
                <a:rPr lang="en-US" sz="1200" b="1" strike="noStrike" spc="-1">
                  <a:solidFill>
                    <a:srgbClr val="AA55A1"/>
                  </a:solidFill>
                  <a:latin typeface="Arial"/>
                </a:rPr>
                <a:t>DBN</a:t>
              </a:r>
              <a:endParaRPr lang="en-US" sz="1200" b="0" strike="noStrike" spc="-1">
                <a:latin typeface="Arial"/>
              </a:endParaRPr>
            </a:p>
          </p:txBody>
        </p:sp>
      </p:grpSp>
      <p:sp>
        <p:nvSpPr>
          <p:cNvPr id="524" name="TextShape 186"/>
          <p:cNvSpPr txBox="1"/>
          <p:nvPr/>
        </p:nvSpPr>
        <p:spPr>
          <a:xfrm>
            <a:off x="847296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CCE6A9A5-EEF1-46BC-BEA7-59DF466A531B}" type="slidenum">
              <a:rPr lang="en-GB" sz="1000" b="0" strike="noStrike" spc="-1">
                <a:solidFill>
                  <a:srgbClr val="595959"/>
                </a:solidFill>
                <a:latin typeface="Arial"/>
                <a:ea typeface="Arial"/>
              </a:rPr>
              <a:t>8</a:t>
            </a:fld>
            <a:endParaRPr lang="en-US" sz="1000" b="0" strike="noStrike" spc="-1">
              <a:latin typeface="Times New Roman"/>
            </a:endParaRPr>
          </a:p>
        </p:txBody>
      </p:sp>
      <p:sp>
        <p:nvSpPr>
          <p:cNvPr id="525" name="CustomShape 187"/>
          <p:cNvSpPr/>
          <p:nvPr/>
        </p:nvSpPr>
        <p:spPr>
          <a:xfrm>
            <a:off x="6483600" y="2270520"/>
            <a:ext cx="1609920" cy="822960"/>
          </a:xfrm>
          <a:custGeom>
            <a:avLst/>
            <a:gdLst/>
            <a:ahLst/>
            <a:cxnLst/>
            <a:rect l="0" t="0" r="r" b="b"/>
            <a:pathLst>
              <a:path w="4474" h="2288">
                <a:moveTo>
                  <a:pt x="0" y="333"/>
                </a:moveTo>
                <a:lnTo>
                  <a:pt x="3221" y="333"/>
                </a:lnTo>
                <a:lnTo>
                  <a:pt x="3221" y="0"/>
                </a:lnTo>
                <a:lnTo>
                  <a:pt x="4473" y="1143"/>
                </a:lnTo>
                <a:lnTo>
                  <a:pt x="3221" y="2287"/>
                </a:lnTo>
                <a:lnTo>
                  <a:pt x="3221" y="1953"/>
                </a:lnTo>
                <a:lnTo>
                  <a:pt x="0" y="1953"/>
                </a:lnTo>
                <a:lnTo>
                  <a:pt x="0" y="333"/>
                </a:lnTo>
              </a:path>
            </a:pathLst>
          </a:custGeom>
          <a:solidFill>
            <a:srgbClr val="FF4000"/>
          </a:solidFill>
          <a:ln>
            <a:solidFill>
              <a:srgbClr val="F10D0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-1">
                <a:solidFill>
                  <a:srgbClr val="FFFFFF"/>
                </a:solidFill>
                <a:latin typeface="Arial"/>
              </a:rPr>
              <a:t>High diffrence</a:t>
            </a:r>
            <a:endParaRPr lang="en-US" sz="12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1" strike="noStrike" spc="-1">
                <a:solidFill>
                  <a:srgbClr val="FFFFFF"/>
                </a:solidFill>
                <a:latin typeface="Arial"/>
              </a:rPr>
              <a:t>btw observation</a:t>
            </a:r>
            <a:endParaRPr lang="en-US" sz="12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1" strike="noStrike" spc="-1">
                <a:solidFill>
                  <a:srgbClr val="FFFFFF"/>
                </a:solidFill>
                <a:latin typeface="Arial"/>
              </a:rPr>
              <a:t>and prediction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526" name="CustomShape 188"/>
          <p:cNvSpPr/>
          <p:nvPr/>
        </p:nvSpPr>
        <p:spPr>
          <a:xfrm>
            <a:off x="36000" y="2216880"/>
            <a:ext cx="1884240" cy="822960"/>
          </a:xfrm>
          <a:custGeom>
            <a:avLst/>
            <a:gdLst/>
            <a:ahLst/>
            <a:cxnLst/>
            <a:rect l="0" t="0" r="r" b="b"/>
            <a:pathLst>
              <a:path w="5236" h="2288">
                <a:moveTo>
                  <a:pt x="0" y="333"/>
                </a:moveTo>
                <a:lnTo>
                  <a:pt x="3770" y="333"/>
                </a:lnTo>
                <a:lnTo>
                  <a:pt x="3770" y="0"/>
                </a:lnTo>
                <a:lnTo>
                  <a:pt x="5235" y="1143"/>
                </a:lnTo>
                <a:lnTo>
                  <a:pt x="3770" y="2287"/>
                </a:lnTo>
                <a:lnTo>
                  <a:pt x="3770" y="1953"/>
                </a:lnTo>
                <a:lnTo>
                  <a:pt x="0" y="1953"/>
                </a:lnTo>
                <a:lnTo>
                  <a:pt x="0" y="333"/>
                </a:lnTo>
              </a:path>
            </a:pathLst>
          </a:custGeom>
          <a:solidFill>
            <a:srgbClr val="FF4000"/>
          </a:solidFill>
          <a:ln>
            <a:solidFill>
              <a:srgbClr val="F10D0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1" strike="noStrike" spc="-1">
                <a:solidFill>
                  <a:srgbClr val="FFFFFF"/>
                </a:solidFill>
                <a:latin typeface="Arial"/>
              </a:rPr>
              <a:t>1. Transition matrix D</a:t>
            </a:r>
            <a:br/>
            <a:r>
              <a:rPr lang="en-US" sz="1200" b="1" strike="noStrike" spc="-1">
                <a:solidFill>
                  <a:srgbClr val="FFFFFF"/>
                </a:solidFill>
                <a:latin typeface="Arial"/>
              </a:rPr>
              <a:t>2. Live sensor data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527" name="CustomShape 189"/>
          <p:cNvSpPr/>
          <p:nvPr/>
        </p:nvSpPr>
        <p:spPr>
          <a:xfrm>
            <a:off x="3931920" y="2276280"/>
            <a:ext cx="972000" cy="666720"/>
          </a:xfrm>
          <a:custGeom>
            <a:avLst/>
            <a:gdLst/>
            <a:ahLst/>
            <a:cxnLst/>
            <a:rect l="0" t="0" r="r" b="b"/>
            <a:pathLst>
              <a:path w="2702" h="1854">
                <a:moveTo>
                  <a:pt x="0" y="270"/>
                </a:moveTo>
                <a:lnTo>
                  <a:pt x="1945" y="270"/>
                </a:lnTo>
                <a:lnTo>
                  <a:pt x="1945" y="0"/>
                </a:lnTo>
                <a:lnTo>
                  <a:pt x="2701" y="926"/>
                </a:lnTo>
                <a:lnTo>
                  <a:pt x="1945" y="1853"/>
                </a:lnTo>
                <a:lnTo>
                  <a:pt x="1945" y="1582"/>
                </a:lnTo>
                <a:lnTo>
                  <a:pt x="0" y="1582"/>
                </a:lnTo>
                <a:lnTo>
                  <a:pt x="0" y="270"/>
                </a:lnTo>
              </a:path>
            </a:pathLst>
          </a:custGeom>
          <a:solidFill>
            <a:srgbClr val="FF4000"/>
          </a:solidFill>
          <a:ln>
            <a:solidFill>
              <a:srgbClr val="F10D0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-1">
                <a:solidFill>
                  <a:srgbClr val="FFFFFF"/>
                </a:solidFill>
                <a:latin typeface="Arial"/>
              </a:rPr>
              <a:t>Joint</a:t>
            </a:r>
            <a:endParaRPr lang="en-US" sz="12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1" strike="noStrike" spc="-1">
                <a:solidFill>
                  <a:srgbClr val="FFFFFF"/>
                </a:solidFill>
                <a:latin typeface="Arial"/>
              </a:rPr>
              <a:t>prediction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528" name="CustomShape 190"/>
          <p:cNvSpPr/>
          <p:nvPr/>
        </p:nvSpPr>
        <p:spPr>
          <a:xfrm>
            <a:off x="6483960" y="2270880"/>
            <a:ext cx="1609920" cy="822960"/>
          </a:xfrm>
          <a:custGeom>
            <a:avLst/>
            <a:gdLst/>
            <a:ahLst/>
            <a:cxnLst/>
            <a:rect l="0" t="0" r="r" b="b"/>
            <a:pathLst>
              <a:path w="4474" h="2288">
                <a:moveTo>
                  <a:pt x="0" y="333"/>
                </a:moveTo>
                <a:lnTo>
                  <a:pt x="3221" y="333"/>
                </a:lnTo>
                <a:lnTo>
                  <a:pt x="3221" y="0"/>
                </a:lnTo>
                <a:lnTo>
                  <a:pt x="4473" y="1143"/>
                </a:lnTo>
                <a:lnTo>
                  <a:pt x="3221" y="2287"/>
                </a:lnTo>
                <a:lnTo>
                  <a:pt x="3221" y="1953"/>
                </a:lnTo>
                <a:lnTo>
                  <a:pt x="0" y="1953"/>
                </a:lnTo>
                <a:lnTo>
                  <a:pt x="0" y="333"/>
                </a:lnTo>
              </a:path>
            </a:pathLst>
          </a:custGeom>
          <a:solidFill>
            <a:srgbClr val="FF4000"/>
          </a:solidFill>
          <a:ln>
            <a:solidFill>
              <a:srgbClr val="F10D0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-1">
                <a:solidFill>
                  <a:srgbClr val="FFFFFF"/>
                </a:solidFill>
                <a:latin typeface="Arial"/>
              </a:rPr>
              <a:t>High diffrence</a:t>
            </a:r>
            <a:endParaRPr lang="en-US" sz="12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1" strike="noStrike" spc="-1">
                <a:solidFill>
                  <a:srgbClr val="FFFFFF"/>
                </a:solidFill>
                <a:latin typeface="Arial"/>
              </a:rPr>
              <a:t>btw observation</a:t>
            </a:r>
            <a:endParaRPr lang="en-US" sz="12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1" strike="noStrike" spc="-1">
                <a:solidFill>
                  <a:srgbClr val="FFFFFF"/>
                </a:solidFill>
                <a:latin typeface="Arial"/>
              </a:rPr>
              <a:t>and prediction</a:t>
            </a:r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TextShape 1"/>
          <p:cNvSpPr txBox="1"/>
          <p:nvPr/>
        </p:nvSpPr>
        <p:spPr>
          <a:xfrm>
            <a:off x="311760" y="14364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0" strike="noStrike" spc="-1">
                <a:solidFill>
                  <a:srgbClr val="336B81"/>
                </a:solidFill>
                <a:latin typeface="Arial"/>
                <a:ea typeface="Arial"/>
              </a:rPr>
              <a:t>Experimental setup 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TextShape 2"/>
          <p:cNvSpPr txBox="1"/>
          <p:nvPr/>
        </p:nvSpPr>
        <p:spPr>
          <a:xfrm>
            <a:off x="847296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8625DB57-D175-4616-9C00-0AA6BC8ED7C5}" type="slidenum">
              <a:rPr lang="en-GB" sz="1000" b="0" strike="noStrike" spc="-1">
                <a:solidFill>
                  <a:srgbClr val="595959"/>
                </a:solidFill>
                <a:latin typeface="Arial"/>
                <a:ea typeface="Arial"/>
              </a:rPr>
              <a:t>9</a:t>
            </a:fld>
            <a:endParaRPr lang="en-US" sz="1000" b="0" strike="noStrike" spc="-1">
              <a:latin typeface="Times New Roman"/>
            </a:endParaRPr>
          </a:p>
        </p:txBody>
      </p:sp>
      <p:sp>
        <p:nvSpPr>
          <p:cNvPr id="531" name="TextShape 3"/>
          <p:cNvSpPr txBox="1"/>
          <p:nvPr/>
        </p:nvSpPr>
        <p:spPr>
          <a:xfrm>
            <a:off x="0" y="1005840"/>
            <a:ext cx="5943600" cy="30873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latin typeface="Arial"/>
              </a:rPr>
              <a:t>Using </a:t>
            </a:r>
            <a:r>
              <a:rPr lang="en-US" sz="1400" b="1" strike="noStrike" spc="-1">
                <a:latin typeface="Arial"/>
              </a:rPr>
              <a:t>Robot Operating System (ROS)</a:t>
            </a:r>
            <a:r>
              <a:rPr lang="en-US" sz="1400" b="0" strike="noStrike" spc="-1">
                <a:latin typeface="Arial"/>
              </a:rPr>
              <a:t>, </a:t>
            </a:r>
            <a:r>
              <a:rPr lang="en-US" sz="1400" b="1" strike="noStrike" spc="-1">
                <a:latin typeface="Arial"/>
              </a:rPr>
              <a:t>Gazebo</a:t>
            </a:r>
            <a:r>
              <a:rPr lang="en-US" sz="1400" b="0" strike="noStrike" spc="-1">
                <a:latin typeface="Arial"/>
              </a:rPr>
              <a:t> </a:t>
            </a: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latin typeface="Arial"/>
              </a:rPr>
              <a:t>and </a:t>
            </a:r>
            <a:r>
              <a:rPr lang="en-US" sz="1400" b="1" strike="noStrike" spc="-1">
                <a:latin typeface="Arial"/>
              </a:rPr>
              <a:t>CTUMRS</a:t>
            </a:r>
            <a:r>
              <a:rPr lang="en-US" sz="1400" b="0" strike="noStrike" spc="-1">
                <a:latin typeface="Arial"/>
              </a:rPr>
              <a:t> framework to simulate two </a:t>
            </a:r>
            <a:r>
              <a:rPr lang="en-US" sz="1400" b="1" strike="noStrike" spc="-1">
                <a:latin typeface="Arial"/>
              </a:rPr>
              <a:t>Tarot t650 </a:t>
            </a:r>
            <a:r>
              <a:rPr lang="en-US" sz="1400" b="0" strike="noStrike" spc="-1">
                <a:latin typeface="Arial"/>
              </a:rPr>
              <a:t>drones</a:t>
            </a: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400" b="0" strike="noStrike" spc="-1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latin typeface="Arial"/>
              </a:rPr>
              <a:t> </a:t>
            </a:r>
            <a:r>
              <a:rPr lang="en-US" sz="1400" b="1" strike="noStrike" spc="-1">
                <a:latin typeface="Arial"/>
              </a:rPr>
              <a:t>GPS</a:t>
            </a:r>
            <a:r>
              <a:rPr lang="en-US" sz="1400" b="0" strike="noStrike" spc="-1">
                <a:latin typeface="Arial"/>
              </a:rPr>
              <a:t> as proprioceptive sensor</a:t>
            </a:r>
          </a:p>
          <a:p>
            <a:pPr marL="432000" lvl="1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latin typeface="Arial"/>
              </a:rPr>
              <a:t>281k sensory reading  </a:t>
            </a:r>
          </a:p>
          <a:p>
            <a:pPr marL="432000" lvl="1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400" b="0" strike="noStrike" spc="-1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1" strike="noStrike" spc="-1">
                <a:latin typeface="Arial"/>
              </a:rPr>
              <a:t>AP2 LIDAR</a:t>
            </a:r>
            <a:r>
              <a:rPr lang="en-US" sz="1400" b="0" strike="noStrike" spc="-1">
                <a:latin typeface="Arial"/>
              </a:rPr>
              <a:t> as exteroceptive sensor</a:t>
            </a:r>
          </a:p>
          <a:p>
            <a:pPr marL="432000" lvl="1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latin typeface="Arial"/>
              </a:rPr>
              <a:t>720 dimensional sensory readings reduced to </a:t>
            </a:r>
            <a:r>
              <a:rPr lang="en-US" sz="1400" b="1" strike="noStrike" spc="-1">
                <a:latin typeface="Arial"/>
              </a:rPr>
              <a:t>3</a:t>
            </a:r>
            <a:r>
              <a:rPr lang="en-US" sz="1400" b="0" strike="noStrike" spc="-1">
                <a:latin typeface="Arial"/>
              </a:rPr>
              <a:t> using </a:t>
            </a:r>
            <a:r>
              <a:rPr lang="en-US" sz="1400" b="1" strike="noStrike" spc="-1">
                <a:latin typeface="Arial"/>
              </a:rPr>
              <a:t>neural auto encoders.</a:t>
            </a:r>
            <a:endParaRPr lang="en-US" sz="1400" b="0" strike="noStrike" spc="-1">
              <a:latin typeface="Arial"/>
            </a:endParaRPr>
          </a:p>
          <a:p>
            <a:pPr marL="432000" lvl="1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latin typeface="Arial"/>
              </a:rPr>
              <a:t>120k sensory readings</a:t>
            </a:r>
          </a:p>
          <a:p>
            <a:pPr marL="432000" lvl="1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400" b="0" strike="noStrike" spc="-1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1" strike="noStrike" spc="-1">
                <a:latin typeface="Arial"/>
              </a:rPr>
              <a:t>Anomaly metric:</a:t>
            </a:r>
            <a:r>
              <a:rPr lang="en-US" sz="1400" b="0" strike="noStrike" spc="-1">
                <a:latin typeface="Arial"/>
              </a:rPr>
              <a:t> Kullback–Leibler (KL) divergence between CDBN predictions and sensory observations</a:t>
            </a: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400" b="0" strike="noStrike" spc="-1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1" strike="noStrike" spc="-1">
                <a:latin typeface="Arial"/>
              </a:rPr>
              <a:t>Tolerance</a:t>
            </a:r>
            <a:r>
              <a:rPr lang="en-US" sz="1400" b="0" strike="noStrike" spc="-1">
                <a:latin typeface="Arial"/>
              </a:rPr>
              <a:t>: μ + 3σ of anomaly values in training scenario</a:t>
            </a:r>
          </a:p>
        </p:txBody>
      </p:sp>
      <p:pic>
        <p:nvPicPr>
          <p:cNvPr id="532" name="Grafik 531"/>
          <p:cNvPicPr/>
          <p:nvPr/>
        </p:nvPicPr>
        <p:blipFill>
          <a:blip r:embed="rId2"/>
          <a:stretch/>
        </p:blipFill>
        <p:spPr>
          <a:xfrm>
            <a:off x="5913360" y="1554480"/>
            <a:ext cx="3047760" cy="17143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3" name="Grafik 532"/>
          <p:cNvPicPr/>
          <p:nvPr/>
        </p:nvPicPr>
        <p:blipFill>
          <a:blip r:embed="rId2"/>
          <a:stretch/>
        </p:blipFill>
        <p:spPr>
          <a:xfrm>
            <a:off x="226800" y="1180080"/>
            <a:ext cx="6573600" cy="3688560"/>
          </a:xfrm>
          <a:prstGeom prst="rect">
            <a:avLst/>
          </a:prstGeom>
          <a:ln>
            <a:noFill/>
          </a:ln>
        </p:spPr>
      </p:pic>
      <p:sp>
        <p:nvSpPr>
          <p:cNvPr id="534" name="TextShape 1"/>
          <p:cNvSpPr txBox="1"/>
          <p:nvPr/>
        </p:nvSpPr>
        <p:spPr>
          <a:xfrm>
            <a:off x="311760" y="14364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0" strike="noStrike" spc="-1">
                <a:solidFill>
                  <a:srgbClr val="336B81"/>
                </a:solidFill>
                <a:latin typeface="Arial"/>
                <a:ea typeface="Arial"/>
              </a:rPr>
              <a:t>Results | CDBN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TextShape 2"/>
          <p:cNvSpPr txBox="1"/>
          <p:nvPr/>
        </p:nvSpPr>
        <p:spPr>
          <a:xfrm>
            <a:off x="847296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AF47F689-F094-4645-A207-DDE2A41A5661}" type="slidenum">
              <a:rPr lang="en-GB" sz="1000" b="0" strike="noStrike" spc="-1">
                <a:solidFill>
                  <a:srgbClr val="595959"/>
                </a:solidFill>
                <a:latin typeface="Arial"/>
                <a:ea typeface="Arial"/>
              </a:rPr>
              <a:t>10</a:t>
            </a:fld>
            <a:endParaRPr lang="en-US" sz="1000" b="0" strike="noStrike" spc="-1">
              <a:latin typeface="Times New Roman"/>
            </a:endParaRPr>
          </a:p>
        </p:txBody>
      </p:sp>
      <p:sp>
        <p:nvSpPr>
          <p:cNvPr id="536" name="TextShape 3"/>
          <p:cNvSpPr txBox="1"/>
          <p:nvPr/>
        </p:nvSpPr>
        <p:spPr>
          <a:xfrm>
            <a:off x="311760" y="785880"/>
            <a:ext cx="6675120" cy="6022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latin typeface="Arial"/>
              </a:rPr>
              <a:t>32 </a:t>
            </a:r>
            <a:r>
              <a:rPr lang="en-US" sz="1400" b="1" strike="noStrike" spc="-1">
                <a:latin typeface="Arial"/>
              </a:rPr>
              <a:t>clusters</a:t>
            </a:r>
            <a:r>
              <a:rPr lang="en-US" sz="1400" b="0" strike="noStrike" spc="-1">
                <a:latin typeface="Arial"/>
              </a:rPr>
              <a:t>, </a:t>
            </a:r>
            <a:r>
              <a:rPr lang="en-US" sz="1400" b="1" strike="noStrike" spc="-1">
                <a:latin typeface="Arial"/>
              </a:rPr>
              <a:t>Gaussian noise</a:t>
            </a:r>
            <a:r>
              <a:rPr lang="en-US" sz="1400" b="0" strike="noStrike" spc="-1">
                <a:latin typeface="Arial"/>
              </a:rPr>
              <a:t> 0.0002</a:t>
            </a: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1" strike="noStrike" spc="-1">
                <a:latin typeface="Arial"/>
              </a:rPr>
              <a:t>LIDAR</a:t>
            </a:r>
            <a:r>
              <a:rPr lang="en-US" sz="1400" b="0" strike="noStrike" spc="-1">
                <a:latin typeface="Arial"/>
              </a:rPr>
              <a:t> high anomalies happen </a:t>
            </a:r>
            <a:r>
              <a:rPr lang="en-US" sz="1400" b="1" strike="noStrike" spc="-1">
                <a:latin typeface="Arial"/>
              </a:rPr>
              <a:t>before</a:t>
            </a:r>
            <a:r>
              <a:rPr lang="en-US" sz="1400" b="0" strike="noStrike" spc="-1">
                <a:latin typeface="Arial"/>
              </a:rPr>
              <a:t> </a:t>
            </a:r>
            <a:r>
              <a:rPr lang="en-US" sz="1400" b="1" strike="noStrike" spc="-1">
                <a:latin typeface="Arial"/>
              </a:rPr>
              <a:t>GPS</a:t>
            </a:r>
            <a:r>
              <a:rPr lang="en-US" sz="1400" b="0" strike="noStrike" spc="-1">
                <a:latin typeface="Arial"/>
              </a:rPr>
              <a:t> high anomalies  </a:t>
            </a:r>
          </a:p>
        </p:txBody>
      </p:sp>
      <p:pic>
        <p:nvPicPr>
          <p:cNvPr id="537" name="Grafik 536"/>
          <p:cNvPicPr/>
          <p:nvPr/>
        </p:nvPicPr>
        <p:blipFill>
          <a:blip r:embed="rId3"/>
          <a:stretch/>
        </p:blipFill>
        <p:spPr>
          <a:xfrm>
            <a:off x="6800400" y="389880"/>
            <a:ext cx="2194560" cy="1967760"/>
          </a:xfrm>
          <a:prstGeom prst="rect">
            <a:avLst/>
          </a:prstGeom>
          <a:ln w="18000">
            <a:solidFill>
              <a:srgbClr val="FF4000"/>
            </a:solidFill>
            <a:round/>
          </a:ln>
        </p:spPr>
      </p:pic>
      <p:pic>
        <p:nvPicPr>
          <p:cNvPr id="538" name="Grafik 537"/>
          <p:cNvPicPr/>
          <p:nvPr/>
        </p:nvPicPr>
        <p:blipFill>
          <a:blip r:embed="rId4"/>
          <a:stretch/>
        </p:blipFill>
        <p:spPr>
          <a:xfrm>
            <a:off x="6799320" y="2710080"/>
            <a:ext cx="2195640" cy="1985760"/>
          </a:xfrm>
          <a:prstGeom prst="rect">
            <a:avLst/>
          </a:prstGeom>
          <a:ln w="18360">
            <a:solidFill>
              <a:srgbClr val="FF0000"/>
            </a:solidFill>
            <a:round/>
          </a:ln>
        </p:spPr>
      </p:pic>
      <p:sp>
        <p:nvSpPr>
          <p:cNvPr id="539" name="TextShape 4"/>
          <p:cNvSpPr txBox="1"/>
          <p:nvPr/>
        </p:nvSpPr>
        <p:spPr>
          <a:xfrm>
            <a:off x="6766560" y="2377440"/>
            <a:ext cx="2390400" cy="2610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200" b="1" strike="noStrike" spc="-1">
                <a:latin typeface="Arial"/>
              </a:rPr>
              <a:t>Lidar clusters – reduced 3 dim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540" name="TextShape 5"/>
          <p:cNvSpPr txBox="1"/>
          <p:nvPr/>
        </p:nvSpPr>
        <p:spPr>
          <a:xfrm>
            <a:off x="6766560" y="4681800"/>
            <a:ext cx="1133280" cy="2610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200" b="1" strike="noStrike" spc="-1">
                <a:latin typeface="Arial"/>
              </a:rPr>
              <a:t>GPS clusters</a:t>
            </a:r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1" name="Grafik 540"/>
          <p:cNvPicPr/>
          <p:nvPr/>
        </p:nvPicPr>
        <p:blipFill>
          <a:blip r:embed="rId2"/>
          <a:stretch/>
        </p:blipFill>
        <p:spPr>
          <a:xfrm>
            <a:off x="538560" y="1662480"/>
            <a:ext cx="7599600" cy="2809080"/>
          </a:xfrm>
          <a:prstGeom prst="rect">
            <a:avLst/>
          </a:prstGeom>
          <a:ln>
            <a:noFill/>
          </a:ln>
        </p:spPr>
      </p:pic>
      <p:sp>
        <p:nvSpPr>
          <p:cNvPr id="542" name="TextShape 1"/>
          <p:cNvSpPr txBox="1"/>
          <p:nvPr/>
        </p:nvSpPr>
        <p:spPr>
          <a:xfrm>
            <a:off x="311760" y="14364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0" strike="noStrike" spc="-1">
                <a:solidFill>
                  <a:srgbClr val="336B81"/>
                </a:solidFill>
                <a:latin typeface="Arial"/>
                <a:ea typeface="Arial"/>
              </a:rPr>
              <a:t>Aggregated DBN vs Coupled DBN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TextShape 2"/>
          <p:cNvSpPr txBox="1"/>
          <p:nvPr/>
        </p:nvSpPr>
        <p:spPr>
          <a:xfrm>
            <a:off x="847296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75AED908-B96E-4A1A-9C3E-EA5978CBCF6B}" type="slidenum">
              <a:rPr lang="en-GB" sz="1000" b="0" strike="noStrike" spc="-1">
                <a:solidFill>
                  <a:srgbClr val="595959"/>
                </a:solidFill>
                <a:latin typeface="Arial"/>
                <a:ea typeface="Arial"/>
              </a:rPr>
              <a:t>11</a:t>
            </a:fld>
            <a:endParaRPr lang="en-US" sz="1000" b="0" strike="noStrike" spc="-1">
              <a:latin typeface="Times New Roman"/>
            </a:endParaRPr>
          </a:p>
        </p:txBody>
      </p:sp>
      <p:sp>
        <p:nvSpPr>
          <p:cNvPr id="544" name="TextShape 3"/>
          <p:cNvSpPr txBox="1"/>
          <p:nvPr/>
        </p:nvSpPr>
        <p:spPr>
          <a:xfrm>
            <a:off x="538560" y="1463040"/>
            <a:ext cx="5999040" cy="2901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latin typeface="Arial"/>
              </a:rPr>
              <a:t>Aggregation suffers from </a:t>
            </a:r>
            <a:r>
              <a:rPr lang="en-US" sz="1400" b="1" strike="noStrike" spc="-1">
                <a:latin typeface="Arial"/>
              </a:rPr>
              <a:t>curse of dimensionality</a:t>
            </a:r>
            <a:r>
              <a:rPr lang="en-US" sz="1400" b="0" strike="noStrike" spc="-1">
                <a:latin typeface="Arial"/>
              </a:rPr>
              <a:t> and is </a:t>
            </a:r>
            <a:r>
              <a:rPr lang="en-US" sz="1400" b="1" strike="noStrike" spc="-1">
                <a:latin typeface="Arial"/>
              </a:rPr>
              <a:t>not scalable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545" name="TextShape 4"/>
          <p:cNvSpPr txBox="1"/>
          <p:nvPr/>
        </p:nvSpPr>
        <p:spPr>
          <a:xfrm>
            <a:off x="640080" y="4426920"/>
            <a:ext cx="8503920" cy="7729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strike="noStrike" spc="-1">
                <a:latin typeface="Arial"/>
              </a:rPr>
              <a:t>The </a:t>
            </a:r>
            <a:r>
              <a:rPr lang="en-US" sz="1200" b="1" strike="noStrike" spc="-1">
                <a:latin typeface="Arial"/>
              </a:rPr>
              <a:t>anomaly values</a:t>
            </a:r>
            <a:r>
              <a:rPr lang="en-US" sz="1200" b="0" strike="noStrike" spc="-1">
                <a:latin typeface="Arial"/>
              </a:rPr>
              <a:t> for GPS and LIDAR are 42% and 38% </a:t>
            </a:r>
            <a:r>
              <a:rPr lang="en-US" sz="1200" b="1" strike="noStrike" spc="-1">
                <a:latin typeface="Arial"/>
              </a:rPr>
              <a:t>smaller</a:t>
            </a:r>
            <a:r>
              <a:rPr lang="en-US" sz="1200" b="0" strike="noStrike" spc="-1">
                <a:latin typeface="Arial"/>
              </a:rPr>
              <a:t> respectively in aggregated approach vs CDBN</a:t>
            </a: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strike="noStrike" spc="-1">
                <a:latin typeface="Arial"/>
              </a:rPr>
              <a:t>This could be interpreted as MRS’s less </a:t>
            </a:r>
            <a:r>
              <a:rPr lang="en-US" sz="1200" b="1" strike="noStrike" spc="-1">
                <a:latin typeface="Arial"/>
              </a:rPr>
              <a:t>awareness</a:t>
            </a:r>
            <a:r>
              <a:rPr lang="en-US" sz="1200" b="0" strike="noStrike" spc="-1">
                <a:latin typeface="Arial"/>
              </a:rPr>
              <a:t> of </a:t>
            </a:r>
            <a:r>
              <a:rPr lang="en-US" sz="1200" b="1" strike="noStrike" spc="-1">
                <a:latin typeface="Arial"/>
              </a:rPr>
              <a:t>new</a:t>
            </a:r>
            <a:r>
              <a:rPr lang="en-US" sz="1200" b="0" strike="noStrike" spc="-1">
                <a:latin typeface="Arial"/>
              </a:rPr>
              <a:t> </a:t>
            </a:r>
            <a:r>
              <a:rPr lang="en-US" sz="1200" b="1" strike="noStrike" spc="-1">
                <a:latin typeface="Arial"/>
              </a:rPr>
              <a:t>experiences</a:t>
            </a:r>
            <a:r>
              <a:rPr lang="en-US" sz="1200" b="0" strike="noStrike" spc="-1">
                <a:latin typeface="Arial"/>
              </a:rPr>
              <a:t> in aggregated approach vs CDBN</a:t>
            </a:r>
          </a:p>
          <a:p>
            <a:endParaRPr lang="en-US" sz="1200" b="0" strike="noStrike" spc="-1">
              <a:latin typeface="Arial"/>
            </a:endParaRPr>
          </a:p>
        </p:txBody>
      </p:sp>
      <p:pic>
        <p:nvPicPr>
          <p:cNvPr id="546" name="Grafik 545"/>
          <p:cNvPicPr/>
          <p:nvPr/>
        </p:nvPicPr>
        <p:blipFill>
          <a:blip r:embed="rId3"/>
          <a:stretch/>
        </p:blipFill>
        <p:spPr>
          <a:xfrm>
            <a:off x="740160" y="791280"/>
            <a:ext cx="5690880" cy="388080"/>
          </a:xfrm>
          <a:prstGeom prst="rect">
            <a:avLst/>
          </a:prstGeom>
          <a:ln>
            <a:noFill/>
          </a:ln>
        </p:spPr>
      </p:pic>
      <p:sp>
        <p:nvSpPr>
          <p:cNvPr id="547" name="TextShape 5"/>
          <p:cNvSpPr txBox="1"/>
          <p:nvPr/>
        </p:nvSpPr>
        <p:spPr>
          <a:xfrm>
            <a:off x="576720" y="1122840"/>
            <a:ext cx="1737360" cy="2854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200" b="1" strike="noStrike" spc="-1">
                <a:solidFill>
                  <a:srgbClr val="00A65D"/>
                </a:solidFill>
                <a:latin typeface="Arial"/>
              </a:rPr>
              <a:t>Robot 1 observation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548" name="TextShape 6"/>
          <p:cNvSpPr txBox="1"/>
          <p:nvPr/>
        </p:nvSpPr>
        <p:spPr>
          <a:xfrm>
            <a:off x="2288160" y="1133280"/>
            <a:ext cx="1746720" cy="4316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200" b="1" strike="noStrike" spc="-1">
                <a:solidFill>
                  <a:srgbClr val="780373"/>
                </a:solidFill>
                <a:latin typeface="Arial"/>
              </a:rPr>
              <a:t>Robot 2 observation</a:t>
            </a:r>
            <a:endParaRPr lang="en-US" sz="1200" b="0" strike="noStrike" spc="-1">
              <a:solidFill>
                <a:srgbClr val="780373"/>
              </a:solidFill>
              <a:latin typeface="Arial"/>
            </a:endParaRPr>
          </a:p>
        </p:txBody>
      </p:sp>
      <p:sp>
        <p:nvSpPr>
          <p:cNvPr id="549" name="TextShape 7"/>
          <p:cNvSpPr txBox="1"/>
          <p:nvPr/>
        </p:nvSpPr>
        <p:spPr>
          <a:xfrm>
            <a:off x="4029120" y="1133280"/>
            <a:ext cx="3026880" cy="4316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200" b="1" strike="noStrike" spc="-1">
                <a:solidFill>
                  <a:srgbClr val="FF4000"/>
                </a:solidFill>
                <a:latin typeface="Arial"/>
              </a:rPr>
              <a:t>Aggregated Robot 1 &amp; 2 observations</a:t>
            </a:r>
            <a:endParaRPr lang="en-US" sz="1200" b="0" strike="noStrike" spc="-1">
              <a:solidFill>
                <a:srgbClr val="FF4000"/>
              </a:solidFill>
              <a:latin typeface="Arial"/>
            </a:endParaRPr>
          </a:p>
        </p:txBody>
      </p:sp>
      <p:sp>
        <p:nvSpPr>
          <p:cNvPr id="550" name="Line 8"/>
          <p:cNvSpPr/>
          <p:nvPr/>
        </p:nvSpPr>
        <p:spPr>
          <a:xfrm>
            <a:off x="0" y="1424160"/>
            <a:ext cx="9144000" cy="0"/>
          </a:xfrm>
          <a:prstGeom prst="line">
            <a:avLst/>
          </a:prstGeom>
          <a:ln w="36000">
            <a:solidFill>
              <a:srgbClr val="3465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TextShape 1"/>
          <p:cNvSpPr txBox="1"/>
          <p:nvPr/>
        </p:nvSpPr>
        <p:spPr>
          <a:xfrm>
            <a:off x="311760" y="14364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0" strike="noStrike" spc="-1">
                <a:solidFill>
                  <a:srgbClr val="336B81"/>
                </a:solidFill>
                <a:latin typeface="Arial"/>
                <a:ea typeface="Arial"/>
              </a:rPr>
              <a:t>Noise impact on anomaly detection 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TextShape 2"/>
          <p:cNvSpPr txBox="1"/>
          <p:nvPr/>
        </p:nvSpPr>
        <p:spPr>
          <a:xfrm>
            <a:off x="847296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BB817059-1813-4306-8831-44F3F2F4563F}" type="slidenum">
              <a:rPr lang="en-GB" sz="1000" b="0" strike="noStrike" spc="-1">
                <a:solidFill>
                  <a:srgbClr val="595959"/>
                </a:solidFill>
                <a:latin typeface="Arial"/>
                <a:ea typeface="Arial"/>
              </a:rPr>
              <a:t>12</a:t>
            </a:fld>
            <a:endParaRPr lang="en-US" sz="1000" b="0" strike="noStrike" spc="-1">
              <a:latin typeface="Times New Roman"/>
            </a:endParaRPr>
          </a:p>
        </p:txBody>
      </p:sp>
      <p:sp>
        <p:nvSpPr>
          <p:cNvPr id="553" name="TextShape 3"/>
          <p:cNvSpPr txBox="1"/>
          <p:nvPr/>
        </p:nvSpPr>
        <p:spPr>
          <a:xfrm>
            <a:off x="369360" y="822960"/>
            <a:ext cx="7951680" cy="6022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CDBN learning rate </a:t>
            </a:r>
            <a:r>
              <a:rPr lang="en-US" sz="1800" b="1" strike="noStrike" spc="-1">
                <a:latin typeface="Arial"/>
              </a:rPr>
              <a:t>reduces</a:t>
            </a:r>
            <a:r>
              <a:rPr lang="en-US" sz="1800" b="0" strike="noStrike" spc="-1">
                <a:latin typeface="Arial"/>
              </a:rPr>
              <a:t> when using noisier sensors</a:t>
            </a:r>
          </a:p>
        </p:txBody>
      </p:sp>
      <p:pic>
        <p:nvPicPr>
          <p:cNvPr id="554" name="Grafik 553"/>
          <p:cNvPicPr/>
          <p:nvPr/>
        </p:nvPicPr>
        <p:blipFill>
          <a:blip r:embed="rId2"/>
          <a:stretch/>
        </p:blipFill>
        <p:spPr>
          <a:xfrm>
            <a:off x="1280160" y="1243080"/>
            <a:ext cx="6583680" cy="35118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TextShape 1"/>
          <p:cNvSpPr txBox="1"/>
          <p:nvPr/>
        </p:nvSpPr>
        <p:spPr>
          <a:xfrm>
            <a:off x="311760" y="14364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0" strike="noStrike" spc="-1">
                <a:solidFill>
                  <a:srgbClr val="336B81"/>
                </a:solidFill>
                <a:latin typeface="Arial"/>
                <a:ea typeface="Arial"/>
              </a:rPr>
              <a:t>Number of clusters impact on anomaly detection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TextShape 2"/>
          <p:cNvSpPr txBox="1"/>
          <p:nvPr/>
        </p:nvSpPr>
        <p:spPr>
          <a:xfrm>
            <a:off x="847296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F4D6FD70-FDDE-4776-BA95-11DDD13B7187}" type="slidenum">
              <a:rPr lang="en-GB" sz="1000" b="0" strike="noStrike" spc="-1">
                <a:solidFill>
                  <a:srgbClr val="595959"/>
                </a:solidFill>
                <a:latin typeface="Arial"/>
                <a:ea typeface="Arial"/>
              </a:rPr>
              <a:t>13</a:t>
            </a:fld>
            <a:endParaRPr lang="en-US" sz="1000" b="0" strike="noStrike" spc="-1">
              <a:latin typeface="Times New Roman"/>
            </a:endParaRPr>
          </a:p>
        </p:txBody>
      </p:sp>
      <p:sp>
        <p:nvSpPr>
          <p:cNvPr id="557" name="TextShape 3"/>
          <p:cNvSpPr txBox="1"/>
          <p:nvPr/>
        </p:nvSpPr>
        <p:spPr>
          <a:xfrm>
            <a:off x="276480" y="822960"/>
            <a:ext cx="7953120" cy="6022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1" strike="noStrike" spc="-1">
                <a:latin typeface="Arial"/>
              </a:rPr>
              <a:t>Higher</a:t>
            </a:r>
            <a:r>
              <a:rPr lang="en-US" sz="1400" b="0" strike="noStrike" spc="-1">
                <a:latin typeface="Arial"/>
              </a:rPr>
              <a:t> clusters number </a:t>
            </a:r>
            <a:r>
              <a:rPr lang="en-US" sz="1400" b="1" strike="noStrike" spc="-1">
                <a:latin typeface="Arial"/>
              </a:rPr>
              <a:t>improves</a:t>
            </a:r>
            <a:r>
              <a:rPr lang="en-US" sz="1400" b="0" strike="noStrike" spc="-1">
                <a:latin typeface="Arial"/>
              </a:rPr>
              <a:t> anomaly detection performance</a:t>
            </a:r>
          </a:p>
        </p:txBody>
      </p:sp>
      <p:pic>
        <p:nvPicPr>
          <p:cNvPr id="558" name="Grafik 557"/>
          <p:cNvPicPr/>
          <p:nvPr/>
        </p:nvPicPr>
        <p:blipFill>
          <a:blip r:embed="rId2"/>
          <a:stretch/>
        </p:blipFill>
        <p:spPr>
          <a:xfrm>
            <a:off x="1188720" y="1169280"/>
            <a:ext cx="6638040" cy="35514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TextShape 1"/>
          <p:cNvSpPr txBox="1"/>
          <p:nvPr/>
        </p:nvSpPr>
        <p:spPr>
          <a:xfrm>
            <a:off x="311760" y="14364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0" strike="noStrike" spc="-1">
                <a:solidFill>
                  <a:srgbClr val="336B81"/>
                </a:solidFill>
                <a:latin typeface="Arial"/>
                <a:ea typeface="Arial"/>
              </a:rPr>
              <a:t>Conclusion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TextShape 2"/>
          <p:cNvSpPr txBox="1"/>
          <p:nvPr/>
        </p:nvSpPr>
        <p:spPr>
          <a:xfrm>
            <a:off x="847296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1AF0935C-A950-4CCB-9D81-6746B5304EB6}" type="slidenum">
              <a:rPr lang="en-GB" sz="1000" b="0" strike="noStrike" spc="-1">
                <a:solidFill>
                  <a:srgbClr val="595959"/>
                </a:solidFill>
                <a:latin typeface="Arial"/>
                <a:ea typeface="Arial"/>
              </a:rPr>
              <a:t>14</a:t>
            </a:fld>
            <a:endParaRPr lang="en-US" sz="1000" b="0" strike="noStrike" spc="-1">
              <a:latin typeface="Times New Roman"/>
            </a:endParaRPr>
          </a:p>
        </p:txBody>
      </p:sp>
      <p:sp>
        <p:nvSpPr>
          <p:cNvPr id="561" name="TextShape 3"/>
          <p:cNvSpPr txBox="1"/>
          <p:nvPr/>
        </p:nvSpPr>
        <p:spPr>
          <a:xfrm>
            <a:off x="365760" y="807120"/>
            <a:ext cx="6949440" cy="16887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latin typeface="Arial"/>
              </a:rPr>
              <a:t>CDBNs performed as </a:t>
            </a:r>
            <a:r>
              <a:rPr lang="en-US" sz="1400" b="1" strike="noStrike" spc="-1">
                <a:latin typeface="Arial"/>
              </a:rPr>
              <a:t>reliable</a:t>
            </a:r>
            <a:r>
              <a:rPr lang="en-US" sz="1400" b="0" strike="noStrike" spc="-1">
                <a:latin typeface="Arial"/>
              </a:rPr>
              <a:t> spatiotemporal models in our simulations</a:t>
            </a: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400" b="0" strike="noStrike" spc="-1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latin typeface="Arial"/>
              </a:rPr>
              <a:t>They perform </a:t>
            </a:r>
            <a:r>
              <a:rPr lang="en-US" sz="1400" b="1" strike="noStrike" spc="-1">
                <a:latin typeface="Arial"/>
              </a:rPr>
              <a:t>better</a:t>
            </a:r>
            <a:r>
              <a:rPr lang="en-US" sz="1400" b="0" strike="noStrike" spc="-1">
                <a:latin typeface="Arial"/>
              </a:rPr>
              <a:t> than </a:t>
            </a:r>
            <a:r>
              <a:rPr lang="en-US" sz="1400" b="1" strike="noStrike" spc="-1">
                <a:latin typeface="Arial"/>
              </a:rPr>
              <a:t>aggregated</a:t>
            </a:r>
            <a:r>
              <a:rPr lang="en-US" sz="1400" b="0" strike="noStrike" spc="-1">
                <a:latin typeface="Arial"/>
              </a:rPr>
              <a:t> DBNs in anomaly detection</a:t>
            </a: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400" b="0" strike="noStrike" spc="-1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1" strike="noStrike" spc="-1">
                <a:latin typeface="Arial"/>
              </a:rPr>
              <a:t>Higher</a:t>
            </a:r>
            <a:r>
              <a:rPr lang="en-US" sz="1400" b="0" strike="noStrike" spc="-1">
                <a:latin typeface="Arial"/>
              </a:rPr>
              <a:t> sensor noise </a:t>
            </a:r>
            <a:r>
              <a:rPr lang="en-US" sz="1400" b="1" strike="noStrike" spc="-1">
                <a:latin typeface="Arial"/>
              </a:rPr>
              <a:t>reduces</a:t>
            </a:r>
            <a:r>
              <a:rPr lang="en-US" sz="1400" b="0" strike="noStrike" spc="-1">
                <a:latin typeface="Arial"/>
              </a:rPr>
              <a:t> their anomaly detection performance</a:t>
            </a: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400" b="0" strike="noStrike" spc="-1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1" strike="noStrike" spc="-1">
                <a:latin typeface="Arial"/>
              </a:rPr>
              <a:t>Higher</a:t>
            </a:r>
            <a:r>
              <a:rPr lang="en-US" sz="1400" b="0" strike="noStrike" spc="-1">
                <a:latin typeface="Arial"/>
              </a:rPr>
              <a:t> number of clusters </a:t>
            </a:r>
            <a:r>
              <a:rPr lang="en-US" sz="1400" b="1" strike="noStrike" spc="-1">
                <a:latin typeface="Arial"/>
              </a:rPr>
              <a:t>increases</a:t>
            </a:r>
            <a:r>
              <a:rPr lang="en-US" sz="1400" b="0" strike="noStrike" spc="-1">
                <a:latin typeface="Arial"/>
              </a:rPr>
              <a:t> their anomaly detection performance</a:t>
            </a:r>
          </a:p>
        </p:txBody>
      </p:sp>
      <p:sp>
        <p:nvSpPr>
          <p:cNvPr id="562" name="TextShape 4"/>
          <p:cNvSpPr txBox="1"/>
          <p:nvPr/>
        </p:nvSpPr>
        <p:spPr>
          <a:xfrm>
            <a:off x="335880" y="2547000"/>
            <a:ext cx="3047400" cy="4870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2800" b="0" strike="noStrike" spc="-1">
                <a:solidFill>
                  <a:srgbClr val="336B81"/>
                </a:solidFill>
                <a:latin typeface="Arial"/>
                <a:ea typeface="Arial"/>
              </a:rPr>
              <a:t>Future work </a:t>
            </a:r>
            <a:endParaRPr lang="en-US" sz="2800" b="0" strike="noStrike" spc="-1">
              <a:latin typeface="Arial"/>
            </a:endParaRPr>
          </a:p>
        </p:txBody>
      </p:sp>
      <p:sp>
        <p:nvSpPr>
          <p:cNvPr id="563" name="TextShape 5"/>
          <p:cNvSpPr txBox="1"/>
          <p:nvPr/>
        </p:nvSpPr>
        <p:spPr>
          <a:xfrm>
            <a:off x="365760" y="2898720"/>
            <a:ext cx="8412480" cy="18885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400" b="0" strike="noStrike" spc="-1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latin typeface="Arial"/>
              </a:rPr>
              <a:t>Proposing an </a:t>
            </a:r>
            <a:r>
              <a:rPr lang="en-US" sz="1400" b="1" strike="noStrike" spc="-1">
                <a:latin typeface="Arial"/>
              </a:rPr>
              <a:t>SA framework</a:t>
            </a:r>
            <a:r>
              <a:rPr lang="en-US" sz="1400" b="0" strike="noStrike" spc="-1">
                <a:latin typeface="Arial"/>
              </a:rPr>
              <a:t> in MRS which includes </a:t>
            </a: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400" b="0" strike="noStrike" spc="-1">
              <a:latin typeface="Arial"/>
            </a:endParaRPr>
          </a:p>
          <a:p>
            <a:pPr marL="432000" lvl="1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1" strike="noStrike" spc="-1">
                <a:latin typeface="Arial"/>
              </a:rPr>
              <a:t>Pairing</a:t>
            </a:r>
            <a:r>
              <a:rPr lang="en-US" sz="1400" b="0" strike="noStrike" spc="-1">
                <a:latin typeface="Arial"/>
              </a:rPr>
              <a:t> relevant exteroceptive and proprioceptive CDBNs</a:t>
            </a: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400" b="0" strike="noStrike" spc="-1">
              <a:latin typeface="Arial"/>
            </a:endParaRPr>
          </a:p>
          <a:p>
            <a:pPr marL="432000" lvl="1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1" strike="noStrike" spc="-1">
                <a:latin typeface="Arial"/>
              </a:rPr>
              <a:t>Creating</a:t>
            </a:r>
            <a:r>
              <a:rPr lang="en-US" sz="1400" b="0" strike="noStrike" spc="-1">
                <a:latin typeface="Arial"/>
              </a:rPr>
              <a:t> and </a:t>
            </a:r>
            <a:r>
              <a:rPr lang="en-US" sz="1400" b="1" strike="noStrike" spc="-1">
                <a:latin typeface="Arial"/>
              </a:rPr>
              <a:t>updating</a:t>
            </a:r>
            <a:r>
              <a:rPr lang="en-US" sz="1400" b="0" strike="noStrike" spc="-1">
                <a:latin typeface="Arial"/>
              </a:rPr>
              <a:t> CDBNs in an MRS</a:t>
            </a: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400" b="0" strike="noStrike" spc="-1">
              <a:latin typeface="Arial"/>
            </a:endParaRPr>
          </a:p>
          <a:p>
            <a:pPr marL="432000" lvl="1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latin typeface="Arial"/>
              </a:rPr>
              <a:t>Choosing the </a:t>
            </a:r>
            <a:r>
              <a:rPr lang="en-US" sz="1400" b="1" strike="noStrike" spc="-1">
                <a:latin typeface="Arial"/>
              </a:rPr>
              <a:t>best</a:t>
            </a:r>
            <a:r>
              <a:rPr lang="en-US" sz="1400" b="0" strike="noStrike" spc="-1">
                <a:latin typeface="Arial"/>
              </a:rPr>
              <a:t> predicting CDBN according to the </a:t>
            </a:r>
            <a:r>
              <a:rPr lang="en-US" sz="1400" b="1" strike="noStrike" spc="-1">
                <a:latin typeface="Arial"/>
              </a:rPr>
              <a:t>most recent sensory observations</a:t>
            </a:r>
            <a:r>
              <a:rPr lang="en-US" sz="1400" b="0" strike="noStrike" spc="-1">
                <a:latin typeface="Arial"/>
              </a:rPr>
              <a:t> in MRS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12939</TotalTime>
  <Application>Microsoft Office PowerPoint</Application>
  <PresentationFormat>Bildschirmpräsentation (16:9)</PresentationFormat>
  <Slides>14</Slides>
  <Notes>0</Notes>
  <HiddenSlides>0</HiddenSlides>
  <ScaleCrop>false</ScaleCrop>
  <HeadingPairs>
    <vt:vector size="4" baseType="variant">
      <vt:variant>
        <vt:lpstr>Design</vt:lpstr>
      </vt:variant>
      <vt:variant>
        <vt:i4>2</vt:i4>
      </vt:variant>
      <vt:variant>
        <vt:lpstr>Folientitel</vt:lpstr>
      </vt:variant>
      <vt:variant>
        <vt:i4>14</vt:i4>
      </vt:variant>
    </vt:vector>
  </HeadingPairs>
  <TitlesOfParts>
    <vt:vector size="16" baseType="lpstr">
      <vt:lpstr>Office Theme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dc:description/>
  <cp:lastModifiedBy/>
  <cp:revision>588</cp:revision>
  <dcterms:modified xsi:type="dcterms:W3CDTF">2023-09-24T09:21:51Z</dcterms:modified>
  <dc:language>de-AT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3</vt:i4>
  </property>
  <property fmtid="{D5CDD505-2E9C-101B-9397-08002B2CF9AE}" pid="8" name="PresentationFormat">
    <vt:lpwstr>On-screen Show (16:9)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18</vt:i4>
  </property>
</Properties>
</file>